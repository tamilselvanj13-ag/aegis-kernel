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0" r:id="rId5"/>
    <p:sldId id="261" r:id="rId6"/>
    <p:sldId id="262" r:id="rId7"/>
    <p:sldId id="275" r:id="rId8"/>
    <p:sldId id="263" r:id="rId9"/>
    <p:sldId id="271" r:id="rId10"/>
    <p:sldId id="264" r:id="rId11"/>
    <p:sldId id="272" r:id="rId12"/>
    <p:sldId id="266" r:id="rId13"/>
    <p:sldId id="267" r:id="rId14"/>
    <p:sldId id="273" r:id="rId15"/>
    <p:sldId id="274" r:id="rId16"/>
    <p:sldId id="269" r:id="rId17"/>
    <p:sldId id="277" r:id="rId18"/>
    <p:sldId id="278" r:id="rId19"/>
    <p:sldId id="276" r:id="rId20"/>
    <p:sldId id="270" r:id="rId2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88" autoAdjust="0"/>
    <p:restoredTop sz="90681" autoAdjust="0"/>
  </p:normalViewPr>
  <p:slideViewPr>
    <p:cSldViewPr>
      <p:cViewPr>
        <p:scale>
          <a:sx n="100" d="100"/>
          <a:sy n="100" d="100"/>
        </p:scale>
        <p:origin x="-1152" y="-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92"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93"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94"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95"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6"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97"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pPr/>
              <a:t>‹#›</a:t>
            </a:fld>
            <a:endParaRPr lang="en-US"/>
          </a:p>
        </p:txBody>
      </p:sp>
    </p:spTree>
    <p:extLst>
      <p:ext uri="{BB962C8B-B14F-4D97-AF65-F5344CB8AC3E}">
        <p14:creationId xmlns:p14="http://schemas.microsoft.com/office/powerpoint/2010/main" val="1360087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685800" y="1597819"/>
            <a:ext cx="7772400" cy="1102519"/>
          </a:xfrm>
        </p:spPr>
        <p:txBody>
          <a:bodyPr/>
          <a:lstStyle/>
          <a:p>
            <a:r>
              <a:rPr lang="en-US"/>
              <a:t>Click to edit Master title style</a:t>
            </a:r>
          </a:p>
        </p:txBody>
      </p:sp>
      <p:sp>
        <p:nvSpPr>
          <p:cNvPr id="1048582"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583"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1048584" name="Footer Placeholder 4"/>
          <p:cNvSpPr>
            <a:spLocks noGrp="1"/>
          </p:cNvSpPr>
          <p:nvPr>
            <p:ph type="ftr" sz="quarter" idx="11"/>
          </p:nvPr>
        </p:nvSpPr>
        <p:spPr/>
        <p:txBody>
          <a:bodyPr/>
          <a:lstStyle/>
          <a:p>
            <a:endParaRPr lang="en-US"/>
          </a:p>
        </p:txBody>
      </p:sp>
      <p:sp>
        <p:nvSpPr>
          <p:cNvPr id="1048585"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9" name="Title 1"/>
          <p:cNvSpPr>
            <a:spLocks noGrp="1"/>
          </p:cNvSpPr>
          <p:nvPr>
            <p:ph type="title"/>
          </p:nvPr>
        </p:nvSpPr>
        <p:spPr/>
        <p:txBody>
          <a:bodyPr/>
          <a:lstStyle/>
          <a:p>
            <a:r>
              <a:rPr lang="en-US"/>
              <a:t>Click to edit Master title style</a:t>
            </a:r>
          </a:p>
        </p:txBody>
      </p:sp>
      <p:sp>
        <p:nvSpPr>
          <p:cNvPr id="1048590"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1"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1048592" name="Footer Placeholder 4"/>
          <p:cNvSpPr>
            <a:spLocks noGrp="1"/>
          </p:cNvSpPr>
          <p:nvPr>
            <p:ph type="ftr" sz="quarter" idx="11"/>
          </p:nvPr>
        </p:nvSpPr>
        <p:spPr/>
        <p:txBody>
          <a:bodyPr/>
          <a:lstStyle/>
          <a:p>
            <a:endParaRPr lang="en-US"/>
          </a:p>
        </p:txBody>
      </p:sp>
      <p:sp>
        <p:nvSpPr>
          <p:cNvPr id="1048593"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64"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1048665"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66"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1048667" name="Footer Placeholder 4"/>
          <p:cNvSpPr>
            <a:spLocks noGrp="1"/>
          </p:cNvSpPr>
          <p:nvPr>
            <p:ph type="ftr" sz="quarter" idx="11"/>
          </p:nvPr>
        </p:nvSpPr>
        <p:spPr/>
        <p:txBody>
          <a:bodyPr/>
          <a:lstStyle/>
          <a:p>
            <a:endParaRPr lang="en-US"/>
          </a:p>
        </p:txBody>
      </p:sp>
      <p:sp>
        <p:nvSpPr>
          <p:cNvPr id="1048668"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69" name="Title 1"/>
          <p:cNvSpPr>
            <a:spLocks noGrp="1"/>
          </p:cNvSpPr>
          <p:nvPr>
            <p:ph type="title"/>
          </p:nvPr>
        </p:nvSpPr>
        <p:spPr/>
        <p:txBody>
          <a:bodyPr/>
          <a:lstStyle/>
          <a:p>
            <a:r>
              <a:rPr lang="en-US"/>
              <a:t>Click to edit Master title style</a:t>
            </a:r>
          </a:p>
        </p:txBody>
      </p:sp>
      <p:sp>
        <p:nvSpPr>
          <p:cNvPr id="1048670"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1"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2" name="Date Placeholder 4"/>
          <p:cNvSpPr>
            <a:spLocks noGrp="1"/>
          </p:cNvSpPr>
          <p:nvPr>
            <p:ph type="dt" sz="half" idx="10"/>
          </p:nvPr>
        </p:nvSpPr>
        <p:spPr/>
        <p:txBody>
          <a:bodyPr/>
          <a:lstStyle/>
          <a:p>
            <a:fld id="{1D8BD707-D9CF-40AE-B4C6-C98DA3205C09}" type="datetimeFigureOut">
              <a:rPr lang="en-US" smtClean="0"/>
              <a:pPr/>
              <a:t>7/9/2026</a:t>
            </a:fld>
            <a:endParaRPr lang="en-US"/>
          </a:p>
        </p:txBody>
      </p:sp>
      <p:sp>
        <p:nvSpPr>
          <p:cNvPr id="1048673" name="Footer Placeholder 5"/>
          <p:cNvSpPr>
            <a:spLocks noGrp="1"/>
          </p:cNvSpPr>
          <p:nvPr>
            <p:ph type="ftr" sz="quarter" idx="11"/>
          </p:nvPr>
        </p:nvSpPr>
        <p:spPr/>
        <p:txBody>
          <a:bodyPr/>
          <a:lstStyle/>
          <a:p>
            <a:endParaRPr lang="en-US"/>
          </a:p>
        </p:txBody>
      </p:sp>
      <p:sp>
        <p:nvSpPr>
          <p:cNvPr id="1048674"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75" name="Title 1"/>
          <p:cNvSpPr>
            <a:spLocks noGrp="1"/>
          </p:cNvSpPr>
          <p:nvPr>
            <p:ph type="title"/>
          </p:nvPr>
        </p:nvSpPr>
        <p:spPr/>
        <p:txBody>
          <a:bodyPr/>
          <a:lstStyle/>
          <a:p>
            <a:r>
              <a:rPr lang="en-US"/>
              <a:t>Click to edit Master title style</a:t>
            </a:r>
          </a:p>
        </p:txBody>
      </p:sp>
      <p:sp>
        <p:nvSpPr>
          <p:cNvPr id="1048676"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7"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8"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9"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0" name="Date Placeholder 6"/>
          <p:cNvSpPr>
            <a:spLocks noGrp="1"/>
          </p:cNvSpPr>
          <p:nvPr>
            <p:ph type="dt" sz="half" idx="10"/>
          </p:nvPr>
        </p:nvSpPr>
        <p:spPr/>
        <p:txBody>
          <a:bodyPr/>
          <a:lstStyle/>
          <a:p>
            <a:fld id="{1D8BD707-D9CF-40AE-B4C6-C98DA3205C09}" type="datetimeFigureOut">
              <a:rPr lang="en-US" smtClean="0"/>
              <a:pPr/>
              <a:t>7/9/2026</a:t>
            </a:fld>
            <a:endParaRPr lang="en-US"/>
          </a:p>
        </p:txBody>
      </p:sp>
      <p:sp>
        <p:nvSpPr>
          <p:cNvPr id="1048681" name="Footer Placeholder 7"/>
          <p:cNvSpPr>
            <a:spLocks noGrp="1"/>
          </p:cNvSpPr>
          <p:nvPr>
            <p:ph type="ftr" sz="quarter" idx="11"/>
          </p:nvPr>
        </p:nvSpPr>
        <p:spPr/>
        <p:txBody>
          <a:bodyPr/>
          <a:lstStyle/>
          <a:p>
            <a:endParaRPr lang="en-US"/>
          </a:p>
        </p:txBody>
      </p:sp>
      <p:sp>
        <p:nvSpPr>
          <p:cNvPr id="1048682"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44" name="Title 1"/>
          <p:cNvSpPr>
            <a:spLocks noGrp="1"/>
          </p:cNvSpPr>
          <p:nvPr>
            <p:ph type="title"/>
          </p:nvPr>
        </p:nvSpPr>
        <p:spPr/>
        <p:txBody>
          <a:bodyPr/>
          <a:lstStyle/>
          <a:p>
            <a:r>
              <a:rPr lang="en-US"/>
              <a:t>Click to edit Master title style</a:t>
            </a:r>
          </a:p>
        </p:txBody>
      </p:sp>
      <p:sp>
        <p:nvSpPr>
          <p:cNvPr id="1048645" name="Date Placeholder 2"/>
          <p:cNvSpPr>
            <a:spLocks noGrp="1"/>
          </p:cNvSpPr>
          <p:nvPr>
            <p:ph type="dt" sz="half" idx="10"/>
          </p:nvPr>
        </p:nvSpPr>
        <p:spPr/>
        <p:txBody>
          <a:bodyPr/>
          <a:lstStyle/>
          <a:p>
            <a:fld id="{1D8BD707-D9CF-40AE-B4C6-C98DA3205C09}" type="datetimeFigureOut">
              <a:rPr lang="en-US" smtClean="0"/>
              <a:pPr/>
              <a:t>7/9/2026</a:t>
            </a:fld>
            <a:endParaRPr lang="en-US"/>
          </a:p>
        </p:txBody>
      </p:sp>
      <p:sp>
        <p:nvSpPr>
          <p:cNvPr id="1048646" name="Footer Placeholder 3"/>
          <p:cNvSpPr>
            <a:spLocks noGrp="1"/>
          </p:cNvSpPr>
          <p:nvPr>
            <p:ph type="ftr" sz="quarter" idx="11"/>
          </p:nvPr>
        </p:nvSpPr>
        <p:spPr/>
        <p:txBody>
          <a:bodyPr/>
          <a:lstStyle/>
          <a:p>
            <a:endParaRPr lang="en-US"/>
          </a:p>
        </p:txBody>
      </p:sp>
      <p:sp>
        <p:nvSpPr>
          <p:cNvPr id="1048647"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83" name="Date Placeholder 1"/>
          <p:cNvSpPr>
            <a:spLocks noGrp="1"/>
          </p:cNvSpPr>
          <p:nvPr>
            <p:ph type="dt" sz="half" idx="10"/>
          </p:nvPr>
        </p:nvSpPr>
        <p:spPr/>
        <p:txBody>
          <a:bodyPr/>
          <a:lstStyle/>
          <a:p>
            <a:fld id="{1D8BD707-D9CF-40AE-B4C6-C98DA3205C09}" type="datetimeFigureOut">
              <a:rPr lang="en-US" smtClean="0"/>
              <a:pPr/>
              <a:t>7/9/2026</a:t>
            </a:fld>
            <a:endParaRPr lang="en-US"/>
          </a:p>
        </p:txBody>
      </p:sp>
      <p:sp>
        <p:nvSpPr>
          <p:cNvPr id="1048684" name="Footer Placeholder 2"/>
          <p:cNvSpPr>
            <a:spLocks noGrp="1"/>
          </p:cNvSpPr>
          <p:nvPr>
            <p:ph type="ftr" sz="quarter" idx="11"/>
          </p:nvPr>
        </p:nvSpPr>
        <p:spPr/>
        <p:txBody>
          <a:bodyPr/>
          <a:lstStyle/>
          <a:p>
            <a:endParaRPr lang="en-US"/>
          </a:p>
        </p:txBody>
      </p:sp>
      <p:sp>
        <p:nvSpPr>
          <p:cNvPr id="1048685"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86"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1048687"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8"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89" name="Date Placeholder 4"/>
          <p:cNvSpPr>
            <a:spLocks noGrp="1"/>
          </p:cNvSpPr>
          <p:nvPr>
            <p:ph type="dt" sz="half" idx="10"/>
          </p:nvPr>
        </p:nvSpPr>
        <p:spPr/>
        <p:txBody>
          <a:bodyPr/>
          <a:lstStyle/>
          <a:p>
            <a:fld id="{1D8BD707-D9CF-40AE-B4C6-C98DA3205C09}" type="datetimeFigureOut">
              <a:rPr lang="en-US" smtClean="0"/>
              <a:pPr/>
              <a:t>7/9/2026</a:t>
            </a:fld>
            <a:endParaRPr lang="en-US"/>
          </a:p>
        </p:txBody>
      </p:sp>
      <p:sp>
        <p:nvSpPr>
          <p:cNvPr id="1048690" name="Footer Placeholder 5"/>
          <p:cNvSpPr>
            <a:spLocks noGrp="1"/>
          </p:cNvSpPr>
          <p:nvPr>
            <p:ph type="ftr" sz="quarter" idx="11"/>
          </p:nvPr>
        </p:nvSpPr>
        <p:spPr/>
        <p:txBody>
          <a:bodyPr/>
          <a:lstStyle/>
          <a:p>
            <a:endParaRPr lang="en-US"/>
          </a:p>
        </p:txBody>
      </p:sp>
      <p:sp>
        <p:nvSpPr>
          <p:cNvPr id="1048691"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53"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1048654"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55"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56" name="Date Placeholder 4"/>
          <p:cNvSpPr>
            <a:spLocks noGrp="1"/>
          </p:cNvSpPr>
          <p:nvPr>
            <p:ph type="dt" sz="half" idx="10"/>
          </p:nvPr>
        </p:nvSpPr>
        <p:spPr/>
        <p:txBody>
          <a:bodyPr/>
          <a:lstStyle/>
          <a:p>
            <a:fld id="{1D8BD707-D9CF-40AE-B4C6-C98DA3205C09}" type="datetimeFigureOut">
              <a:rPr lang="en-US" smtClean="0"/>
              <a:pPr/>
              <a:t>7/9/2026</a:t>
            </a:fld>
            <a:endParaRPr lang="en-US"/>
          </a:p>
        </p:txBody>
      </p:sp>
      <p:sp>
        <p:nvSpPr>
          <p:cNvPr id="1048657" name="Footer Placeholder 5"/>
          <p:cNvSpPr>
            <a:spLocks noGrp="1"/>
          </p:cNvSpPr>
          <p:nvPr>
            <p:ph type="ftr" sz="quarter" idx="11"/>
          </p:nvPr>
        </p:nvSpPr>
        <p:spPr/>
        <p:txBody>
          <a:bodyPr/>
          <a:lstStyle/>
          <a:p>
            <a:endParaRPr lang="en-US"/>
          </a:p>
        </p:txBody>
      </p:sp>
      <p:sp>
        <p:nvSpPr>
          <p:cNvPr id="1048658"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59" name="Title 1"/>
          <p:cNvSpPr>
            <a:spLocks noGrp="1"/>
          </p:cNvSpPr>
          <p:nvPr>
            <p:ph type="title"/>
          </p:nvPr>
        </p:nvSpPr>
        <p:spPr/>
        <p:txBody>
          <a:bodyPr/>
          <a:lstStyle/>
          <a:p>
            <a:r>
              <a:rPr lang="en-US"/>
              <a:t>Click to edit Master title style</a:t>
            </a:r>
          </a:p>
        </p:txBody>
      </p:sp>
      <p:sp>
        <p:nvSpPr>
          <p:cNvPr id="1048660"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1048662" name="Footer Placeholder 4"/>
          <p:cNvSpPr>
            <a:spLocks noGrp="1"/>
          </p:cNvSpPr>
          <p:nvPr>
            <p:ph type="ftr" sz="quarter" idx="11"/>
          </p:nvPr>
        </p:nvSpPr>
        <p:spPr/>
        <p:txBody>
          <a:bodyPr/>
          <a:lstStyle/>
          <a:p>
            <a:endParaRPr lang="en-US"/>
          </a:p>
        </p:txBody>
      </p:sp>
      <p:sp>
        <p:nvSpPr>
          <p:cNvPr id="1048663"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48"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1048649"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0" name="Date Placeholder 3"/>
          <p:cNvSpPr>
            <a:spLocks noGrp="1"/>
          </p:cNvSpPr>
          <p:nvPr>
            <p:ph type="dt" sz="half" idx="10"/>
          </p:nvPr>
        </p:nvSpPr>
        <p:spPr/>
        <p:txBody>
          <a:bodyPr/>
          <a:lstStyle/>
          <a:p>
            <a:fld id="{1D8BD707-D9CF-40AE-B4C6-C98DA3205C09}" type="datetimeFigureOut">
              <a:rPr lang="en-US" smtClean="0"/>
              <a:pPr/>
              <a:t>7/9/2026</a:t>
            </a:fld>
            <a:endParaRPr lang="en-US"/>
          </a:p>
        </p:txBody>
      </p:sp>
      <p:sp>
        <p:nvSpPr>
          <p:cNvPr id="1048651" name="Footer Placeholder 4"/>
          <p:cNvSpPr>
            <a:spLocks noGrp="1"/>
          </p:cNvSpPr>
          <p:nvPr>
            <p:ph type="ftr" sz="quarter" idx="11"/>
          </p:nvPr>
        </p:nvSpPr>
        <p:spPr/>
        <p:txBody>
          <a:bodyPr/>
          <a:lstStyle/>
          <a:p>
            <a:endParaRPr lang="en-US"/>
          </a:p>
        </p:txBody>
      </p:sp>
      <p:sp>
        <p:nvSpPr>
          <p:cNvPr id="1048652"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7/9/2026</a:t>
            </a:fld>
            <a:endParaRPr lang="en-US"/>
          </a:p>
        </p:txBody>
      </p:sp>
      <p:sp>
        <p:nvSpPr>
          <p:cNvPr id="1048579"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extBox 4"/>
          <p:cNvSpPr txBox="1"/>
          <p:nvPr/>
        </p:nvSpPr>
        <p:spPr>
          <a:xfrm>
            <a:off x="152400" y="1047750"/>
            <a:ext cx="8539218" cy="1011682"/>
          </a:xfrm>
          <a:prstGeom prst="rect">
            <a:avLst/>
          </a:prstGeom>
          <a:noFill/>
        </p:spPr>
        <p:txBody>
          <a:bodyPr wrap="square" lIns="87499" tIns="43749" rIns="87499" bIns="43749" rtlCol="0">
            <a:spAutoFit/>
          </a:bodyPr>
          <a:lstStyle/>
          <a:p>
            <a:pPr algn="ctr">
              <a:defRPr sz="1200" b="1">
                <a:solidFill>
                  <a:srgbClr val="002060"/>
                </a:solidFill>
                <a:latin typeface="Segoe UI"/>
              </a:defRPr>
            </a:pPr>
            <a:r>
              <a:t>Department of Electronics and Communication Engineering</a:t>
            </a:r>
          </a:p>
          <a:p>
            <a:pPr algn="ctr">
              <a:defRPr sz="1050" b="1">
                <a:solidFill>
                  <a:srgbClr val="C58C14"/>
                </a:solidFill>
                <a:latin typeface="Segoe UI"/>
              </a:defRPr>
            </a:pPr>
            <a:r>
              <a:t>PROJECT BASED LEARNING FINAL REVIEW — AY 2026-27 (ODD SEMESTER)</a:t>
            </a:r>
          </a:p>
        </p:txBody>
      </p:sp>
      <p:graphicFrame>
        <p:nvGraphicFramePr>
          <p:cNvPr id="4194304" name="Table 8"/>
          <p:cNvGraphicFramePr>
            <a:graphicFrameLocks noGrp="1"/>
          </p:cNvGraphicFramePr>
          <p:nvPr>
            <p:extLst>
              <p:ext uri="{D42A27DB-BD31-4B8C-83A1-F6EECF244321}">
                <p14:modId xmlns:p14="http://schemas.microsoft.com/office/powerpoint/2010/main" val="784212550"/>
              </p:ext>
            </p:extLst>
          </p:nvPr>
        </p:nvGraphicFramePr>
        <p:xfrm>
          <a:off x="152400" y="3257550"/>
          <a:ext cx="8839200" cy="1813560"/>
        </p:xfrm>
        <a:graphic>
          <a:graphicData uri="http://schemas.openxmlformats.org/drawingml/2006/table">
            <a:tbl>
              <a:tblPr firstRow="1" bandRow="1">
                <a:tableStyleId>{5DA37D80-6434-44D0-A028-1B22A696006F}</a:tableStyleId>
              </a:tblPr>
              <a:tblGrid>
                <a:gridCol w="2057400"/>
                <a:gridCol w="1371600"/>
                <a:gridCol w="2895600"/>
                <a:gridCol w="2514600"/>
              </a:tblGrid>
              <a:tr h="342900">
                <a:tc gridSpan="2">
                  <a:txBody>
                    <a:bodyPr/>
                    <a:lstStyle/>
                    <a:p>
                      <a:pPr>
                        <a:defRPr b="1" sz="1000">
                          <a:solidFill>
                            <a:srgbClr val="002060"/>
                          </a:solidFill>
                        </a:defRPr>
                      </a:pPr>
                      <a:r>
                        <a:t>Presented By</a:t>
                      </a:r>
                    </a:p>
                  </a:txBody>
                  <a:tcPr marT="34290" marB="34290"/>
                </a:tc>
                <a:tc hMerge="1">
                  <a:txBody>
                    <a:bodyPr/>
                    <a:lstStyle/>
                    <a:p>
                      <a:endParaRPr lang="en-US" dirty="0"/>
                    </a:p>
                  </a:txBody>
                  <a:tcPr/>
                </a:tc>
                <a:tc>
                  <a:txBody>
                    <a:bodyPr/>
                    <a:lstStyle/>
                    <a:p>
                      <a:pPr>
                        <a:defRPr b="1" sz="1000">
                          <a:solidFill>
                            <a:srgbClr val="002060"/>
                          </a:solidFill>
                        </a:defRPr>
                      </a:pPr>
                      <a:r>
                        <a:t>Under the Mentoring of</a:t>
                      </a:r>
                    </a:p>
                  </a:txBody>
                  <a:tcPr marT="34290" marB="34290"/>
                </a:tc>
                <a:tc>
                  <a:txBody>
                    <a:bodyPr/>
                    <a:lstStyle/>
                    <a:p>
                      <a:r>
                        <a:rPr lang="en-US" dirty="0" smtClean="0"/>
                        <a:t>Mentor </a:t>
                      </a:r>
                      <a:r>
                        <a:rPr lang="en-US" dirty="0" smtClean="0"/>
                        <a:t>– (Company)</a:t>
                      </a:r>
                      <a:endParaRPr lang="en-US" dirty="0"/>
                    </a:p>
                  </a:txBody>
                  <a:tcPr marT="34290" marB="34290"/>
                </a:tc>
              </a:tr>
              <a:tr h="822960">
                <a:tc rowSpan="2">
                  <a:txBody>
                    <a:bodyPr/>
                    <a:lstStyle/>
                    <a:p>
                      <a:pPr>
                        <a:defRPr sz="950">
                          <a:solidFill>
                            <a:srgbClr val="1E1E1E"/>
                          </a:solidFill>
                        </a:defRPr>
                      </a:pPr>
                      <a:r>
                        <a:t>Sai Prasath P (210425106193)  |  2nd Year ECE C</a:t>
                      </a:r>
                    </a:p>
                    <a:p>
                      <a:r>
                        <a:t>Tamil Selvan J (210425106242)  |  2nd Year ECE C</a:t>
                      </a:r>
                    </a:p>
                  </a:txBody>
                  <a:tcPr marT="34290" marB="34290"/>
                </a:tc>
                <a:tc rowSpan="2">
                  <a:txBody>
                    <a:bodyPr/>
                    <a:lstStyle/>
                    <a:p>
                      <a:endParaRPr lang="en-US" sz="1400" dirty="0">
                        <a:solidFill>
                          <a:schemeClr val="bg1">
                            <a:lumMod val="65000"/>
                          </a:schemeClr>
                        </a:solidFill>
                        <a:latin typeface="Times New Roman" pitchFamily="18" charset="0"/>
                        <a:cs typeface="Times New Roman" pitchFamily="18" charset="0"/>
                      </a:endParaRPr>
                    </a:p>
                  </a:txBody>
                  <a:tcPr marT="34290" marB="34290"/>
                </a:tc>
                <a:tc>
                  <a:txBody>
                    <a:bodyPr/>
                    <a:lstStyle/>
                    <a:p>
                      <a:pPr>
                        <a:defRPr b="1" sz="1000">
                          <a:solidFill>
                            <a:srgbClr val="1E1E1E"/>
                          </a:solidFill>
                        </a:defRPr>
                      </a:pPr>
                      <a:r>
                        <a:t>Mr. Baskar M.E.</a:t>
                      </a:r>
                    </a:p>
                  </a:txBody>
                  <a:tcPr marT="34290" marB="34290"/>
                </a:tc>
                <a:tc>
                  <a:txBody>
                    <a:bodyPr/>
                    <a:lstStyle/>
                    <a:p>
                      <a:pPr algn="l"/>
                      <a:r>
                        <a:rPr lang="en-US" sz="1400" dirty="0" smtClean="0">
                          <a:latin typeface="Times New Roman" pitchFamily="18" charset="0"/>
                          <a:cs typeface="Times New Roman" pitchFamily="18" charset="0"/>
                        </a:rPr>
                        <a:t>NAME:</a:t>
                      </a:r>
                    </a:p>
                    <a:p>
                      <a:pPr algn="l"/>
                      <a:r>
                        <a:rPr lang="en-US" sz="1400" dirty="0" smtClean="0">
                          <a:latin typeface="Times New Roman" pitchFamily="18" charset="0"/>
                          <a:cs typeface="Times New Roman" pitchFamily="18" charset="0"/>
                        </a:rPr>
                        <a:t>Post:</a:t>
                      </a:r>
                      <a:endParaRPr lang="en-US" sz="1400" dirty="0" smtClean="0">
                        <a:latin typeface="Times New Roman" pitchFamily="18" charset="0"/>
                        <a:cs typeface="Times New Roman" pitchFamily="18" charset="0"/>
                      </a:endParaRPr>
                    </a:p>
                    <a:p>
                      <a:pPr algn="l"/>
                      <a:r>
                        <a:rPr lang="en-US" sz="1400" dirty="0" smtClean="0">
                          <a:latin typeface="Times New Roman" pitchFamily="18" charset="0"/>
                          <a:cs typeface="Times New Roman" pitchFamily="18" charset="0"/>
                        </a:rPr>
                        <a:t>Mail</a:t>
                      </a:r>
                      <a:r>
                        <a:rPr lang="en-US" sz="1400" baseline="0" dirty="0" smtClean="0">
                          <a:latin typeface="Times New Roman" pitchFamily="18" charset="0"/>
                          <a:cs typeface="Times New Roman" pitchFamily="18" charset="0"/>
                        </a:rPr>
                        <a:t> ID</a:t>
                      </a:r>
                      <a:r>
                        <a:rPr lang="en-US" sz="1400" baseline="0" dirty="0" smtClean="0">
                          <a:latin typeface="Times New Roman" pitchFamily="18" charset="0"/>
                          <a:cs typeface="Times New Roman" pitchFamily="18" charset="0"/>
                        </a:rPr>
                        <a:t>:</a:t>
                      </a:r>
                    </a:p>
                    <a:p>
                      <a:pPr algn="l"/>
                      <a:r>
                        <a:rPr lang="en-US" sz="1400" baseline="0" dirty="0" smtClean="0">
                          <a:latin typeface="Times New Roman" pitchFamily="18" charset="0"/>
                          <a:cs typeface="Times New Roman" pitchFamily="18" charset="0"/>
                        </a:rPr>
                        <a:t>Mob :</a:t>
                      </a:r>
                      <a:endParaRPr lang="en-US" sz="1400" dirty="0">
                        <a:latin typeface="Times New Roman" pitchFamily="18" charset="0"/>
                        <a:cs typeface="Times New Roman" pitchFamily="18" charset="0"/>
                      </a:endParaRPr>
                    </a:p>
                  </a:txBody>
                  <a:tcPr marT="34290" marB="34290"/>
                </a:tc>
              </a:tr>
              <a:tr h="548640">
                <a:tc vMerge="1">
                  <a:txBody>
                    <a:bodyPr/>
                    <a:lstStyle/>
                    <a:p>
                      <a:pPr>
                        <a:defRPr sz="850">
                          <a:solidFill>
                            <a:srgbClr val="646464"/>
                          </a:solidFill>
                        </a:defRPr>
                      </a:pPr>
                      <a:r>
                        <a:t>Specialization: Embedded Systems, TinyML &amp; Hardware-Isolated Security</a:t>
                      </a:r>
                    </a:p>
                  </a:txBody>
                  <a:tcPr marT="34290" marB="34290"/>
                </a:tc>
                <a:tc vMerge="1">
                  <a:txBody>
                    <a:bodyPr/>
                    <a:lstStyle/>
                    <a:p>
                      <a:endParaRPr lang="en-US" sz="1400" dirty="0">
                        <a:solidFill>
                          <a:schemeClr val="bg1">
                            <a:lumMod val="65000"/>
                          </a:schemeClr>
                        </a:solidFill>
                        <a:latin typeface="Times New Roman" pitchFamily="18" charset="0"/>
                        <a:cs typeface="Times New Roman" pitchFamily="18" charset="0"/>
                      </a:endParaRPr>
                    </a:p>
                  </a:txBody>
                  <a:tcPr marT="34290" marB="34290"/>
                </a:tc>
                <a:tc>
                  <a:txBody>
                    <a:bodyPr/>
                    <a:lstStyle/>
                    <a:p>
                      <a:pPr>
                        <a:defRPr sz="850">
                          <a:solidFill>
                            <a:srgbClr val="646464"/>
                          </a:solidFill>
                        </a:defRPr>
                      </a:pPr>
                      <a:r>
                        <a:t>Assistant Professor / ECE Department / CIT</a:t>
                      </a:r>
                    </a:p>
                    <a:p>
                      <a:r>
                        <a:t>HOD: Dr. T. S. Arulananth M.E., Ph.D.</a:t>
                      </a:r>
                    </a:p>
                  </a:txBody>
                  <a:tcPr marT="34290" marB="34290"/>
                </a:tc>
                <a:tc>
                  <a:txBody>
                    <a:bodyPr/>
                    <a:lstStyle/>
                    <a:p>
                      <a:pPr algn="l"/>
                      <a:r>
                        <a:rPr lang="en-US" sz="1400" dirty="0" smtClean="0">
                          <a:latin typeface="Times New Roman" pitchFamily="18" charset="0"/>
                          <a:cs typeface="Times New Roman" pitchFamily="18" charset="0"/>
                        </a:rPr>
                        <a:t>Contact Details:</a:t>
                      </a:r>
                      <a:endParaRPr lang="en-US" sz="1400" dirty="0">
                        <a:latin typeface="Times New Roman" pitchFamily="18" charset="0"/>
                        <a:cs typeface="Times New Roman" pitchFamily="18" charset="0"/>
                      </a:endParaRPr>
                    </a:p>
                  </a:txBody>
                  <a:tcPr marT="34290" marB="34290"/>
                </a:tc>
              </a:tr>
            </a:tbl>
          </a:graphicData>
        </a:graphic>
      </p:graphicFrame>
      <p:sp>
        <p:nvSpPr>
          <p:cNvPr id="1048587" name="Frame 10"/>
          <p:cNvSpPr/>
          <p:nvPr/>
        </p:nvSpPr>
        <p:spPr>
          <a:xfrm>
            <a:off x="0" y="0"/>
            <a:ext cx="9144000" cy="5143500"/>
          </a:xfrm>
          <a:prstGeom prst="frame">
            <a:avLst>
              <a:gd name="adj1" fmla="val 1791"/>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graphicFrame>
        <p:nvGraphicFramePr>
          <p:cNvPr id="4194305" name="Table 11"/>
          <p:cNvGraphicFramePr>
            <a:graphicFrameLocks noGrp="1"/>
          </p:cNvGraphicFramePr>
          <p:nvPr>
            <p:extLst>
              <p:ext uri="{D42A27DB-BD31-4B8C-83A1-F6EECF244321}">
                <p14:modId xmlns:p14="http://schemas.microsoft.com/office/powerpoint/2010/main" val="4115384022"/>
              </p:ext>
            </p:extLst>
          </p:nvPr>
        </p:nvGraphicFramePr>
        <p:xfrm>
          <a:off x="152400" y="1962150"/>
          <a:ext cx="8839200" cy="1295400"/>
        </p:xfrm>
        <a:graphic>
          <a:graphicData uri="http://schemas.openxmlformats.org/drawingml/2006/table">
            <a:tbl>
              <a:tblPr firstRow="1" bandRow="1">
                <a:tableStyleId>{72833802-FEF1-4C79-8D5D-14CF1EAF98D9}</a:tableStyleId>
              </a:tblPr>
              <a:tblGrid>
                <a:gridCol w="8839200"/>
              </a:tblGrid>
              <a:tr h="380720">
                <a:tc>
                  <a:txBody>
                    <a:bodyPr/>
                    <a:lstStyle/>
                    <a:p>
                      <a:pPr algn="ctr">
                        <a:defRPr sz="1350" b="1">
                          <a:solidFill>
                            <a:srgbClr val="002060"/>
                          </a:solidFill>
                          <a:latin typeface="Segoe UI"/>
                        </a:defRPr>
                      </a:pPr>
                      <a:r>
                        <a:t>Aegis-Kernel: Hardware-Isolated Coprocessor Framework for Evasive Malware Mitigation</a:t>
                      </a:r>
                    </a:p>
                  </a:txBody>
                  <a:tcPr/>
                </a:tc>
              </a:tr>
              <a:tr h="914680">
                <a:tc>
                  <a:txBody>
                    <a:bodyPr/>
                    <a:lstStyle/>
                    <a:p>
                      <a:r>
                        <a:rPr lang="en-US" dirty="0">
                          <a:latin typeface="Times New Roman" pitchFamily="18" charset="0"/>
                          <a:cs typeface="Times New Roman" pitchFamily="18" charset="0"/>
                        </a:rPr>
                        <a:t>                   </a:t>
                      </a:r>
                    </a:p>
                    <a:p>
                      <a:pPr algn="ctr"/>
                      <a:r>
                        <a:rPr lang="en-US" dirty="0">
                          <a:latin typeface="Times New Roman" pitchFamily="18" charset="0"/>
                          <a:cs typeface="Times New Roman" pitchFamily="18" charset="0"/>
                        </a:rPr>
                        <a:t>                        </a:t>
                      </a:r>
                    </a:p>
                  </a:txBody>
                  <a:tcPr/>
                </a:tc>
              </a:tr>
            </a:tbl>
          </a:graphicData>
        </a:graphic>
      </p:graphicFrame>
      <p:sp>
        <p:nvSpPr>
          <p:cNvPr id="1048588" name="Frame 15"/>
          <p:cNvSpPr/>
          <p:nvPr/>
        </p:nvSpPr>
        <p:spPr>
          <a:xfrm>
            <a:off x="0" y="0"/>
            <a:ext cx="9144000" cy="1123950"/>
          </a:xfrm>
          <a:prstGeom prst="frame">
            <a:avLst>
              <a:gd name="adj1" fmla="val 6750"/>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pic>
        <p:nvPicPr>
          <p:cNvPr id="9" name="Picture 8"/>
          <p:cNvPicPr/>
          <p:nvPr/>
        </p:nvPicPr>
        <p:blipFill>
          <a:blip r:embed="rId2"/>
          <a:srcRect/>
          <a:stretch>
            <a:fillRect/>
          </a:stretch>
        </p:blipFill>
        <p:spPr bwMode="auto">
          <a:xfrm>
            <a:off x="152400" y="133350"/>
            <a:ext cx="8763000" cy="914400"/>
          </a:xfrm>
          <a:prstGeom prst="rect">
            <a:avLst/>
          </a:prstGeom>
          <a:noFill/>
          <a:ln w="9525">
            <a:noFill/>
            <a:miter lim="800000"/>
            <a:headEnd/>
            <a:tailEnd/>
          </a:ln>
        </p:spPr>
      </p:pic>
      <p:pic>
        <p:nvPicPr>
          <p:cNvPr id="10" name="Picture 2"/>
          <p:cNvPicPr>
            <a:picLocks noChangeAspect="1" noChangeArrowheads="1"/>
          </p:cNvPicPr>
          <p:nvPr/>
        </p:nvPicPr>
        <p:blipFill>
          <a:blip r:embed="rId3"/>
          <a:srcRect/>
          <a:stretch>
            <a:fillRect/>
          </a:stretch>
        </p:blipFill>
        <p:spPr bwMode="auto">
          <a:xfrm>
            <a:off x="152400" y="133350"/>
            <a:ext cx="1295400" cy="685800"/>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06" name="Content Placeholder 15"/>
          <p:cNvGraphicFramePr>
            <a:graphicFrameLocks/>
          </p:cNvGraphicFramePr>
          <p:nvPr>
            <p:extLst>
              <p:ext uri="{D42A27DB-BD31-4B8C-83A1-F6EECF244321}">
                <p14:modId xmlns:p14="http://schemas.microsoft.com/office/powerpoint/2010/main" val="159661929"/>
              </p:ext>
            </p:extLst>
          </p:nvPr>
        </p:nvGraphicFramePr>
        <p:xfrm>
          <a:off x="1142999" y="0"/>
          <a:ext cx="8001001" cy="854691"/>
        </p:xfrm>
        <a:graphic>
          <a:graphicData uri="http://schemas.openxmlformats.org/drawingml/2006/table">
            <a:tbl>
              <a:tblPr firstRow="1" bandRow="1">
                <a:tableStyleId>{5DA37D80-6434-44D0-A028-1B22A696006F}</a:tableStyleId>
              </a:tblPr>
              <a:tblGrid>
                <a:gridCol w="8001001"/>
              </a:tblGrid>
              <a:tr h="437768">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16923">
                <a:tc>
                  <a:txBody>
                    <a:bodyPr/>
                    <a:lstStyle/>
                    <a:p>
                      <a:pPr algn="ctr">
                        <a:defRPr sz="1200" b="1">
                          <a:solidFill>
                            <a:srgbClr val="C58C14"/>
                          </a:solidFill>
                          <a:latin typeface="Segoe UI"/>
                        </a:defRPr>
                      </a:pPr>
                      <a:r>
                        <a:t>ABSTRACT</a:t>
                      </a:r>
                    </a:p>
                  </a:txBody>
                  <a:tcPr marL="94488" marR="94488"/>
                </a:tc>
              </a:tr>
            </a:tbl>
          </a:graphicData>
        </a:graphic>
      </p:graphicFrame>
      <p:sp>
        <p:nvSpPr>
          <p:cNvPr id="1048594"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graphicFrame>
        <p:nvGraphicFramePr>
          <p:cNvPr id="4194307" name="Table 5"/>
          <p:cNvGraphicFramePr>
            <a:graphicFrameLocks noGrp="1"/>
          </p:cNvGraphicFramePr>
          <p:nvPr>
            <p:extLst>
              <p:ext uri="{D42A27DB-BD31-4B8C-83A1-F6EECF244321}">
                <p14:modId xmlns:p14="http://schemas.microsoft.com/office/powerpoint/2010/main" val="4125604791"/>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02</a:t>
                      </a:r>
                    </a:p>
                  </a:txBody>
                  <a:tcPr marL="94488" marR="94488"/>
                </a:tc>
              </a:tr>
            </a:tbl>
          </a:graphicData>
        </a:graphic>
      </p:graphicFrame>
      <p:sp>
        <p:nvSpPr>
          <p:cNvPr id="1048595" name="Frame 10"/>
          <p:cNvSpPr/>
          <p:nvPr/>
        </p:nvSpPr>
        <p:spPr>
          <a:xfrm>
            <a:off x="0" y="0"/>
            <a:ext cx="1143000" cy="8191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596" name="Content Placeholder 7"/>
          <p:cNvSpPr>
            <a:spLocks noGrp="1"/>
          </p:cNvSpPr>
          <p:nvPr>
            <p:ph idx="1"/>
          </p:nvPr>
        </p:nvSpPr>
        <p:spPr>
          <a:xfrm>
            <a:off x="457200" y="1200151"/>
            <a:ext cx="8534400" cy="3394472"/>
          </a:xfrm>
        </p:spPr>
        <p:txBody>
          <a:bodyPr>
            <a:normAutofit/>
          </a:bodyPr>
          <a:lstStyle/>
          <a:p>
            <a:pPr>
              <a:defRPr sz="950">
                <a:solidFill>
                  <a:srgbClr val="1E1E1E"/>
                </a:solidFill>
              </a:defRPr>
            </a:pPr>
            <a:r>
              <a:t>Modern smartphone and server operating systems face an alarming security threat from evasive malware that utilizes Adversarial Machine Learning (AML) camouflage. By padding a single malicious exploit with thousands of harmless system calls or executing filelessly in memory (`memfd_create`, `LD_PRELOAD`), attackers drop traditional software AI detection models from 99% accuracy down to a defenseless 24.79%.</a:t>
            </a:r>
          </a:p>
          <a:p>
            <a:pPr>
              <a:spcBef>
                <a:spcPts val="600"/>
              </a:spcBef>
              <a:defRPr sz="950">
                <a:solidFill>
                  <a:srgbClr val="1E1E1E"/>
                </a:solidFill>
              </a:defRPr>
            </a:pPr>
            <a:r>
              <a:t>Aegis-Kernel completely re-engineers this defense perimeter by implementing a physical Hardware-Software Co-Design isolation boundary. The framework deploys a lightweight kernel-level software interceptor inside the host operating system using an eBPF utility to capture active system call traces at the sub-millisecond layer (&lt; 25 µs). To prevent malware from corrupting the security engine, these raw streams are immediately piped across a secure physical transmission bus (UART/SPI) to an independent, hardware-isolated coprocessor (ESP32 Xtensa Dual-Core @ 240 MHz).</a:t>
            </a:r>
          </a:p>
          <a:p>
            <a:pPr>
              <a:spcBef>
                <a:spcPts val="600"/>
              </a:spcBef>
              <a:defRPr sz="950">
                <a:solidFill>
                  <a:srgbClr val="1E1E1E"/>
                </a:solidFill>
              </a:defRPr>
            </a:pPr>
            <a:r>
              <a:t>The coprocessor executes real-time noise-filtering logic to strip away padded camouflage attributes, restoring clean visibility. It evaluates an 8D behavioral feature vector using a dual-engine classifier (1.25 µs Decision Tree + 42.1 µs Continual Perceptron). On-chip Momentum SGD updates weights in 38.4 µs over a 16-slot Experience Replay Buffer and commits them to Flash NVS. Tested across 12,000 vectors, Aegis achieves 98.15% accuracy with 0 bytes dynamic heap allocation. When a threat is confirmed, a physical GPIO line fires a buzzer and forces an automated kernel process termination loop.</a:t>
            </a:r>
          </a:p>
        </p:txBody>
      </p:sp>
      <p:sp>
        <p:nvSpPr>
          <p:cNvPr id="1048597" name="Frame 8"/>
          <p:cNvSpPr/>
          <p:nvPr/>
        </p:nvSpPr>
        <p:spPr>
          <a:xfrm>
            <a:off x="1143000" y="0"/>
            <a:ext cx="8001000" cy="8191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10" name="Picture 2"/>
          <p:cNvPicPr>
            <a:picLocks noChangeAspect="1" noChangeArrowheads="1"/>
          </p:cNvPicPr>
          <p:nvPr/>
        </p:nvPicPr>
        <p:blipFill>
          <a:blip r:embed="rId2"/>
          <a:srcRect/>
          <a:stretch>
            <a:fillRect/>
          </a:stretch>
        </p:blipFill>
        <p:spPr bwMode="auto">
          <a:xfrm>
            <a:off x="76200" y="83472"/>
            <a:ext cx="971550" cy="6858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08" name="Content Placeholder 15"/>
          <p:cNvGraphicFramePr>
            <a:graphicFrameLocks/>
          </p:cNvGraphicFramePr>
          <p:nvPr>
            <p:extLst>
              <p:ext uri="{D42A27DB-BD31-4B8C-83A1-F6EECF244321}">
                <p14:modId xmlns:p14="http://schemas.microsoft.com/office/powerpoint/2010/main" val="2930417689"/>
              </p:ext>
            </p:extLst>
          </p:nvPr>
        </p:nvGraphicFramePr>
        <p:xfrm>
          <a:off x="1142999" y="0"/>
          <a:ext cx="8001001" cy="914400"/>
        </p:xfrm>
        <a:graphic>
          <a:graphicData uri="http://schemas.openxmlformats.org/drawingml/2006/table">
            <a:tbl>
              <a:tblPr firstRow="1" bandRow="1">
                <a:tableStyleId>{5DA37D80-6434-44D0-A028-1B22A696006F}</a:tableStyleId>
              </a:tblPr>
              <a:tblGrid>
                <a:gridCol w="8001001"/>
              </a:tblGrid>
              <a:tr h="462493">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356657">
                <a:tc>
                  <a:txBody>
                    <a:bodyPr/>
                    <a:lstStyle/>
                    <a:p>
                      <a:pPr algn="ctr">
                        <a:defRPr sz="1200" b="1">
                          <a:solidFill>
                            <a:srgbClr val="C58C14"/>
                          </a:solidFill>
                          <a:latin typeface="Segoe UI"/>
                        </a:defRPr>
                      </a:pPr>
                      <a:r>
                        <a:t>Outcomes — Literature Survey &amp; Base Papers</a:t>
                      </a:r>
                    </a:p>
                  </a:txBody>
                  <a:tcPr marL="94488" marR="94488"/>
                </a:tc>
              </a:tr>
            </a:tbl>
          </a:graphicData>
        </a:graphic>
      </p:graphicFrame>
      <p:sp>
        <p:nvSpPr>
          <p:cNvPr id="1048598"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599" name="Frame 10"/>
          <p:cNvSpPr/>
          <p:nvPr/>
        </p:nvSpPr>
        <p:spPr>
          <a:xfrm>
            <a:off x="0" y="0"/>
            <a:ext cx="1143000" cy="8953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graphicFrame>
        <p:nvGraphicFramePr>
          <p:cNvPr id="4194310" name="Table 7"/>
          <p:cNvGraphicFramePr>
            <a:graphicFrameLocks noGrp="1"/>
          </p:cNvGraphicFramePr>
          <p:nvPr>
            <p:extLst>
              <p:ext uri="{D42A27DB-BD31-4B8C-83A1-F6EECF244321}">
                <p14:modId xmlns:p14="http://schemas.microsoft.com/office/powerpoint/2010/main" val="4070843872"/>
              </p:ext>
            </p:extLst>
          </p:nvPr>
        </p:nvGraphicFramePr>
        <p:xfrm>
          <a:off x="152400" y="1200151"/>
          <a:ext cx="8839200" cy="3389918"/>
        </p:xfrm>
        <a:graphic>
          <a:graphicData uri="http://schemas.openxmlformats.org/drawingml/2006/table">
            <a:tbl>
              <a:tblPr>
                <a:tableStyleId>{5940675A-B579-460E-94D1-54222C63F5DA}</a:tableStyleId>
              </a:tblPr>
              <a:tblGrid>
                <a:gridCol w="371395"/>
                <a:gridCol w="3133805"/>
                <a:gridCol w="2971800"/>
                <a:gridCol w="2362200"/>
              </a:tblGrid>
              <a:tr h="304975">
                <a:tc>
                  <a:txBody>
                    <a:bodyPr/>
                    <a:lstStyle/>
                    <a:p>
                      <a:pPr algn="ctr" rtl="0" fontAlgn="ctr"/>
                      <a:r>
                        <a:rPr lang="en-US" sz="1100" b="1" u="none" strike="noStrike" dirty="0">
                          <a:solidFill>
                            <a:schemeClr val="tx1"/>
                          </a:solidFill>
                          <a:latin typeface="Times New Roman" pitchFamily="18" charset="0"/>
                          <a:cs typeface="Times New Roman" pitchFamily="18" charset="0"/>
                        </a:rPr>
                        <a:t>S. No </a:t>
                      </a:r>
                      <a:endParaRPr lang="en-US" sz="1100" b="1" i="0" u="none" strike="noStrike" dirty="0">
                        <a:solidFill>
                          <a:schemeClr val="tx1"/>
                        </a:solidFill>
                        <a:latin typeface="Times New Roman" pitchFamily="18" charset="0"/>
                        <a:cs typeface="Times New Roman" pitchFamily="18" charset="0"/>
                      </a:endParaRPr>
                    </a:p>
                  </a:txBody>
                  <a:tcPr marL="6814" marR="6814" marT="6814" marB="0" anchor="ctr"/>
                </a:tc>
                <a:tc>
                  <a:txBody>
                    <a:bodyPr/>
                    <a:lstStyle/>
                    <a:p>
                      <a:pPr algn="ctr" rtl="0" fontAlgn="ctr"/>
                      <a:r>
                        <a:rPr lang="en-US" sz="1100" b="1" u="none" strike="noStrike" dirty="0" smtClean="0">
                          <a:solidFill>
                            <a:schemeClr val="tx1"/>
                          </a:solidFill>
                          <a:latin typeface="Times New Roman" pitchFamily="18" charset="0"/>
                          <a:cs typeface="Times New Roman" pitchFamily="18" charset="0"/>
                        </a:rPr>
                        <a:t>Base Papers</a:t>
                      </a:r>
                      <a:endParaRPr lang="en-US" sz="1100" b="1" i="0" u="none" strike="noStrike" dirty="0">
                        <a:solidFill>
                          <a:schemeClr val="tx1"/>
                        </a:solidFill>
                        <a:latin typeface="Times New Roman" pitchFamily="18" charset="0"/>
                        <a:cs typeface="Times New Roman" pitchFamily="18" charset="0"/>
                      </a:endParaRPr>
                    </a:p>
                  </a:txBody>
                  <a:tcPr marL="6814" marR="6814" marT="6814" marB="0" anchor="ctr"/>
                </a:tc>
                <a:tc>
                  <a:txBody>
                    <a:bodyPr/>
                    <a:lstStyle/>
                    <a:p>
                      <a:pPr algn="ctr" rtl="0" fontAlgn="ctr"/>
                      <a:r>
                        <a:rPr lang="en-US" sz="1100" b="1" i="0" u="none" strike="noStrike" dirty="0">
                          <a:solidFill>
                            <a:schemeClr val="tx1"/>
                          </a:solidFill>
                          <a:latin typeface="Times New Roman" pitchFamily="18" charset="0"/>
                          <a:cs typeface="Times New Roman" pitchFamily="18" charset="0"/>
                        </a:rPr>
                        <a:t>Problem</a:t>
                      </a:r>
                      <a:r>
                        <a:rPr lang="en-US" sz="1100" b="1" i="0" u="none" strike="noStrike" baseline="0" dirty="0">
                          <a:solidFill>
                            <a:schemeClr val="tx1"/>
                          </a:solidFill>
                          <a:latin typeface="Times New Roman" pitchFamily="18" charset="0"/>
                          <a:cs typeface="Times New Roman" pitchFamily="18" charset="0"/>
                        </a:rPr>
                        <a:t> Identified</a:t>
                      </a:r>
                      <a:endParaRPr lang="en-US" sz="1100" b="1" i="0" u="none" strike="noStrike" dirty="0">
                        <a:solidFill>
                          <a:schemeClr val="tx1"/>
                        </a:solidFill>
                        <a:latin typeface="Times New Roman" pitchFamily="18" charset="0"/>
                        <a:cs typeface="Times New Roman" pitchFamily="18" charset="0"/>
                      </a:endParaRPr>
                    </a:p>
                  </a:txBody>
                  <a:tcPr marL="6814" marR="6814" marT="6814" marB="0" anchor="ctr"/>
                </a:tc>
                <a:tc>
                  <a:txBody>
                    <a:bodyPr/>
                    <a:lstStyle/>
                    <a:p>
                      <a:pPr algn="ctr" rtl="0" fontAlgn="ctr"/>
                      <a:r>
                        <a:rPr lang="en-US" sz="1100" b="1" u="none" strike="noStrike" dirty="0">
                          <a:solidFill>
                            <a:schemeClr val="tx1"/>
                          </a:solidFill>
                          <a:latin typeface="Times New Roman" pitchFamily="18" charset="0"/>
                          <a:cs typeface="Times New Roman" pitchFamily="18" charset="0"/>
                        </a:rPr>
                        <a:t>Remarks</a:t>
                      </a:r>
                      <a:r>
                        <a:rPr lang="en-US" sz="1100" b="1" u="none" strike="noStrike" baseline="0" dirty="0">
                          <a:solidFill>
                            <a:schemeClr val="tx1"/>
                          </a:solidFill>
                          <a:latin typeface="Times New Roman" pitchFamily="18" charset="0"/>
                          <a:cs typeface="Times New Roman" pitchFamily="18" charset="0"/>
                        </a:rPr>
                        <a:t> </a:t>
                      </a:r>
                      <a:r>
                        <a:rPr lang="en-US" sz="1100" b="1" u="none" strike="noStrike" baseline="0" dirty="0" smtClean="0">
                          <a:solidFill>
                            <a:schemeClr val="tx1"/>
                          </a:solidFill>
                          <a:latin typeface="Times New Roman" pitchFamily="18" charset="0"/>
                          <a:cs typeface="Times New Roman" pitchFamily="18" charset="0"/>
                        </a:rPr>
                        <a:t>Solutions/Modifications/Suggestions</a:t>
                      </a:r>
                      <a:endParaRPr lang="en-US" sz="1100" b="1" i="0" u="none" strike="noStrike" dirty="0">
                        <a:solidFill>
                          <a:schemeClr val="tx1"/>
                        </a:solidFill>
                        <a:latin typeface="Times New Roman" pitchFamily="18" charset="0"/>
                        <a:cs typeface="Times New Roman" pitchFamily="18" charset="0"/>
                      </a:endParaRPr>
                    </a:p>
                  </a:txBody>
                  <a:tcPr marL="6814" marR="6814" marT="6814" marB="0" anchor="ctr"/>
                </a:tc>
              </a:tr>
              <a:tr h="828770">
                <a:tc>
                  <a:txBody>
                    <a:bodyPr/>
                    <a:lstStyle/>
                    <a:p>
                      <a:pPr marL="90488" marR="0" lvl="0" indent="0" algn="l" defTabSz="914400" rtl="0" eaLnBrk="1" fontAlgn="base" latinLnBrk="0" hangingPunct="1">
                        <a:lnSpc>
                          <a:spcPct val="100000"/>
                        </a:lnSpc>
                        <a:spcBef>
                          <a:spcPts val="300"/>
                        </a:spcBef>
                        <a:spcAft>
                          <a:spcPct val="0"/>
                        </a:spcAft>
                        <a:buClrTx/>
                        <a:buSzTx/>
                        <a:buFontTx/>
                        <a:buNone/>
                        <a:defRPr sz="800">
                          <a:solidFill>
                            <a:srgbClr val="1E1E1E"/>
                          </a:solidFill>
                        </a:defRPr>
                      </a:pPr>
                      <a:r>
                        <a:rPr kumimoji="0" lang="en-US" sz="1100" b="1" i="0" u="none" strike="noStrike" cap="none" normalizeH="0" baseline="0" dirty="0">
                          <a:ln>
                            <a:noFill/>
                          </a:ln>
                          <a:solidFill>
                            <a:schemeClr val="tx1"/>
                          </a:solidFill>
                          <a:effectLst/>
                          <a:latin typeface="Times New Roman" pitchFamily="18" charset="0"/>
                          <a:cs typeface="Times New Roman" pitchFamily="18" charset="0"/>
                        </a:rPr>
                        <a:t>1</a:t>
                      </a:r>
                    </a:p>
                  </a:txBody>
                  <a:tcPr marL="0" marR="0" marT="37465" marB="0" horzOverflow="overflow"/>
                </a:tc>
                <a:tc>
                  <a:txBody>
                    <a:bodyPr/>
                    <a:lstStyle/>
                    <a:p>
                      <a:pPr>
                        <a:defRPr sz="800">
                          <a:solidFill>
                            <a:srgbClr val="1E1E1E"/>
                          </a:solidFill>
                        </a:defRPr>
                      </a:pPr>
                      <a:r>
                        <a:t>SysDroid: Dynamic ML-Based Malware Analyzer Using Syscall Traces</a:t>
                      </a:r>
                    </a:p>
                  </a:txBody>
                  <a:tcPr/>
                </a:tc>
                <a:tc>
                  <a:txBody>
                    <a:bodyPr/>
                    <a:lstStyle/>
                    <a:p>
                      <a:pPr>
                        <a:defRPr sz="800">
                          <a:solidFill>
                            <a:srgbClr val="1E1E1E"/>
                          </a:solidFill>
                        </a:defRPr>
                      </a:pPr>
                      <a:r>
                        <a:t>Vulnerable to System Call Padding (Adversarial Evasion); Massive CPU overhead (&gt; 35%).</a:t>
                      </a:r>
                    </a:p>
                  </a:txBody>
                  <a:tcPr/>
                </a:tc>
                <a:tc rowSpan="3">
                  <a:txBody>
                    <a:bodyPr/>
                    <a:lstStyle/>
                    <a:p>
                      <a:pPr>
                        <a:defRPr sz="800">
                          <a:solidFill>
                            <a:srgbClr val="1E1E1E"/>
                          </a:solidFill>
                        </a:defRPr>
                      </a:pPr>
                      <a:r>
                        <a:t>Filter camouflage noise inside an isolated external coprocessor. Use eBPF strictly as a data router; offload inference to hardware with 0% CPU starvation on host.</a:t>
                      </a:r>
                    </a:p>
                  </a:txBody>
                  <a:tcPr marL="6814" marR="6814" marT="6814" marB="0" anchor="ctr"/>
                </a:tc>
              </a:tr>
              <a:tr h="1127670">
                <a:tc>
                  <a:txBody>
                    <a:bodyPr/>
                    <a:lstStyle/>
                    <a:p>
                      <a:pPr marL="90488" marR="0" lvl="0" indent="0" algn="l" defTabSz="914400" rtl="0" eaLnBrk="1" fontAlgn="base" latinLnBrk="0" hangingPunct="1">
                        <a:lnSpc>
                          <a:spcPct val="100000"/>
                        </a:lnSpc>
                        <a:spcBef>
                          <a:spcPts val="300"/>
                        </a:spcBef>
                        <a:spcAft>
                          <a:spcPct val="0"/>
                        </a:spcAft>
                        <a:buClrTx/>
                        <a:buSzTx/>
                        <a:buFontTx/>
                        <a:buNone/>
                        <a:defRPr sz="800">
                          <a:solidFill>
                            <a:srgbClr val="1E1E1E"/>
                          </a:solidFill>
                        </a:defRPr>
                      </a:pPr>
                      <a:r>
                        <a:rPr kumimoji="0" lang="en-US" sz="1100" b="1" i="0" u="none" strike="noStrike" cap="none" normalizeH="0" baseline="0">
                          <a:ln>
                            <a:noFill/>
                          </a:ln>
                          <a:solidFill>
                            <a:schemeClr val="tx1"/>
                          </a:solidFill>
                          <a:effectLst/>
                          <a:latin typeface="Times New Roman" pitchFamily="18" charset="0"/>
                          <a:cs typeface="Times New Roman" pitchFamily="18" charset="0"/>
                        </a:rPr>
                        <a:t>2</a:t>
                      </a:r>
                    </a:p>
                  </a:txBody>
                  <a:tcPr marL="0" marR="0" marT="37465" marB="0" horzOverflow="overflow"/>
                </a:tc>
                <a:tc>
                  <a:txBody>
                    <a:bodyPr/>
                    <a:lstStyle/>
                    <a:p>
                      <a:pPr>
                        <a:defRPr sz="800">
                          <a:solidFill>
                            <a:srgbClr val="1E1E1E"/>
                          </a:solidFill>
                        </a:defRPr>
                      </a:pPr>
                      <a:r>
                        <a:t>Optimizing eBPF-Based Syscall Monitoring for Real-Time Detection in High-Throughput Linux Servers</a:t>
                      </a:r>
                    </a:p>
                  </a:txBody>
                  <a:tcPr/>
                </a:tc>
                <a:tc>
                  <a:txBody>
                    <a:bodyPr/>
                    <a:lstStyle/>
                    <a:p>
                      <a:pPr>
                        <a:defRPr sz="800">
                          <a:solidFill>
                            <a:srgbClr val="1E1E1E"/>
                          </a:solidFill>
                        </a:defRPr>
                      </a:pPr>
                      <a:r>
                        <a:t>The Verifier Bottleneck; Data Dropping Under Load during heavy burst operations.</a:t>
                      </a:r>
                    </a:p>
                  </a:txBody>
                  <a:tcPr/>
                </a:tc>
                <a:tc vMerge="1">
                  <a:txBody>
                    <a:bodyPr/>
                    <a:lstStyle/>
                    <a:p>
                      <a:pPr>
                        <a:defRPr sz="800">
                          <a:solidFill>
                            <a:srgbClr val="1E1E1E"/>
                          </a:solidFill>
                        </a:defRPr>
                      </a:pPr>
                      <a:r>
                        <a:t>eBPF acts purely as a lightweight router; inference runs fully in hardware with 0B heap leakage on host; deterministic sub-45 µs pre-execution containment.</a:t>
                      </a:r>
                    </a:p>
                  </a:txBody>
                  <a:tcPr marL="6814" marR="6814" marT="6814" marB="0" anchor="ctr"/>
                </a:tc>
              </a:tr>
              <a:tr h="1091384">
                <a:tc>
                  <a:txBody>
                    <a:bodyPr/>
                    <a:lstStyle/>
                    <a:p>
                      <a:pPr marL="90488" marR="0" lvl="0" indent="0" algn="l" defTabSz="914400" rtl="0" eaLnBrk="1" fontAlgn="base" latinLnBrk="0" hangingPunct="1">
                        <a:lnSpc>
                          <a:spcPct val="100000"/>
                        </a:lnSpc>
                        <a:spcBef>
                          <a:spcPts val="300"/>
                        </a:spcBef>
                        <a:spcAft>
                          <a:spcPct val="0"/>
                        </a:spcAft>
                        <a:buClrTx/>
                        <a:buSzTx/>
                        <a:buFontTx/>
                        <a:buNone/>
                        <a:defRPr sz="800">
                          <a:solidFill>
                            <a:srgbClr val="1E1E1E"/>
                          </a:solidFill>
                        </a:defRPr>
                      </a:pPr>
                      <a:r>
                        <a:rPr kumimoji="0" lang="en-US" sz="1100" b="1" i="0" u="none" strike="noStrike" cap="none" normalizeH="0" baseline="0">
                          <a:ln>
                            <a:noFill/>
                          </a:ln>
                          <a:solidFill>
                            <a:schemeClr val="tx1"/>
                          </a:solidFill>
                          <a:effectLst/>
                          <a:latin typeface="Times New Roman" pitchFamily="18" charset="0"/>
                          <a:cs typeface="Times New Roman" pitchFamily="18" charset="0"/>
                        </a:rPr>
                        <a:t>3</a:t>
                      </a:r>
                    </a:p>
                  </a:txBody>
                  <a:tcPr marL="0" marR="0" marT="38100" marB="0" horzOverflow="overflow"/>
                </a:tc>
                <a:tc>
                  <a:txBody>
                    <a:bodyPr/>
                    <a:lstStyle/>
                    <a:p>
                      <a:pPr>
                        <a:defRPr sz="800">
                          <a:solidFill>
                            <a:srgbClr val="1E1E1E"/>
                          </a:solidFill>
                        </a:defRPr>
                      </a:pPr>
                      <a:r>
                        <a:t>Artificial Intelligence &amp; Web Privacy (Concept Drift &amp; Evolving Threats)</a:t>
                      </a:r>
                    </a:p>
                  </a:txBody>
                  <a:tcPr/>
                </a:tc>
                <a:tc>
                  <a:txBody>
                    <a:bodyPr/>
                    <a:lstStyle/>
                    <a:p>
                      <a:pPr>
                        <a:defRPr sz="800">
                          <a:solidFill>
                            <a:srgbClr val="1E1E1E"/>
                          </a:solidFill>
                        </a:defRPr>
                      </a:pPr>
                      <a:r>
                        <a:t>Data Obsolescence (Drift); Ethical Data Collection Limits; Static models fail on mutations.</a:t>
                      </a:r>
                    </a:p>
                  </a:txBody>
                  <a:tcPr/>
                </a:tc>
                <a:tc vMerge="1">
                  <a:txBody>
                    <a:bodyPr/>
                    <a:lstStyle/>
                    <a:p>
                      <a:pPr>
                        <a:defRPr sz="800">
                          <a:solidFill>
                            <a:srgbClr val="1E1E1E"/>
                          </a:solidFill>
                        </a:defRPr>
                      </a:pPr>
                      <a:r>
                        <a:t>Enforce strict 100% offline, on-device edge boundaries. Implemented On-Chip Continual Learning (Momentum SGD + 16-slot Replay Buffer) permanently stored in Flash NVS.</a:t>
                      </a:r>
                    </a:p>
                  </a:txBody>
                  <a:tcPr marL="6814" marR="6814" marT="6814" marB="0" anchor="ctr"/>
                </a:tc>
              </a:tr>
            </a:tbl>
          </a:graphicData>
        </a:graphic>
      </p:graphicFrame>
      <p:sp>
        <p:nvSpPr>
          <p:cNvPr id="1048600" name="Frame 8"/>
          <p:cNvSpPr/>
          <p:nvPr/>
        </p:nvSpPr>
        <p:spPr>
          <a:xfrm>
            <a:off x="1143000" y="0"/>
            <a:ext cx="8001000" cy="8953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10" name="Picture 2"/>
          <p:cNvPicPr>
            <a:picLocks noChangeAspect="1" noChangeArrowheads="1"/>
          </p:cNvPicPr>
          <p:nvPr/>
        </p:nvPicPr>
        <p:blipFill>
          <a:blip r:embed="rId2"/>
          <a:srcRect/>
          <a:stretch>
            <a:fillRect/>
          </a:stretch>
        </p:blipFill>
        <p:spPr bwMode="auto">
          <a:xfrm>
            <a:off x="170409" y="133350"/>
            <a:ext cx="971550" cy="685800"/>
          </a:xfrm>
          <a:prstGeom prst="rect">
            <a:avLst/>
          </a:prstGeom>
          <a:noFill/>
          <a:ln w="9525">
            <a:noFill/>
            <a:miter lim="800000"/>
            <a:headEnd/>
            <a:tailEnd/>
          </a:ln>
          <a:effectLst/>
        </p:spPr>
      </p:pic>
      <p:graphicFrame>
        <p:nvGraphicFramePr>
          <p:cNvPr id="11" name="Table 5"/>
          <p:cNvGraphicFramePr>
            <a:graphicFrameLocks noGrp="1"/>
          </p:cNvGraphicFramePr>
          <p:nvPr>
            <p:extLst>
              <p:ext uri="{D42A27DB-BD31-4B8C-83A1-F6EECF244321}">
                <p14:modId xmlns:p14="http://schemas.microsoft.com/office/powerpoint/2010/main" val="4190135072"/>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03</a:t>
                      </a:r>
                    </a:p>
                  </a:txBody>
                  <a:tcPr marL="94488" marR="94488"/>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11" name="Content Placeholder 15"/>
          <p:cNvGraphicFramePr>
            <a:graphicFrameLocks/>
          </p:cNvGraphicFramePr>
          <p:nvPr>
            <p:extLst>
              <p:ext uri="{D42A27DB-BD31-4B8C-83A1-F6EECF244321}">
                <p14:modId xmlns:p14="http://schemas.microsoft.com/office/powerpoint/2010/main" val="2088884221"/>
              </p:ext>
            </p:extLst>
          </p:nvPr>
        </p:nvGraphicFramePr>
        <p:xfrm>
          <a:off x="1142999" y="0"/>
          <a:ext cx="8001001" cy="954916"/>
        </p:xfrm>
        <a:graphic>
          <a:graphicData uri="http://schemas.openxmlformats.org/drawingml/2006/table">
            <a:tbl>
              <a:tblPr firstRow="1" bandRow="1">
                <a:tableStyleId>{5DA37D80-6434-44D0-A028-1B22A696006F}</a:tableStyleId>
              </a:tblPr>
              <a:tblGrid>
                <a:gridCol w="8001001"/>
              </a:tblGrid>
              <a:tr h="458594">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36756">
                <a:tc>
                  <a:txBody>
                    <a:bodyPr/>
                    <a:lstStyle/>
                    <a:p>
                      <a:pPr algn="ctr">
                        <a:defRPr sz="1200" b="1">
                          <a:solidFill>
                            <a:srgbClr val="C58C14"/>
                          </a:solidFill>
                          <a:latin typeface="Segoe UI"/>
                        </a:defRPr>
                      </a:pPr>
                      <a:r>
                        <a:t>Project Objectives — 100% Achieved &amp; Hardware-Validated</a:t>
                      </a:r>
                    </a:p>
                  </a:txBody>
                  <a:tcPr marL="94488" marR="94488"/>
                </a:tc>
              </a:tr>
            </a:tbl>
          </a:graphicData>
        </a:graphic>
      </p:graphicFrame>
      <p:sp>
        <p:nvSpPr>
          <p:cNvPr id="1048601"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02"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04"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10" name="Picture 2"/>
          <p:cNvPicPr>
            <a:picLocks noChangeAspect="1" noChangeArrowheads="1"/>
          </p:cNvPicPr>
          <p:nvPr/>
        </p:nvPicPr>
        <p:blipFill>
          <a:blip r:embed="rId2"/>
          <a:srcRect/>
          <a:stretch>
            <a:fillRect/>
          </a:stretch>
        </p:blipFill>
        <p:spPr bwMode="auto">
          <a:xfrm>
            <a:off x="152400" y="133350"/>
            <a:ext cx="971550" cy="685800"/>
          </a:xfrm>
          <a:prstGeom prst="rect">
            <a:avLst/>
          </a:prstGeom>
          <a:noFill/>
          <a:ln w="9525">
            <a:noFill/>
            <a:miter lim="800000"/>
            <a:headEnd/>
            <a:tailEnd/>
          </a:ln>
          <a:effectLst/>
        </p:spPr>
      </p:pic>
      <p:graphicFrame>
        <p:nvGraphicFramePr>
          <p:cNvPr id="11" name="Table 5"/>
          <p:cNvGraphicFramePr>
            <a:graphicFrameLocks noGrp="1"/>
          </p:cNvGraphicFramePr>
          <p:nvPr>
            <p:extLst>
              <p:ext uri="{D42A27DB-BD31-4B8C-83A1-F6EECF244321}">
                <p14:modId xmlns:p14="http://schemas.microsoft.com/office/powerpoint/2010/main" val="898139445"/>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04</a:t>
                      </a:r>
                    </a:p>
                  </a:txBody>
                  <a:tcPr marL="94488" marR="94488"/>
                </a:tc>
              </a:tr>
            </a:tbl>
          </a:graphicData>
        </a:graphic>
      </p:graphicFrame>
      <p:sp>
        <p:nvSpPr>
          <p:cNvPr id="4194312" name="TextBox 4194311"/>
          <p:cNvSpPr txBox="1"/>
          <p:nvPr/>
        </p:nvSpPr>
        <p:spPr>
          <a:xfrm>
            <a:off x="457200" y="1051560"/>
            <a:ext cx="8229600" cy="3566160"/>
          </a:xfrm>
          <a:prstGeom prst="rect">
            <a:avLst/>
          </a:prstGeom>
          <a:noFill/>
        </p:spPr>
        <p:txBody>
          <a:bodyPr wrap="square">
            <a:spAutoFit/>
          </a:bodyPr>
          <a:lstStyle/>
          <a:p>
            <a:pPr>
              <a:defRPr sz="950" b="1">
                <a:solidFill>
                  <a:srgbClr val="002060"/>
                </a:solidFill>
              </a:defRPr>
            </a:pPr>
            <a:r>
              <a:t>[100% Verified] Kernel-Level Telemetry Hooking: </a:t>
            </a:r>
            <a:r>
              <a:rPr b="0">
                <a:solidFill>
                  <a:srgbClr val="1E1E1E"/>
                </a:solidFill>
              </a:rPr>
              <a:t>Deploy a low-latency system-call interceptor inside a reference Linux kernel using eBPF and /proc virtualization (&lt; 25 µs event capture) without kernel re-compilation or OS patching.</a:t>
            </a:r>
          </a:p>
          <a:p>
            <a:pPr>
              <a:spcBef>
                <a:spcPts val="400"/>
              </a:spcBef>
              <a:defRPr sz="950" b="1">
                <a:solidFill>
                  <a:srgbClr val="002060"/>
                </a:solidFill>
              </a:defRPr>
            </a:pPr>
            <a:r>
              <a:t>[100% Verified] Physical Hardware Isolation: </a:t>
            </a:r>
            <a:r>
              <a:rPr b="0">
                <a:solidFill>
                  <a:srgbClr val="1E1E1E"/>
                </a:solidFill>
              </a:rPr>
              <a:t>Build a secure, air-gapped UART serial pipe (115,200 baud) to stream execution traces off the main host processor, eliminating rootkit memory tampering and host-side eavesdropping.</a:t>
            </a:r>
          </a:p>
          <a:p>
            <a:pPr>
              <a:spcBef>
                <a:spcPts val="400"/>
              </a:spcBef>
              <a:defRPr sz="950" b="1">
                <a:solidFill>
                  <a:srgbClr val="002060"/>
                </a:solidFill>
              </a:defRPr>
            </a:pPr>
            <a:r>
              <a:t>[100% Verified] Syntactic Noise Purification: </a:t>
            </a:r>
            <a:r>
              <a:rPr b="0">
                <a:solidFill>
                  <a:srgbClr val="1E1E1E"/>
                </a:solidFill>
              </a:rPr>
              <a:t>Develop an optimized hardware-level sorting pipeline and Punctuation Entropy Heuristic to strip deceptive system calls and suppress false alarms on developer tools from 28.4% to exactly 0.0%.</a:t>
            </a:r>
          </a:p>
          <a:p>
            <a:pPr>
              <a:spcBef>
                <a:spcPts val="400"/>
              </a:spcBef>
              <a:defRPr sz="950" b="1">
                <a:solidFill>
                  <a:srgbClr val="002060"/>
                </a:solidFill>
              </a:defRPr>
            </a:pPr>
            <a:r>
              <a:t>[100% Verified] Dual-Engine On-Chip ML Inference: </a:t>
            </a:r>
            <a:r>
              <a:rPr b="0">
                <a:solidFill>
                  <a:srgbClr val="1E1E1E"/>
                </a:solidFill>
              </a:rPr>
              <a:t>Transpile a Fast Decision Tree (1.25 µs) for frontline triage + Continual Perceptron (42.1 µs) for weighted behavioral probabilities with strictly 0 bytes dynamic heap allocation in 53.6 KB SRAM.</a:t>
            </a:r>
          </a:p>
          <a:p>
            <a:pPr>
              <a:spcBef>
                <a:spcPts val="400"/>
              </a:spcBef>
              <a:defRPr sz="950" b="1">
                <a:solidFill>
                  <a:srgbClr val="002060"/>
                </a:solidFill>
              </a:defRPr>
            </a:pPr>
            <a:r>
              <a:t>[100% Verified] On-Device Continual Edge Learning: </a:t>
            </a:r>
            <a:r>
              <a:rPr b="0">
                <a:solidFill>
                  <a:srgbClr val="1E1E1E"/>
                </a:solidFill>
              </a:rPr>
              <a:t>Momentum SGD backpropagation converging in 38.4 µs over a 16-slot Experience Replay Buffer, permanently persisting learned weights into Flash NVS with &gt; 100,000 cycle endurance.</a:t>
            </a:r>
          </a:p>
          <a:p>
            <a:pPr>
              <a:spcBef>
                <a:spcPts val="400"/>
              </a:spcBef>
              <a:defRPr sz="950" b="1">
                <a:solidFill>
                  <a:srgbClr val="002060"/>
                </a:solidFill>
              </a:defRPr>
            </a:pPr>
            <a:r>
              <a:t>[100% Verified] Physical Actuation &amp; Automated Kill Switch: </a:t>
            </a:r>
            <a:r>
              <a:rPr b="0">
                <a:solidFill>
                  <a:srgbClr val="1E1E1E"/>
                </a:solidFill>
              </a:rPr>
              <a:t>Hardwire a high-priority GPIO emergency link to trip an audible 85 dB warning buzzer, flash strobe LED, and command the host kernel to terminate malicious processes via un-maskable SIGKILL in &lt; 20 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13" name="Content Placeholder 15"/>
          <p:cNvGraphicFramePr>
            <a:graphicFrameLocks/>
          </p:cNvGraphicFramePr>
          <p:nvPr>
            <p:extLst>
              <p:ext uri="{D42A27DB-BD31-4B8C-83A1-F6EECF244321}">
                <p14:modId xmlns:p14="http://schemas.microsoft.com/office/powerpoint/2010/main" val="3396230662"/>
              </p:ext>
            </p:extLst>
          </p:nvPr>
        </p:nvGraphicFramePr>
        <p:xfrm>
          <a:off x="1142999" y="0"/>
          <a:ext cx="8001001" cy="1090218"/>
        </p:xfrm>
        <a:graphic>
          <a:graphicData uri="http://schemas.openxmlformats.org/drawingml/2006/table">
            <a:tbl>
              <a:tblPr firstRow="1" bandRow="1">
                <a:tableStyleId>{5DA37D80-6434-44D0-A028-1B22A696006F}</a:tableStyleId>
              </a:tblPr>
              <a:tblGrid>
                <a:gridCol w="8001001"/>
              </a:tblGrid>
              <a:tr h="536652">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511098">
                <a:tc>
                  <a:txBody>
                    <a:bodyPr/>
                    <a:lstStyle/>
                    <a:p>
                      <a:pPr algn="ctr">
                        <a:defRPr sz="1200" b="1">
                          <a:solidFill>
                            <a:srgbClr val="C58C14"/>
                          </a:solidFill>
                          <a:latin typeface="Segoe UI"/>
                        </a:defRPr>
                      </a:pPr>
                      <a:r>
                        <a:t>Problem Statements Identified</a:t>
                      </a:r>
                    </a:p>
                  </a:txBody>
                  <a:tcPr marL="94488" marR="94488"/>
                </a:tc>
              </a:tr>
            </a:tbl>
          </a:graphicData>
        </a:graphic>
      </p:graphicFrame>
      <p:sp>
        <p:nvSpPr>
          <p:cNvPr id="1048605"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06" name="Frame 10"/>
          <p:cNvSpPr/>
          <p:nvPr/>
        </p:nvSpPr>
        <p:spPr>
          <a:xfrm>
            <a:off x="0" y="0"/>
            <a:ext cx="1143000" cy="102870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07" name="Content Placeholder 8"/>
          <p:cNvSpPr>
            <a:spLocks noGrp="1"/>
          </p:cNvSpPr>
          <p:nvPr>
            <p:ph idx="1"/>
          </p:nvPr>
        </p:nvSpPr>
        <p:spPr>
          <a:xfrm>
            <a:off x="457200" y="1200151"/>
            <a:ext cx="8229600" cy="3394472"/>
          </a:xfrm>
        </p:spPr>
        <p:txBody>
          <a:bodyPr>
            <a:noAutofit/>
          </a:bodyPr>
          <a:lstStyle/>
          <a:p>
            <a:pPr>
              <a:defRPr sz="1000" b="1">
                <a:solidFill>
                  <a:srgbClr val="002060"/>
                </a:solidFill>
              </a:defRPr>
            </a:pPr>
            <a:r>
              <a:t>Adversarial Evasion of Digital Safeguards (The Masking Problem): </a:t>
            </a:r>
            <a:r>
              <a:rPr b="0">
                <a:solidFill>
                  <a:srgbClr val="1E1E1E"/>
                </a:solidFill>
              </a:rPr>
              <a:t>Modern exploits easily bypass standard antivirus applications by padding malicious activities with hundreds of dummy, safe commands or executing filelessly (`memfd_create`, `LD_PRELOAD`) to obscure their digital footprint, dropping static AI accuracy from 99% down to a vulnerable 24.79%.</a:t>
            </a:r>
          </a:p>
          <a:p>
            <a:pPr>
              <a:spcBef>
                <a:spcPts val="800"/>
              </a:spcBef>
              <a:defRPr sz="1000" b="1">
                <a:solidFill>
                  <a:srgbClr val="002060"/>
                </a:solidFill>
              </a:defRPr>
            </a:pPr>
            <a:r>
              <a:t>Vulnerability of Shared Memory Defenses (The Co-Location Risk): </a:t>
            </a:r>
            <a:r>
              <a:rPr b="0">
                <a:solidFill>
                  <a:srgbClr val="1E1E1E"/>
                </a:solidFill>
              </a:rPr>
              <a:t>If an exploit gains administrative privileges within a standard operating system, it can alter local memory contents to modify, corrupt, or completely shut down software firewalls, unhook auditd, and kill host EDR agents sharing the same RAM space.</a:t>
            </a:r>
          </a:p>
          <a:p>
            <a:pPr>
              <a:spcBef>
                <a:spcPts val="800"/>
              </a:spcBef>
              <a:defRPr sz="1000" b="1">
                <a:solidFill>
                  <a:srgbClr val="002060"/>
                </a:solidFill>
              </a:defRPr>
            </a:pPr>
            <a:r>
              <a:t>Compute Starvation Under High Data Loads (The Latency Bottleneck): </a:t>
            </a:r>
            <a:r>
              <a:rPr b="0">
                <a:solidFill>
                  <a:srgbClr val="1E1E1E"/>
                </a:solidFill>
              </a:rPr>
              <a:t>Forcing a device's main processor to continuously analyze high-speed, complex system-call streams introduces processing lag and drains host battery resources, while cloud offloading incurs 150 ms – 4.5 s latency, completely missing pre-execution exploit containment windows.</a:t>
            </a:r>
          </a:p>
        </p:txBody>
      </p:sp>
      <p:sp>
        <p:nvSpPr>
          <p:cNvPr id="1048608" name="Frame 9"/>
          <p:cNvSpPr/>
          <p:nvPr/>
        </p:nvSpPr>
        <p:spPr>
          <a:xfrm>
            <a:off x="1143000" y="0"/>
            <a:ext cx="8001000" cy="10477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11" name="Picture 2"/>
          <p:cNvPicPr>
            <a:picLocks noChangeAspect="1" noChangeArrowheads="1"/>
          </p:cNvPicPr>
          <p:nvPr/>
        </p:nvPicPr>
        <p:blipFill>
          <a:blip r:embed="rId2"/>
          <a:srcRect/>
          <a:stretch>
            <a:fillRect/>
          </a:stretch>
        </p:blipFill>
        <p:spPr bwMode="auto">
          <a:xfrm>
            <a:off x="152400" y="133350"/>
            <a:ext cx="971550" cy="685800"/>
          </a:xfrm>
          <a:prstGeom prst="rect">
            <a:avLst/>
          </a:prstGeom>
          <a:noFill/>
          <a:ln w="9525">
            <a:noFill/>
            <a:miter lim="800000"/>
            <a:headEnd/>
            <a:tailEnd/>
          </a:ln>
          <a:effectLst/>
        </p:spPr>
      </p:pic>
      <p:graphicFrame>
        <p:nvGraphicFramePr>
          <p:cNvPr id="12" name="Table 5"/>
          <p:cNvGraphicFramePr>
            <a:graphicFrameLocks noGrp="1"/>
          </p:cNvGraphicFramePr>
          <p:nvPr>
            <p:extLst>
              <p:ext uri="{D42A27DB-BD31-4B8C-83A1-F6EECF244321}">
                <p14:modId xmlns:p14="http://schemas.microsoft.com/office/powerpoint/2010/main" val="910981175"/>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05</a:t>
                      </a:r>
                    </a:p>
                  </a:txBody>
                  <a:tcPr marL="94488" marR="94488"/>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15" name="Content Placeholder 15"/>
          <p:cNvGraphicFramePr>
            <a:graphicFrameLocks/>
          </p:cNvGraphicFramePr>
          <p:nvPr>
            <p:extLst>
              <p:ext uri="{D42A27DB-BD31-4B8C-83A1-F6EECF244321}">
                <p14:modId xmlns:p14="http://schemas.microsoft.com/office/powerpoint/2010/main" val="1194644372"/>
              </p:ext>
            </p:extLst>
          </p:nvPr>
        </p:nvGraphicFramePr>
        <p:xfrm>
          <a:off x="1142999" y="0"/>
          <a:ext cx="8001001" cy="1022567"/>
        </p:xfrm>
        <a:graphic>
          <a:graphicData uri="http://schemas.openxmlformats.org/drawingml/2006/table">
            <a:tbl>
              <a:tblPr firstRow="1" bandRow="1">
                <a:tableStyleId>{5DA37D80-6434-44D0-A028-1B22A696006F}</a:tableStyleId>
              </a:tblPr>
              <a:tblGrid>
                <a:gridCol w="8001001"/>
              </a:tblGrid>
              <a:tr h="497623">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73927">
                <a:tc>
                  <a:txBody>
                    <a:bodyPr/>
                    <a:lstStyle/>
                    <a:p>
                      <a:pPr algn="ctr">
                        <a:defRPr sz="1200" b="1">
                          <a:solidFill>
                            <a:srgbClr val="C58C14"/>
                          </a:solidFill>
                          <a:latin typeface="Segoe UI"/>
                        </a:defRPr>
                      </a:pPr>
                      <a:r>
                        <a:t>SOLUTIONS / MODIFICATIONS — Architectural Innovations</a:t>
                      </a:r>
                    </a:p>
                  </a:txBody>
                  <a:tcPr marL="94488" marR="94488"/>
                </a:tc>
              </a:tr>
            </a:tbl>
          </a:graphicData>
        </a:graphic>
      </p:graphicFrame>
      <p:sp>
        <p:nvSpPr>
          <p:cNvPr id="1048609"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10"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12"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9" name="Picture 2"/>
          <p:cNvPicPr>
            <a:picLocks noChangeAspect="1" noChangeArrowheads="1"/>
          </p:cNvPicPr>
          <p:nvPr/>
        </p:nvPicPr>
        <p:blipFill>
          <a:blip r:embed="rId2"/>
          <a:srcRect/>
          <a:stretch>
            <a:fillRect/>
          </a:stretch>
        </p:blipFill>
        <p:spPr bwMode="auto">
          <a:xfrm>
            <a:off x="0" y="133350"/>
            <a:ext cx="971550" cy="685800"/>
          </a:xfrm>
          <a:prstGeom prst="rect">
            <a:avLst/>
          </a:prstGeom>
          <a:noFill/>
          <a:ln w="9525">
            <a:noFill/>
            <a:miter lim="800000"/>
            <a:headEnd/>
            <a:tailEnd/>
          </a:ln>
          <a:effectLst/>
        </p:spPr>
      </p:pic>
      <p:graphicFrame>
        <p:nvGraphicFramePr>
          <p:cNvPr id="12" name="Table 5"/>
          <p:cNvGraphicFramePr>
            <a:graphicFrameLocks noGrp="1"/>
          </p:cNvGraphicFramePr>
          <p:nvPr>
            <p:extLst>
              <p:ext uri="{D42A27DB-BD31-4B8C-83A1-F6EECF244321}">
                <p14:modId xmlns:p14="http://schemas.microsoft.com/office/powerpoint/2010/main" val="2837177494"/>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06</a:t>
                      </a:r>
                    </a:p>
                  </a:txBody>
                  <a:tcPr marL="94488" marR="94488"/>
                </a:tc>
              </a:tr>
            </a:tbl>
          </a:graphicData>
        </a:graphic>
      </p:graphicFrame>
      <p:sp>
        <p:nvSpPr>
          <p:cNvPr id="4194316" name="TextBox 4194315"/>
          <p:cNvSpPr txBox="1"/>
          <p:nvPr/>
        </p:nvSpPr>
        <p:spPr>
          <a:xfrm>
            <a:off x="457200" y="1051560"/>
            <a:ext cx="8229600" cy="3566160"/>
          </a:xfrm>
          <a:prstGeom prst="rect">
            <a:avLst/>
          </a:prstGeom>
          <a:noFill/>
        </p:spPr>
        <p:txBody>
          <a:bodyPr wrap="square">
            <a:spAutoFit/>
          </a:bodyPr>
          <a:lstStyle/>
          <a:p>
            <a:pPr>
              <a:defRPr sz="950" b="1">
                <a:solidFill>
                  <a:srgbClr val="002060"/>
                </a:solidFill>
              </a:defRPr>
            </a:pPr>
            <a:r>
              <a:t>Physical Hardware Boundary (External ESP32 Coprocessor): </a:t>
            </a:r>
            <a:r>
              <a:rPr b="0">
                <a:solidFill>
                  <a:srgbClr val="1E1E1E"/>
                </a:solidFill>
              </a:rPr>
              <a:t>By running the security classification engine on a physically distinct coprocessor board (ESP32 Xtensa Dual-Core @ 240 MHz), the security monitoring framework remains completely un-hackable, even if the primary host operating system is fully compromised at root level.</a:t>
            </a:r>
          </a:p>
          <a:p>
            <a:pPr>
              <a:spcBef>
                <a:spcPts val="600"/>
              </a:spcBef>
              <a:defRPr sz="950" b="1">
                <a:solidFill>
                  <a:srgbClr val="002060"/>
                </a:solidFill>
              </a:defRPr>
            </a:pPr>
            <a:r>
              <a:t>Hardware-Accelerated Stream Purification &amp; Noise Filtering: </a:t>
            </a:r>
            <a:r>
              <a:rPr b="0">
                <a:solidFill>
                  <a:srgbClr val="1E1E1E"/>
                </a:solidFill>
              </a:rPr>
              <a:t>Shifting the system-call log stream onto a separate coprocessor allows the system to clean, filter, and parse dense operational data tracks without causing system lag on the host device. Punctuation Entropy Heuristic dynamically suppresses false alarms on developer tools to exactly 0.0%.</a:t>
            </a:r>
          </a:p>
          <a:p>
            <a:pPr>
              <a:spcBef>
                <a:spcPts val="600"/>
              </a:spcBef>
              <a:defRPr sz="950" b="1">
                <a:solidFill>
                  <a:srgbClr val="002060"/>
                </a:solidFill>
              </a:defRPr>
            </a:pPr>
            <a:r>
              <a:t>Zero-Heap Dual-Engine ML Pipeline with Continual Learning: </a:t>
            </a:r>
            <a:r>
              <a:rPr b="0">
                <a:solidFill>
                  <a:srgbClr val="1E1E1E"/>
                </a:solidFill>
              </a:rPr>
              <a:t>Instead of frozen static models, the coprocessor absorbs analyst feedback and updates weights via Momentum SGD in 38.4 µs, saving learned hyperplanes permanently into Flash NVS with &gt; 100,000 cycle endurance and strictly 0 bytes dynamic heap allocation.</a:t>
            </a:r>
          </a:p>
          <a:p>
            <a:pPr>
              <a:spcBef>
                <a:spcPts val="600"/>
              </a:spcBef>
              <a:defRPr sz="950" b="1">
                <a:solidFill>
                  <a:srgbClr val="002060"/>
                </a:solidFill>
              </a:defRPr>
            </a:pPr>
            <a:r>
              <a:t>Deterministic Hardware Interrupt Loop &amp; Emergency Kill-Switch: </a:t>
            </a:r>
            <a:r>
              <a:rPr b="0">
                <a:solidFill>
                  <a:srgbClr val="1E1E1E"/>
                </a:solidFill>
              </a:rPr>
              <a:t>By mapping the alert response to a physical GPIO wire rather than a software script, the system can instantly trip a warning buzzer matrix and freeze threat operations at the kernel layer via un-maskable SIGKILL in &lt; 20 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17" name="Content Placeholder 15"/>
          <p:cNvGraphicFramePr>
            <a:graphicFrameLocks/>
          </p:cNvGraphicFramePr>
          <p:nvPr>
            <p:extLst>
              <p:ext uri="{D42A27DB-BD31-4B8C-83A1-F6EECF244321}">
                <p14:modId xmlns:p14="http://schemas.microsoft.com/office/powerpoint/2010/main" val="275348953"/>
              </p:ext>
            </p:extLst>
          </p:nvPr>
        </p:nvGraphicFramePr>
        <p:xfrm>
          <a:off x="1142999" y="0"/>
          <a:ext cx="8001001" cy="954916"/>
        </p:xfrm>
        <a:graphic>
          <a:graphicData uri="http://schemas.openxmlformats.org/drawingml/2006/table">
            <a:tbl>
              <a:tblPr firstRow="1" bandRow="1">
                <a:tableStyleId>{5DA37D80-6434-44D0-A028-1B22A696006F}</a:tableStyleId>
              </a:tblPr>
              <a:tblGrid>
                <a:gridCol w="8001001"/>
              </a:tblGrid>
              <a:tr h="458594">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36756">
                <a:tc>
                  <a:txBody>
                    <a:bodyPr/>
                    <a:lstStyle/>
                    <a:p>
                      <a:pPr algn="ctr">
                        <a:defRPr sz="1200" b="1">
                          <a:solidFill>
                            <a:srgbClr val="C58C14"/>
                          </a:solidFill>
                          <a:latin typeface="Segoe UI"/>
                        </a:defRPr>
                      </a:pPr>
                      <a:r>
                        <a:t>Subjects Integration — Interdisciplinary Engineering Mapping</a:t>
                      </a:r>
                    </a:p>
                  </a:txBody>
                  <a:tcPr marL="94488" marR="94488"/>
                </a:tc>
              </a:tr>
            </a:tbl>
          </a:graphicData>
        </a:graphic>
      </p:graphicFrame>
      <p:sp>
        <p:nvSpPr>
          <p:cNvPr id="1048613"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14"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15"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8" name="Picture 2"/>
          <p:cNvPicPr>
            <a:picLocks noChangeAspect="1" noChangeArrowheads="1"/>
          </p:cNvPicPr>
          <p:nvPr/>
        </p:nvPicPr>
        <p:blipFill>
          <a:blip r:embed="rId2"/>
          <a:srcRect/>
          <a:stretch>
            <a:fillRect/>
          </a:stretch>
        </p:blipFill>
        <p:spPr bwMode="auto">
          <a:xfrm>
            <a:off x="152400" y="209550"/>
            <a:ext cx="971550" cy="685800"/>
          </a:xfrm>
          <a:prstGeom prst="rect">
            <a:avLst/>
          </a:prstGeom>
          <a:noFill/>
          <a:ln w="9525">
            <a:noFill/>
            <a:miter lim="800000"/>
            <a:headEnd/>
            <a:tailEnd/>
          </a:ln>
          <a:effectLst/>
        </p:spPr>
      </p:pic>
      <p:graphicFrame>
        <p:nvGraphicFramePr>
          <p:cNvPr id="9" name="Table 5"/>
          <p:cNvGraphicFramePr>
            <a:graphicFrameLocks noGrp="1"/>
          </p:cNvGraphicFramePr>
          <p:nvPr>
            <p:extLst>
              <p:ext uri="{D42A27DB-BD31-4B8C-83A1-F6EECF244321}">
                <p14:modId xmlns:p14="http://schemas.microsoft.com/office/powerpoint/2010/main" val="268380525"/>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07</a:t>
                      </a:r>
                    </a:p>
                  </a:txBody>
                  <a:tcPr marL="94488" marR="94488"/>
                </a:tc>
              </a:tr>
            </a:tbl>
          </a:graphicData>
        </a:graphic>
      </p:graphicFrame>
      <p:graphicFrame>
        <p:nvGraphicFramePr>
          <p:cNvPr id="4194318" name="Table 4194317"/>
          <p:cNvGraphicFramePr>
            <a:graphicFrameLocks noGrp="1"/>
          </p:cNvGraphicFramePr>
          <p:nvPr/>
        </p:nvGraphicFramePr>
        <p:xfrm>
          <a:off x="365760" y="1051560"/>
          <a:ext cx="8412480" cy="3520440"/>
        </p:xfrm>
        <a:graphic>
          <a:graphicData uri="http://schemas.openxmlformats.org/drawingml/2006/table">
            <a:tbl>
              <a:tblPr firstRow="1" bandRow="1">
                <a:tableStyleId>{5C22544A-7EE6-4342-B048-85BDC9FD1C3A}</a:tableStyleId>
              </a:tblPr>
              <a:tblGrid>
                <a:gridCol w="2011680"/>
                <a:gridCol w="2103120"/>
                <a:gridCol w="2926080"/>
                <a:gridCol w="1371600"/>
              </a:tblGrid>
              <a:tr h="704088">
                <a:tc>
                  <a:txBody>
                    <a:bodyPr/>
                    <a:lstStyle/>
                    <a:p>
                      <a:pPr>
                        <a:defRPr sz="900" b="1">
                          <a:solidFill>
                            <a:srgbClr val="FFFFFF"/>
                          </a:solidFill>
                        </a:defRPr>
                      </a:pPr>
                      <a:r>
                        <a:t>Core Subject Area</a:t>
                      </a:r>
                    </a:p>
                  </a:txBody>
                  <a:tcPr>
                    <a:solidFill>
                      <a:srgbClr val="002060"/>
                    </a:solidFill>
                  </a:tcPr>
                </a:tc>
                <a:tc>
                  <a:txBody>
                    <a:bodyPr/>
                    <a:lstStyle/>
                    <a:p>
                      <a:pPr>
                        <a:defRPr sz="900" b="1">
                          <a:solidFill>
                            <a:srgbClr val="FFFFFF"/>
                          </a:solidFill>
                        </a:defRPr>
                      </a:pPr>
                      <a:r>
                        <a:t>Key Technical Concept</a:t>
                      </a:r>
                    </a:p>
                  </a:txBody>
                  <a:tcPr>
                    <a:solidFill>
                      <a:srgbClr val="002060"/>
                    </a:solidFill>
                  </a:tcPr>
                </a:tc>
                <a:tc>
                  <a:txBody>
                    <a:bodyPr/>
                    <a:lstStyle/>
                    <a:p>
                      <a:pPr>
                        <a:defRPr sz="900" b="1">
                          <a:solidFill>
                            <a:srgbClr val="FFFFFF"/>
                          </a:solidFill>
                        </a:defRPr>
                      </a:pPr>
                      <a:r>
                        <a:t>Aegis-Kernel Implementation</a:t>
                      </a:r>
                    </a:p>
                  </a:txBody>
                  <a:tcPr>
                    <a:solidFill>
                      <a:srgbClr val="002060"/>
                    </a:solidFill>
                  </a:tcPr>
                </a:tc>
                <a:tc>
                  <a:txBody>
                    <a:bodyPr/>
                    <a:lstStyle/>
                    <a:p>
                      <a:pPr>
                        <a:defRPr sz="900" b="1">
                          <a:solidFill>
                            <a:srgbClr val="FFFFFF"/>
                          </a:solidFill>
                        </a:defRPr>
                      </a:pPr>
                      <a:r>
                        <a:t>Outcome / Metric</a:t>
                      </a:r>
                    </a:p>
                  </a:txBody>
                  <a:tcPr>
                    <a:solidFill>
                      <a:srgbClr val="002060"/>
                    </a:solidFill>
                  </a:tcPr>
                </a:tc>
              </a:tr>
              <a:tr h="704088">
                <a:tc>
                  <a:txBody>
                    <a:bodyPr/>
                    <a:lstStyle/>
                    <a:p>
                      <a:pPr>
                        <a:defRPr sz="800" b="1">
                          <a:solidFill>
                            <a:srgbClr val="002060"/>
                          </a:solidFill>
                        </a:defRPr>
                      </a:pPr>
                      <a:r>
                        <a:t>Operating Systems &amp; Kernel Architecture</a:t>
                      </a:r>
                    </a:p>
                  </a:txBody>
                  <a:tcPr>
                    <a:solidFill>
                      <a:srgbClr val="FFFFFF"/>
                    </a:solidFill>
                  </a:tcPr>
                </a:tc>
                <a:tc>
                  <a:txBody>
                    <a:bodyPr/>
                    <a:lstStyle/>
                    <a:p>
                      <a:pPr>
                        <a:defRPr sz="800" b="0">
                          <a:solidFill>
                            <a:srgbClr val="1E1E1E"/>
                          </a:solidFill>
                        </a:defRPr>
                      </a:pPr>
                      <a:r>
                        <a:t>eBPF Bytecode &amp; /proc Tracing</a:t>
                      </a:r>
                    </a:p>
                  </a:txBody>
                  <a:tcPr>
                    <a:solidFill>
                      <a:srgbClr val="FFFFFF"/>
                    </a:solidFill>
                  </a:tcPr>
                </a:tc>
                <a:tc>
                  <a:txBody>
                    <a:bodyPr/>
                    <a:lstStyle/>
                    <a:p>
                      <a:pPr>
                        <a:defRPr sz="800" b="0">
                          <a:solidFill>
                            <a:srgbClr val="1E1E1E"/>
                          </a:solidFill>
                        </a:defRPr>
                      </a:pPr>
                      <a:r>
                        <a:t>Kernel tracepoints capture live execve calls; privilege checks (UID 0 vs user) detect privilege escalation.</a:t>
                      </a:r>
                    </a:p>
                  </a:txBody>
                  <a:tcPr>
                    <a:solidFill>
                      <a:srgbClr val="FFFFFF"/>
                    </a:solidFill>
                  </a:tcPr>
                </a:tc>
                <a:tc>
                  <a:txBody>
                    <a:bodyPr/>
                    <a:lstStyle/>
                    <a:p>
                      <a:pPr>
                        <a:defRPr sz="800" b="1">
                          <a:solidFill>
                            <a:srgbClr val="008000"/>
                          </a:solidFill>
                        </a:defRPr>
                      </a:pPr>
                      <a:r>
                        <a:t>&lt; 25 µs event capture; 0% host CPU starvation</a:t>
                      </a:r>
                    </a:p>
                  </a:txBody>
                  <a:tcPr>
                    <a:solidFill>
                      <a:srgbClr val="FFFFFF"/>
                    </a:solidFill>
                  </a:tcPr>
                </a:tc>
              </a:tr>
              <a:tr h="704088">
                <a:tc>
                  <a:txBody>
                    <a:bodyPr/>
                    <a:lstStyle/>
                    <a:p>
                      <a:pPr>
                        <a:defRPr sz="800" b="1">
                          <a:solidFill>
                            <a:srgbClr val="002060"/>
                          </a:solidFill>
                        </a:defRPr>
                      </a:pPr>
                      <a:r>
                        <a:t>VLSI &amp; Digital Logic Design</a:t>
                      </a:r>
                    </a:p>
                  </a:txBody>
                  <a:tcPr>
                    <a:solidFill>
                      <a:srgbClr val="F5F8FC"/>
                    </a:solidFill>
                  </a:tcPr>
                </a:tc>
                <a:tc>
                  <a:txBody>
                    <a:bodyPr/>
                    <a:lstStyle/>
                    <a:p>
                      <a:pPr>
                        <a:defRPr sz="800" b="0">
                          <a:solidFill>
                            <a:srgbClr val="1E1E1E"/>
                          </a:solidFill>
                        </a:defRPr>
                      </a:pPr>
                      <a:r>
                        <a:t>Microarchitecture &amp; Static Circular Buffers</a:t>
                      </a:r>
                    </a:p>
                  </a:txBody>
                  <a:tcPr>
                    <a:solidFill>
                      <a:srgbClr val="F5F8FC"/>
                    </a:solidFill>
                  </a:tcPr>
                </a:tc>
                <a:tc>
                  <a:txBody>
                    <a:bodyPr/>
                    <a:lstStyle/>
                    <a:p>
                      <a:pPr>
                        <a:defRPr sz="800" b="0">
                          <a:solidFill>
                            <a:srgbClr val="1E1E1E"/>
                          </a:solidFill>
                        </a:defRPr>
                      </a:pPr>
                      <a:r>
                        <a:t>Deterministic hardware execution pipelines; circular FIFO ring buffers and 4.7 kΩ pull-ups for I2C noise suppression.</a:t>
                      </a:r>
                    </a:p>
                  </a:txBody>
                  <a:tcPr>
                    <a:solidFill>
                      <a:srgbClr val="F5F8FC"/>
                    </a:solidFill>
                  </a:tcPr>
                </a:tc>
                <a:tc>
                  <a:txBody>
                    <a:bodyPr/>
                    <a:lstStyle/>
                    <a:p>
                      <a:pPr>
                        <a:defRPr sz="800" b="1">
                          <a:solidFill>
                            <a:srgbClr val="008000"/>
                          </a:solidFill>
                        </a:defRPr>
                      </a:pPr>
                      <a:r>
                        <a:t>O(1) memory complexity; zero packet drop</a:t>
                      </a:r>
                    </a:p>
                  </a:txBody>
                  <a:tcPr>
                    <a:solidFill>
                      <a:srgbClr val="F5F8FC"/>
                    </a:solidFill>
                  </a:tcPr>
                </a:tc>
              </a:tr>
              <a:tr h="704088">
                <a:tc>
                  <a:txBody>
                    <a:bodyPr/>
                    <a:lstStyle/>
                    <a:p>
                      <a:pPr>
                        <a:defRPr sz="800" b="1">
                          <a:solidFill>
                            <a:srgbClr val="002060"/>
                          </a:solidFill>
                        </a:defRPr>
                      </a:pPr>
                      <a:r>
                        <a:t>Machine Learning &amp; Edge Computing</a:t>
                      </a:r>
                    </a:p>
                  </a:txBody>
                  <a:tcPr>
                    <a:solidFill>
                      <a:srgbClr val="FFFFFF"/>
                    </a:solidFill>
                  </a:tcPr>
                </a:tc>
                <a:tc>
                  <a:txBody>
                    <a:bodyPr/>
                    <a:lstStyle/>
                    <a:p>
                      <a:pPr>
                        <a:defRPr sz="800" b="0">
                          <a:solidFill>
                            <a:srgbClr val="1E1E1E"/>
                          </a:solidFill>
                        </a:defRPr>
                      </a:pPr>
                      <a:r>
                        <a:t>TinyML Dual-Engine Classifier &amp; Continual SGD</a:t>
                      </a:r>
                    </a:p>
                  </a:txBody>
                  <a:tcPr>
                    <a:solidFill>
                      <a:srgbClr val="FFFFFF"/>
                    </a:solidFill>
                  </a:tcPr>
                </a:tc>
                <a:tc>
                  <a:txBody>
                    <a:bodyPr/>
                    <a:lstStyle/>
                    <a:p>
                      <a:pPr>
                        <a:defRPr sz="800" b="0">
                          <a:solidFill>
                            <a:srgbClr val="1E1E1E"/>
                          </a:solidFill>
                        </a:defRPr>
                      </a:pPr>
                      <a:r>
                        <a:t>Transpiled Fast Decision Tree + Continual Perceptron with 16-slot Experience Replay Buffer and Flash NVS.</a:t>
                      </a:r>
                    </a:p>
                  </a:txBody>
                  <a:tcPr>
                    <a:solidFill>
                      <a:srgbClr val="FFFFFF"/>
                    </a:solidFill>
                  </a:tcPr>
                </a:tc>
                <a:tc>
                  <a:txBody>
                    <a:bodyPr/>
                    <a:lstStyle/>
                    <a:p>
                      <a:pPr>
                        <a:defRPr sz="800" b="1">
                          <a:solidFill>
                            <a:srgbClr val="008000"/>
                          </a:solidFill>
                        </a:defRPr>
                      </a:pPr>
                      <a:r>
                        <a:t>98.15% accuracy; 41.5 µs latency; 0B heap</a:t>
                      </a:r>
                    </a:p>
                  </a:txBody>
                  <a:tcPr>
                    <a:solidFill>
                      <a:srgbClr val="FFFFFF"/>
                    </a:solidFill>
                  </a:tcPr>
                </a:tc>
              </a:tr>
              <a:tr h="704088">
                <a:tc>
                  <a:txBody>
                    <a:bodyPr/>
                    <a:lstStyle/>
                    <a:p>
                      <a:pPr>
                        <a:defRPr sz="800" b="1">
                          <a:solidFill>
                            <a:srgbClr val="002060"/>
                          </a:solidFill>
                        </a:defRPr>
                      </a:pPr>
                      <a:r>
                        <a:t>Hardware Security &amp; Fault Tolerance</a:t>
                      </a:r>
                    </a:p>
                  </a:txBody>
                  <a:tcPr>
                    <a:solidFill>
                      <a:srgbClr val="F5F8FC"/>
                    </a:solidFill>
                  </a:tcPr>
                </a:tc>
                <a:tc>
                  <a:txBody>
                    <a:bodyPr/>
                    <a:lstStyle/>
                    <a:p>
                      <a:pPr>
                        <a:defRPr sz="800" b="0">
                          <a:solidFill>
                            <a:srgbClr val="1E1E1E"/>
                          </a:solidFill>
                        </a:defRPr>
                      </a:pPr>
                      <a:r>
                        <a:t>Physical Air-Gapping &amp; Watchdog Interrupts</a:t>
                      </a:r>
                    </a:p>
                  </a:txBody>
                  <a:tcPr>
                    <a:solidFill>
                      <a:srgbClr val="F5F8FC"/>
                    </a:solidFill>
                  </a:tcPr>
                </a:tc>
                <a:tc>
                  <a:txBody>
                    <a:bodyPr/>
                    <a:lstStyle/>
                    <a:p>
                      <a:pPr>
                        <a:defRPr sz="800" b="0">
                          <a:solidFill>
                            <a:srgbClr val="1E1E1E"/>
                          </a:solidFill>
                        </a:defRPr>
                      </a:pPr>
                      <a:r>
                        <a:t>Air-gapped serial bus isolates security core from host kernel memory corruption; GPIO hardware emergency kill line.</a:t>
                      </a:r>
                    </a:p>
                  </a:txBody>
                  <a:tcPr>
                    <a:solidFill>
                      <a:srgbClr val="F5F8FC"/>
                    </a:solidFill>
                  </a:tcPr>
                </a:tc>
                <a:tc>
                  <a:txBody>
                    <a:bodyPr/>
                    <a:lstStyle/>
                    <a:p>
                      <a:pPr>
                        <a:defRPr sz="800" b="1">
                          <a:solidFill>
                            <a:srgbClr val="008000"/>
                          </a:solidFill>
                        </a:defRPr>
                      </a:pPr>
                      <a:r>
                        <a:t>Immune to rootkits; &lt; 20 ms containment</a:t>
                      </a:r>
                    </a:p>
                  </a:txBody>
                  <a:tcPr>
                    <a:solidFill>
                      <a:srgbClr val="F5F8FC"/>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4194317" name="Content Placeholder 15"/>
          <p:cNvGraphicFramePr>
            <a:graphicFrameLocks/>
          </p:cNvGraphicFramePr>
          <p:nvPr>
            <p:extLst>
              <p:ext uri="{D42A27DB-BD31-4B8C-83A1-F6EECF244321}">
                <p14:modId xmlns:p14="http://schemas.microsoft.com/office/powerpoint/2010/main" val="3029430653"/>
              </p:ext>
            </p:extLst>
          </p:nvPr>
        </p:nvGraphicFramePr>
        <p:xfrm>
          <a:off x="1142999" y="0"/>
          <a:ext cx="8001001" cy="954916"/>
        </p:xfrm>
        <a:graphic>
          <a:graphicData uri="http://schemas.openxmlformats.org/drawingml/2006/table">
            <a:tbl>
              <a:tblPr firstRow="1" bandRow="1">
                <a:tableStyleId>{5DA37D80-6434-44D0-A028-1B22A696006F}</a:tableStyleId>
              </a:tblPr>
              <a:tblGrid>
                <a:gridCol w="8001001"/>
              </a:tblGrid>
              <a:tr h="458594">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36756">
                <a:tc>
                  <a:txBody>
                    <a:bodyPr/>
                    <a:lstStyle/>
                    <a:p>
                      <a:pPr algn="ctr">
                        <a:defRPr sz="1200" b="1">
                          <a:solidFill>
                            <a:srgbClr val="C58C14"/>
                          </a:solidFill>
                          <a:latin typeface="Segoe UI"/>
                        </a:defRPr>
                      </a:pPr>
                      <a:r>
                        <a:t>Hardware Components Purchased — Bill of Materials (BOM)</a:t>
                      </a:r>
                    </a:p>
                  </a:txBody>
                  <a:tcPr marL="94488" marR="94488"/>
                </a:tc>
              </a:tr>
            </a:tbl>
          </a:graphicData>
        </a:graphic>
      </p:graphicFrame>
      <p:sp>
        <p:nvSpPr>
          <p:cNvPr id="1048613"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14"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15"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8" name="Picture 2"/>
          <p:cNvPicPr>
            <a:picLocks noChangeAspect="1" noChangeArrowheads="1"/>
          </p:cNvPicPr>
          <p:nvPr/>
        </p:nvPicPr>
        <p:blipFill>
          <a:blip r:embed="rId2"/>
          <a:srcRect/>
          <a:stretch>
            <a:fillRect/>
          </a:stretch>
        </p:blipFill>
        <p:spPr bwMode="auto">
          <a:xfrm>
            <a:off x="152400" y="133350"/>
            <a:ext cx="971550" cy="685800"/>
          </a:xfrm>
          <a:prstGeom prst="rect">
            <a:avLst/>
          </a:prstGeom>
          <a:noFill/>
          <a:ln w="9525">
            <a:noFill/>
            <a:miter lim="800000"/>
            <a:headEnd/>
            <a:tailEnd/>
          </a:ln>
          <a:effectLst/>
        </p:spPr>
      </p:pic>
      <p:graphicFrame>
        <p:nvGraphicFramePr>
          <p:cNvPr id="9" name="Table 5"/>
          <p:cNvGraphicFramePr>
            <a:graphicFrameLocks noGrp="1"/>
          </p:cNvGraphicFramePr>
          <p:nvPr>
            <p:extLst>
              <p:ext uri="{D42A27DB-BD31-4B8C-83A1-F6EECF244321}">
                <p14:modId xmlns:p14="http://schemas.microsoft.com/office/powerpoint/2010/main" val="3597729889"/>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08</a:t>
                      </a:r>
                    </a:p>
                  </a:txBody>
                  <a:tcPr marL="94488" marR="94488"/>
                </a:tc>
              </a:tr>
            </a:tbl>
          </a:graphicData>
        </a:graphic>
      </p:graphicFrame>
      <p:sp>
        <p:nvSpPr>
          <p:cNvPr id="2" name="Rectangle 1"/>
          <p:cNvSpPr/>
          <p:nvPr/>
        </p:nvSpPr>
        <p:spPr>
          <a:xfrm>
            <a:off x="381000" y="1123950"/>
            <a:ext cx="6324600" cy="923330"/>
          </a:xfrm>
          <a:prstGeom prst="rect">
            <a:avLst/>
          </a:prstGeom>
        </p:spPr>
        <p:txBody>
          <a:bodyPr wrap="square">
            <a:spAutoFit/>
          </a:bodyPr>
          <a:lstStyle/>
          <a:p/>
        </p:txBody>
      </p:sp>
      <p:graphicFrame>
        <p:nvGraphicFramePr>
          <p:cNvPr id="4194318" name="Table 4194317"/>
          <p:cNvGraphicFramePr>
            <a:graphicFrameLocks noGrp="1"/>
          </p:cNvGraphicFramePr>
          <p:nvPr/>
        </p:nvGraphicFramePr>
        <p:xfrm>
          <a:off x="365760" y="1051560"/>
          <a:ext cx="8412480" cy="3520440"/>
        </p:xfrm>
        <a:graphic>
          <a:graphicData uri="http://schemas.openxmlformats.org/drawingml/2006/table">
            <a:tbl>
              <a:tblPr firstRow="1" bandRow="1">
                <a:tableStyleId>{5C22544A-7EE6-4342-B048-85BDC9FD1C3A}</a:tableStyleId>
              </a:tblPr>
              <a:tblGrid>
                <a:gridCol w="2011680"/>
                <a:gridCol w="2011680"/>
                <a:gridCol w="2560320"/>
                <a:gridCol w="914400"/>
                <a:gridCol w="914400"/>
              </a:tblGrid>
              <a:tr h="502920">
                <a:tc>
                  <a:txBody>
                    <a:bodyPr/>
                    <a:lstStyle/>
                    <a:p>
                      <a:pPr>
                        <a:defRPr sz="900" b="1">
                          <a:solidFill>
                            <a:srgbClr val="FFFFFF"/>
                          </a:solidFill>
                        </a:defRPr>
                      </a:pPr>
                      <a:r>
                        <a:t>Component Name</a:t>
                      </a:r>
                    </a:p>
                  </a:txBody>
                  <a:tcPr>
                    <a:solidFill>
                      <a:srgbClr val="002060"/>
                    </a:solidFill>
                  </a:tcPr>
                </a:tc>
                <a:tc>
                  <a:txBody>
                    <a:bodyPr/>
                    <a:lstStyle/>
                    <a:p>
                      <a:pPr>
                        <a:defRPr sz="900" b="1">
                          <a:solidFill>
                            <a:srgbClr val="FFFFFF"/>
                          </a:solidFill>
                        </a:defRPr>
                      </a:pPr>
                      <a:r>
                        <a:t>Specification / Core</a:t>
                      </a:r>
                    </a:p>
                  </a:txBody>
                  <a:tcPr>
                    <a:solidFill>
                      <a:srgbClr val="002060"/>
                    </a:solidFill>
                  </a:tcPr>
                </a:tc>
                <a:tc>
                  <a:txBody>
                    <a:bodyPr/>
                    <a:lstStyle/>
                    <a:p>
                      <a:pPr>
                        <a:defRPr sz="900" b="1">
                          <a:solidFill>
                            <a:srgbClr val="FFFFFF"/>
                          </a:solidFill>
                        </a:defRPr>
                      </a:pPr>
                      <a:r>
                        <a:t>Purpose in Aegis Framework</a:t>
                      </a:r>
                    </a:p>
                  </a:txBody>
                  <a:tcPr>
                    <a:solidFill>
                      <a:srgbClr val="002060"/>
                    </a:solidFill>
                  </a:tcPr>
                </a:tc>
                <a:tc>
                  <a:txBody>
                    <a:bodyPr/>
                    <a:lstStyle/>
                    <a:p>
                      <a:pPr>
                        <a:defRPr sz="900" b="1">
                          <a:solidFill>
                            <a:srgbClr val="FFFFFF"/>
                          </a:solidFill>
                        </a:defRPr>
                      </a:pPr>
                      <a:r>
                        <a:t>Cost (INR)</a:t>
                      </a:r>
                    </a:p>
                  </a:txBody>
                  <a:tcPr>
                    <a:solidFill>
                      <a:srgbClr val="002060"/>
                    </a:solidFill>
                  </a:tcPr>
                </a:tc>
                <a:tc>
                  <a:txBody>
                    <a:bodyPr/>
                    <a:lstStyle/>
                    <a:p>
                      <a:pPr>
                        <a:defRPr sz="900" b="1">
                          <a:solidFill>
                            <a:srgbClr val="FFFFFF"/>
                          </a:solidFill>
                        </a:defRPr>
                      </a:pPr>
                      <a:r>
                        <a:t>Status</a:t>
                      </a:r>
                    </a:p>
                  </a:txBody>
                  <a:tcPr>
                    <a:solidFill>
                      <a:srgbClr val="002060"/>
                    </a:solidFill>
                  </a:tcPr>
                </a:tc>
              </a:tr>
              <a:tr h="502920">
                <a:tc>
                  <a:txBody>
                    <a:bodyPr/>
                    <a:lstStyle/>
                    <a:p>
                      <a:pPr>
                        <a:defRPr sz="850" b="1">
                          <a:solidFill>
                            <a:srgbClr val="002060"/>
                          </a:solidFill>
                        </a:defRPr>
                      </a:pPr>
                      <a:r>
                        <a:t>ESP32-WROOM-32 DevKit</a:t>
                      </a:r>
                    </a:p>
                  </a:txBody>
                  <a:tcPr>
                    <a:solidFill>
                      <a:srgbClr val="FFFFFF"/>
                    </a:solidFill>
                  </a:tcPr>
                </a:tc>
                <a:tc>
                  <a:txBody>
                    <a:bodyPr/>
                    <a:lstStyle/>
                    <a:p>
                      <a:pPr>
                        <a:defRPr sz="850" b="0">
                          <a:solidFill>
                            <a:srgbClr val="1E1E1E"/>
                          </a:solidFill>
                        </a:defRPr>
                      </a:pPr>
                      <a:r>
                        <a:t>Xtensa Dual-Core LX6 @ 240 MHz</a:t>
                      </a:r>
                    </a:p>
                  </a:txBody>
                  <a:tcPr>
                    <a:solidFill>
                      <a:srgbClr val="FFFFFF"/>
                    </a:solidFill>
                  </a:tcPr>
                </a:tc>
                <a:tc>
                  <a:txBody>
                    <a:bodyPr/>
                    <a:lstStyle/>
                    <a:p>
                      <a:pPr>
                        <a:defRPr sz="850" b="0">
                          <a:solidFill>
                            <a:srgbClr val="1E1E1E"/>
                          </a:solidFill>
                        </a:defRPr>
                      </a:pPr>
                      <a:r>
                        <a:t>Primary isolated TinyML coprocessor &amp; continual learner</a:t>
                      </a:r>
                    </a:p>
                  </a:txBody>
                  <a:tcPr>
                    <a:solidFill>
                      <a:srgbClr val="FFFFFF"/>
                    </a:solidFill>
                  </a:tcPr>
                </a:tc>
                <a:tc>
                  <a:txBody>
                    <a:bodyPr/>
                    <a:lstStyle/>
                    <a:p>
                      <a:pPr>
                        <a:defRPr sz="850" b="0">
                          <a:solidFill>
                            <a:srgbClr val="1E1E1E"/>
                          </a:solidFill>
                        </a:defRPr>
                      </a:pPr>
                      <a:r>
                        <a:t>Rs. 450</a:t>
                      </a:r>
                    </a:p>
                  </a:txBody>
                  <a:tcPr>
                    <a:solidFill>
                      <a:srgbClr val="FFFFFF"/>
                    </a:solidFill>
                  </a:tcPr>
                </a:tc>
                <a:tc>
                  <a:txBody>
                    <a:bodyPr/>
                    <a:lstStyle/>
                    <a:p>
                      <a:pPr>
                        <a:defRPr sz="850" b="1">
                          <a:solidFill>
                            <a:srgbClr val="008000"/>
                          </a:solidFill>
                        </a:defRPr>
                      </a:pPr>
                      <a:r>
                        <a:t>Procured</a:t>
                      </a:r>
                    </a:p>
                  </a:txBody>
                  <a:tcPr>
                    <a:solidFill>
                      <a:srgbClr val="FFFFFF"/>
                    </a:solidFill>
                  </a:tcPr>
                </a:tc>
              </a:tr>
              <a:tr h="502920">
                <a:tc>
                  <a:txBody>
                    <a:bodyPr/>
                    <a:lstStyle/>
                    <a:p>
                      <a:pPr>
                        <a:defRPr sz="850" b="1">
                          <a:solidFill>
                            <a:srgbClr val="002060"/>
                          </a:solidFill>
                        </a:defRPr>
                      </a:pPr>
                      <a:r>
                        <a:t>0.96" SSD1306 OLED Display</a:t>
                      </a:r>
                    </a:p>
                  </a:txBody>
                  <a:tcPr>
                    <a:solidFill>
                      <a:srgbClr val="F5F8FC"/>
                    </a:solidFill>
                  </a:tcPr>
                </a:tc>
                <a:tc>
                  <a:txBody>
                    <a:bodyPr/>
                    <a:lstStyle/>
                    <a:p>
                      <a:pPr>
                        <a:defRPr sz="850" b="0">
                          <a:solidFill>
                            <a:srgbClr val="1E1E1E"/>
                          </a:solidFill>
                        </a:defRPr>
                      </a:pPr>
                      <a:r>
                        <a:t>128x64 Monochrome, I2C Fast-Mode</a:t>
                      </a:r>
                    </a:p>
                  </a:txBody>
                  <a:tcPr>
                    <a:solidFill>
                      <a:srgbClr val="F5F8FC"/>
                    </a:solidFill>
                  </a:tcPr>
                </a:tc>
                <a:tc>
                  <a:txBody>
                    <a:bodyPr/>
                    <a:lstStyle/>
                    <a:p>
                      <a:pPr>
                        <a:defRPr sz="850" b="0">
                          <a:solidFill>
                            <a:srgbClr val="1E1E1E"/>
                          </a:solidFill>
                        </a:defRPr>
                      </a:pPr>
                      <a:r>
                        <a:t>Real-time threat status, telemetry HUD &amp; memory monitor</a:t>
                      </a:r>
                    </a:p>
                  </a:txBody>
                  <a:tcPr>
                    <a:solidFill>
                      <a:srgbClr val="F5F8FC"/>
                    </a:solidFill>
                  </a:tcPr>
                </a:tc>
                <a:tc>
                  <a:txBody>
                    <a:bodyPr/>
                    <a:lstStyle/>
                    <a:p>
                      <a:pPr>
                        <a:defRPr sz="850" b="0">
                          <a:solidFill>
                            <a:srgbClr val="1E1E1E"/>
                          </a:solidFill>
                        </a:defRPr>
                      </a:pPr>
                      <a:r>
                        <a:t>Rs. 240</a:t>
                      </a:r>
                    </a:p>
                  </a:txBody>
                  <a:tcPr>
                    <a:solidFill>
                      <a:srgbClr val="F5F8FC"/>
                    </a:solidFill>
                  </a:tcPr>
                </a:tc>
                <a:tc>
                  <a:txBody>
                    <a:bodyPr/>
                    <a:lstStyle/>
                    <a:p>
                      <a:pPr>
                        <a:defRPr sz="850" b="1">
                          <a:solidFill>
                            <a:srgbClr val="008000"/>
                          </a:solidFill>
                        </a:defRPr>
                      </a:pPr>
                      <a:r>
                        <a:t>Procured</a:t>
                      </a:r>
                    </a:p>
                  </a:txBody>
                  <a:tcPr>
                    <a:solidFill>
                      <a:srgbClr val="F5F8FC"/>
                    </a:solidFill>
                  </a:tcPr>
                </a:tc>
              </a:tr>
              <a:tr h="502920">
                <a:tc>
                  <a:txBody>
                    <a:bodyPr/>
                    <a:lstStyle/>
                    <a:p>
                      <a:pPr>
                        <a:defRPr sz="850" b="1">
                          <a:solidFill>
                            <a:srgbClr val="002060"/>
                          </a:solidFill>
                        </a:defRPr>
                      </a:pPr>
                      <a:r>
                        <a:t>Active Piezo Buzzer &amp; Driver</a:t>
                      </a:r>
                    </a:p>
                  </a:txBody>
                  <a:tcPr>
                    <a:solidFill>
                      <a:srgbClr val="FFFFFF"/>
                    </a:solidFill>
                  </a:tcPr>
                </a:tc>
                <a:tc>
                  <a:txBody>
                    <a:bodyPr/>
                    <a:lstStyle/>
                    <a:p>
                      <a:pPr>
                        <a:defRPr sz="850" b="0">
                          <a:solidFill>
                            <a:srgbClr val="1E1E1E"/>
                          </a:solidFill>
                        </a:defRPr>
                      </a:pPr>
                      <a:r>
                        <a:t>5V Active Buzzer + 2N2222 NPN</a:t>
                      </a:r>
                    </a:p>
                  </a:txBody>
                  <a:tcPr>
                    <a:solidFill>
                      <a:srgbClr val="FFFFFF"/>
                    </a:solidFill>
                  </a:tcPr>
                </a:tc>
                <a:tc>
                  <a:txBody>
                    <a:bodyPr/>
                    <a:lstStyle/>
                    <a:p>
                      <a:pPr>
                        <a:defRPr sz="850" b="0">
                          <a:solidFill>
                            <a:srgbClr val="1E1E1E"/>
                          </a:solidFill>
                        </a:defRPr>
                      </a:pPr>
                      <a:r>
                        <a:t>Acoustic audible warning matrix for confirmed intrusions</a:t>
                      </a:r>
                    </a:p>
                  </a:txBody>
                  <a:tcPr>
                    <a:solidFill>
                      <a:srgbClr val="FFFFFF"/>
                    </a:solidFill>
                  </a:tcPr>
                </a:tc>
                <a:tc>
                  <a:txBody>
                    <a:bodyPr/>
                    <a:lstStyle/>
                    <a:p>
                      <a:pPr>
                        <a:defRPr sz="850" b="0">
                          <a:solidFill>
                            <a:srgbClr val="1E1E1E"/>
                          </a:solidFill>
                        </a:defRPr>
                      </a:pPr>
                      <a:r>
                        <a:t>Rs. 30</a:t>
                      </a:r>
                    </a:p>
                  </a:txBody>
                  <a:tcPr>
                    <a:solidFill>
                      <a:srgbClr val="FFFFFF"/>
                    </a:solidFill>
                  </a:tcPr>
                </a:tc>
                <a:tc>
                  <a:txBody>
                    <a:bodyPr/>
                    <a:lstStyle/>
                    <a:p>
                      <a:pPr>
                        <a:defRPr sz="850" b="1">
                          <a:solidFill>
                            <a:srgbClr val="008000"/>
                          </a:solidFill>
                        </a:defRPr>
                      </a:pPr>
                      <a:r>
                        <a:t>Procured</a:t>
                      </a:r>
                    </a:p>
                  </a:txBody>
                  <a:tcPr>
                    <a:solidFill>
                      <a:srgbClr val="FFFFFF"/>
                    </a:solidFill>
                  </a:tcPr>
                </a:tc>
              </a:tr>
              <a:tr h="502920">
                <a:tc>
                  <a:txBody>
                    <a:bodyPr/>
                    <a:lstStyle/>
                    <a:p>
                      <a:pPr>
                        <a:defRPr sz="850" b="1">
                          <a:solidFill>
                            <a:srgbClr val="002060"/>
                          </a:solidFill>
                        </a:defRPr>
                      </a:pPr>
                      <a:r>
                        <a:t>High-Bright Red Strobe LED</a:t>
                      </a:r>
                    </a:p>
                  </a:txBody>
                  <a:tcPr>
                    <a:solidFill>
                      <a:srgbClr val="F5F8FC"/>
                    </a:solidFill>
                  </a:tcPr>
                </a:tc>
                <a:tc>
                  <a:txBody>
                    <a:bodyPr/>
                    <a:lstStyle/>
                    <a:p>
                      <a:pPr>
                        <a:defRPr sz="850" b="0">
                          <a:solidFill>
                            <a:srgbClr val="1E1E1E"/>
                          </a:solidFill>
                        </a:defRPr>
                      </a:pPr>
                      <a:r>
                        <a:t>5mm Diffused + 220 Ohm Resistor</a:t>
                      </a:r>
                    </a:p>
                  </a:txBody>
                  <a:tcPr>
                    <a:solidFill>
                      <a:srgbClr val="F5F8FC"/>
                    </a:solidFill>
                  </a:tcPr>
                </a:tc>
                <a:tc>
                  <a:txBody>
                    <a:bodyPr/>
                    <a:lstStyle/>
                    <a:p>
                      <a:pPr>
                        <a:defRPr sz="850" b="0">
                          <a:solidFill>
                            <a:srgbClr val="1E1E1E"/>
                          </a:solidFill>
                        </a:defRPr>
                      </a:pPr>
                      <a:r>
                        <a:t>Optical visual alarm indicating emergency kill trigger</a:t>
                      </a:r>
                    </a:p>
                  </a:txBody>
                  <a:tcPr>
                    <a:solidFill>
                      <a:srgbClr val="F5F8FC"/>
                    </a:solidFill>
                  </a:tcPr>
                </a:tc>
                <a:tc>
                  <a:txBody>
                    <a:bodyPr/>
                    <a:lstStyle/>
                    <a:p>
                      <a:pPr>
                        <a:defRPr sz="850" b="0">
                          <a:solidFill>
                            <a:srgbClr val="1E1E1E"/>
                          </a:solidFill>
                        </a:defRPr>
                      </a:pPr>
                      <a:r>
                        <a:t>Rs. 20</a:t>
                      </a:r>
                    </a:p>
                  </a:txBody>
                  <a:tcPr>
                    <a:solidFill>
                      <a:srgbClr val="F5F8FC"/>
                    </a:solidFill>
                  </a:tcPr>
                </a:tc>
                <a:tc>
                  <a:txBody>
                    <a:bodyPr/>
                    <a:lstStyle/>
                    <a:p>
                      <a:pPr>
                        <a:defRPr sz="850" b="1">
                          <a:solidFill>
                            <a:srgbClr val="008000"/>
                          </a:solidFill>
                        </a:defRPr>
                      </a:pPr>
                      <a:r>
                        <a:t>Procured</a:t>
                      </a:r>
                    </a:p>
                  </a:txBody>
                  <a:tcPr>
                    <a:solidFill>
                      <a:srgbClr val="F5F8FC"/>
                    </a:solidFill>
                  </a:tcPr>
                </a:tc>
              </a:tr>
              <a:tr h="502920">
                <a:tc>
                  <a:txBody>
                    <a:bodyPr/>
                    <a:lstStyle/>
                    <a:p>
                      <a:pPr>
                        <a:defRPr sz="850" b="1">
                          <a:solidFill>
                            <a:srgbClr val="002060"/>
                          </a:solidFill>
                        </a:defRPr>
                      </a:pPr>
                      <a:r>
                        <a:t>CP2102 USB-to-UART Bridge</a:t>
                      </a:r>
                    </a:p>
                  </a:txBody>
                  <a:tcPr>
                    <a:solidFill>
                      <a:srgbClr val="FFFFFF"/>
                    </a:solidFill>
                  </a:tcPr>
                </a:tc>
                <a:tc>
                  <a:txBody>
                    <a:bodyPr/>
                    <a:lstStyle/>
                    <a:p>
                      <a:pPr>
                        <a:defRPr sz="850" b="0">
                          <a:solidFill>
                            <a:srgbClr val="1E1E1E"/>
                          </a:solidFill>
                        </a:defRPr>
                      </a:pPr>
                      <a:r>
                        <a:t>Silicon Labs CP2102 @ 115200 Baud</a:t>
                      </a:r>
                    </a:p>
                  </a:txBody>
                  <a:tcPr>
                    <a:solidFill>
                      <a:srgbClr val="FFFFFF"/>
                    </a:solidFill>
                  </a:tcPr>
                </a:tc>
                <a:tc>
                  <a:txBody>
                    <a:bodyPr/>
                    <a:lstStyle/>
                    <a:p>
                      <a:pPr>
                        <a:defRPr sz="850" b="0">
                          <a:solidFill>
                            <a:srgbClr val="1E1E1E"/>
                          </a:solidFill>
                        </a:defRPr>
                      </a:pPr>
                      <a:r>
                        <a:t>Physical isolated transmission pipe between host &amp; ESP32</a:t>
                      </a:r>
                    </a:p>
                  </a:txBody>
                  <a:tcPr>
                    <a:solidFill>
                      <a:srgbClr val="FFFFFF"/>
                    </a:solidFill>
                  </a:tcPr>
                </a:tc>
                <a:tc>
                  <a:txBody>
                    <a:bodyPr/>
                    <a:lstStyle/>
                    <a:p>
                      <a:pPr>
                        <a:defRPr sz="850" b="0">
                          <a:solidFill>
                            <a:srgbClr val="1E1E1E"/>
                          </a:solidFill>
                        </a:defRPr>
                      </a:pPr>
                      <a:r>
                        <a:t>Rs. 180</a:t>
                      </a:r>
                    </a:p>
                  </a:txBody>
                  <a:tcPr>
                    <a:solidFill>
                      <a:srgbClr val="FFFFFF"/>
                    </a:solidFill>
                  </a:tcPr>
                </a:tc>
                <a:tc>
                  <a:txBody>
                    <a:bodyPr/>
                    <a:lstStyle/>
                    <a:p>
                      <a:pPr>
                        <a:defRPr sz="850" b="1">
                          <a:solidFill>
                            <a:srgbClr val="008000"/>
                          </a:solidFill>
                        </a:defRPr>
                      </a:pPr>
                      <a:r>
                        <a:t>Procured</a:t>
                      </a:r>
                    </a:p>
                  </a:txBody>
                  <a:tcPr>
                    <a:solidFill>
                      <a:srgbClr val="FFFFFF"/>
                    </a:solidFill>
                  </a:tcPr>
                </a:tc>
              </a:tr>
              <a:tr h="502920">
                <a:tc>
                  <a:txBody>
                    <a:bodyPr/>
                    <a:lstStyle/>
                    <a:p>
                      <a:pPr>
                        <a:defRPr sz="850" b="1">
                          <a:solidFill>
                            <a:srgbClr val="002060"/>
                          </a:solidFill>
                        </a:defRPr>
                      </a:pPr>
                      <a:r>
                        <a:t>Breadboard &amp; Dupont Cabling</a:t>
                      </a:r>
                    </a:p>
                  </a:txBody>
                  <a:tcPr>
                    <a:solidFill>
                      <a:srgbClr val="F5F8FC"/>
                    </a:solidFill>
                  </a:tcPr>
                </a:tc>
                <a:tc>
                  <a:txBody>
                    <a:bodyPr/>
                    <a:lstStyle/>
                    <a:p>
                      <a:pPr>
                        <a:defRPr sz="850" b="0">
                          <a:solidFill>
                            <a:srgbClr val="1E1E1E"/>
                          </a:solidFill>
                        </a:defRPr>
                      </a:pPr>
                      <a:r>
                        <a:t>MB-102 Chassis + Multi-Rail Bus</a:t>
                      </a:r>
                    </a:p>
                  </a:txBody>
                  <a:tcPr>
                    <a:solidFill>
                      <a:srgbClr val="F5F8FC"/>
                    </a:solidFill>
                  </a:tcPr>
                </a:tc>
                <a:tc>
                  <a:txBody>
                    <a:bodyPr/>
                    <a:lstStyle/>
                    <a:p>
                      <a:pPr>
                        <a:defRPr sz="850" b="0">
                          <a:solidFill>
                            <a:srgbClr val="1E1E1E"/>
                          </a:solidFill>
                        </a:defRPr>
                      </a:pPr>
                      <a:r>
                        <a:t>Shared physical circuit integration &amp; low-noise power rails</a:t>
                      </a:r>
                    </a:p>
                  </a:txBody>
                  <a:tcPr>
                    <a:solidFill>
                      <a:srgbClr val="F5F8FC"/>
                    </a:solidFill>
                  </a:tcPr>
                </a:tc>
                <a:tc>
                  <a:txBody>
                    <a:bodyPr/>
                    <a:lstStyle/>
                    <a:p>
                      <a:pPr>
                        <a:defRPr sz="850" b="0">
                          <a:solidFill>
                            <a:srgbClr val="1E1E1E"/>
                          </a:solidFill>
                        </a:defRPr>
                      </a:pPr>
                      <a:r>
                        <a:t>Rs. 50</a:t>
                      </a:r>
                    </a:p>
                  </a:txBody>
                  <a:tcPr>
                    <a:solidFill>
                      <a:srgbClr val="F5F8FC"/>
                    </a:solidFill>
                  </a:tcPr>
                </a:tc>
                <a:tc>
                  <a:txBody>
                    <a:bodyPr/>
                    <a:lstStyle/>
                    <a:p>
                      <a:pPr>
                        <a:defRPr sz="850" b="1">
                          <a:solidFill>
                            <a:srgbClr val="008000"/>
                          </a:solidFill>
                        </a:defRPr>
                      </a:pPr>
                      <a:r>
                        <a:t>Procured</a:t>
                      </a:r>
                    </a:p>
                  </a:txBody>
                  <a:tcPr>
                    <a:solidFill>
                      <a:srgbClr val="F5F8F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17" name="Content Placeholder 15"/>
          <p:cNvGraphicFramePr>
            <a:graphicFrameLocks/>
          </p:cNvGraphicFramePr>
          <p:nvPr>
            <p:extLst>
              <p:ext uri="{D42A27DB-BD31-4B8C-83A1-F6EECF244321}">
                <p14:modId xmlns:p14="http://schemas.microsoft.com/office/powerpoint/2010/main" val="814550539"/>
              </p:ext>
            </p:extLst>
          </p:nvPr>
        </p:nvGraphicFramePr>
        <p:xfrm>
          <a:off x="1142999" y="0"/>
          <a:ext cx="8001001" cy="954916"/>
        </p:xfrm>
        <a:graphic>
          <a:graphicData uri="http://schemas.openxmlformats.org/drawingml/2006/table">
            <a:tbl>
              <a:tblPr firstRow="1" bandRow="1">
                <a:tableStyleId>{5DA37D80-6434-44D0-A028-1B22A696006F}</a:tableStyleId>
              </a:tblPr>
              <a:tblGrid>
                <a:gridCol w="8001001"/>
              </a:tblGrid>
              <a:tr h="458594">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36756">
                <a:tc>
                  <a:txBody>
                    <a:bodyPr/>
                    <a:lstStyle/>
                    <a:p>
                      <a:pPr algn="ctr">
                        <a:defRPr sz="1200" b="1">
                          <a:solidFill>
                            <a:srgbClr val="C58C14"/>
                          </a:solidFill>
                          <a:latin typeface="Segoe UI"/>
                        </a:defRPr>
                      </a:pPr>
                      <a:r>
                        <a:t>Procurement Status &amp; Hardware Verification</a:t>
                      </a:r>
                    </a:p>
                  </a:txBody>
                  <a:tcPr marL="94488" marR="94488"/>
                </a:tc>
              </a:tr>
            </a:tbl>
          </a:graphicData>
        </a:graphic>
      </p:graphicFrame>
      <p:sp>
        <p:nvSpPr>
          <p:cNvPr id="1048613"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14"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15"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10" name="Picture 2"/>
          <p:cNvPicPr>
            <a:picLocks noChangeAspect="1" noChangeArrowheads="1"/>
          </p:cNvPicPr>
          <p:nvPr/>
        </p:nvPicPr>
        <p:blipFill>
          <a:blip r:embed="rId2"/>
          <a:srcRect/>
          <a:stretch>
            <a:fillRect/>
          </a:stretch>
        </p:blipFill>
        <p:spPr bwMode="auto">
          <a:xfrm>
            <a:off x="228600" y="133350"/>
            <a:ext cx="971550" cy="685800"/>
          </a:xfrm>
          <a:prstGeom prst="rect">
            <a:avLst/>
          </a:prstGeom>
          <a:noFill/>
          <a:ln w="9525">
            <a:noFill/>
            <a:miter lim="800000"/>
            <a:headEnd/>
            <a:tailEnd/>
          </a:ln>
          <a:effectLst/>
        </p:spPr>
      </p:pic>
      <p:graphicFrame>
        <p:nvGraphicFramePr>
          <p:cNvPr id="11" name="Table 5"/>
          <p:cNvGraphicFramePr>
            <a:graphicFrameLocks noGrp="1"/>
          </p:cNvGraphicFramePr>
          <p:nvPr>
            <p:extLst>
              <p:ext uri="{D42A27DB-BD31-4B8C-83A1-F6EECF244321}">
                <p14:modId xmlns:p14="http://schemas.microsoft.com/office/powerpoint/2010/main" val="3484401212"/>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09</a:t>
                      </a:r>
                    </a:p>
                  </a:txBody>
                  <a:tcPr marL="94488" marR="94488"/>
                </a:tc>
              </a:tr>
            </a:tbl>
          </a:graphicData>
        </a:graphic>
      </p:graphicFrame>
      <p:graphicFrame>
        <p:nvGraphicFramePr>
          <p:cNvPr id="4194318" name="Table 4194317"/>
          <p:cNvGraphicFramePr>
            <a:graphicFrameLocks noGrp="1"/>
          </p:cNvGraphicFramePr>
          <p:nvPr/>
        </p:nvGraphicFramePr>
        <p:xfrm>
          <a:off x="365760" y="1051560"/>
          <a:ext cx="8412480" cy="3520440"/>
        </p:xfrm>
        <a:graphic>
          <a:graphicData uri="http://schemas.openxmlformats.org/drawingml/2006/table">
            <a:tbl>
              <a:tblPr firstRow="1" bandRow="1">
                <a:tableStyleId>{5C22544A-7EE6-4342-B048-85BDC9FD1C3A}</a:tableStyleId>
              </a:tblPr>
              <a:tblGrid>
                <a:gridCol w="1828800"/>
                <a:gridCol w="1645920"/>
                <a:gridCol w="2011680"/>
                <a:gridCol w="1828800"/>
                <a:gridCol w="1097280"/>
              </a:tblGrid>
              <a:tr h="586740">
                <a:tc>
                  <a:txBody>
                    <a:bodyPr/>
                    <a:lstStyle/>
                    <a:p>
                      <a:pPr>
                        <a:defRPr sz="900" b="1">
                          <a:solidFill>
                            <a:srgbClr val="FFFFFF"/>
                          </a:solidFill>
                        </a:defRPr>
                      </a:pPr>
                      <a:r>
                        <a:t>Hardware Component</a:t>
                      </a:r>
                    </a:p>
                  </a:txBody>
                  <a:tcPr>
                    <a:solidFill>
                      <a:srgbClr val="002060"/>
                    </a:solidFill>
                  </a:tcPr>
                </a:tc>
                <a:tc>
                  <a:txBody>
                    <a:bodyPr/>
                    <a:lstStyle/>
                    <a:p>
                      <a:pPr>
                        <a:defRPr sz="900" b="1">
                          <a:solidFill>
                            <a:srgbClr val="FFFFFF"/>
                          </a:solidFill>
                        </a:defRPr>
                      </a:pPr>
                      <a:r>
                        <a:t>Procured Specs</a:t>
                      </a:r>
                    </a:p>
                  </a:txBody>
                  <a:tcPr>
                    <a:solidFill>
                      <a:srgbClr val="002060"/>
                    </a:solidFill>
                  </a:tcPr>
                </a:tc>
                <a:tc>
                  <a:txBody>
                    <a:bodyPr/>
                    <a:lstStyle/>
                    <a:p>
                      <a:pPr>
                        <a:defRPr sz="900" b="1">
                          <a:solidFill>
                            <a:srgbClr val="FFFFFF"/>
                          </a:solidFill>
                        </a:defRPr>
                      </a:pPr>
                      <a:r>
                        <a:t>Bench Testing Protocol</a:t>
                      </a:r>
                    </a:p>
                  </a:txBody>
                  <a:tcPr>
                    <a:solidFill>
                      <a:srgbClr val="002060"/>
                    </a:solidFill>
                  </a:tcPr>
                </a:tc>
                <a:tc>
                  <a:txBody>
                    <a:bodyPr/>
                    <a:lstStyle/>
                    <a:p>
                      <a:pPr>
                        <a:defRPr sz="900" b="1">
                          <a:solidFill>
                            <a:srgbClr val="FFFFFF"/>
                          </a:solidFill>
                        </a:defRPr>
                      </a:pPr>
                      <a:r>
                        <a:t>Operational Verification Result</a:t>
                      </a:r>
                    </a:p>
                  </a:txBody>
                  <a:tcPr>
                    <a:solidFill>
                      <a:srgbClr val="002060"/>
                    </a:solidFill>
                  </a:tcPr>
                </a:tc>
                <a:tc>
                  <a:txBody>
                    <a:bodyPr/>
                    <a:lstStyle/>
                    <a:p>
                      <a:pPr>
                        <a:defRPr sz="900" b="1">
                          <a:solidFill>
                            <a:srgbClr val="FFFFFF"/>
                          </a:solidFill>
                        </a:defRPr>
                      </a:pPr>
                      <a:r>
                        <a:t>Status</a:t>
                      </a:r>
                    </a:p>
                  </a:txBody>
                  <a:tcPr>
                    <a:solidFill>
                      <a:srgbClr val="002060"/>
                    </a:solidFill>
                  </a:tcPr>
                </a:tc>
              </a:tr>
              <a:tr h="586740">
                <a:tc>
                  <a:txBody>
                    <a:bodyPr/>
                    <a:lstStyle/>
                    <a:p>
                      <a:pPr>
                        <a:defRPr sz="800" b="1">
                          <a:solidFill>
                            <a:srgbClr val="002060"/>
                          </a:solidFill>
                        </a:defRPr>
                      </a:pPr>
                      <a:r>
                        <a:t>ESP32 DevKit Board</a:t>
                      </a:r>
                    </a:p>
                  </a:txBody>
                  <a:tcPr>
                    <a:solidFill>
                      <a:srgbClr val="FFFFFF"/>
                    </a:solidFill>
                  </a:tcPr>
                </a:tc>
                <a:tc>
                  <a:txBody>
                    <a:bodyPr/>
                    <a:lstStyle/>
                    <a:p>
                      <a:pPr>
                        <a:defRPr sz="800" b="0">
                          <a:solidFill>
                            <a:srgbClr val="1E1E1E"/>
                          </a:solidFill>
                        </a:defRPr>
                      </a:pPr>
                      <a:r>
                        <a:t>240 MHz, 520KB SRAM</a:t>
                      </a:r>
                    </a:p>
                  </a:txBody>
                  <a:tcPr>
                    <a:solidFill>
                      <a:srgbClr val="FFFFFF"/>
                    </a:solidFill>
                  </a:tcPr>
                </a:tc>
                <a:tc>
                  <a:txBody>
                    <a:bodyPr/>
                    <a:lstStyle/>
                    <a:p>
                      <a:pPr>
                        <a:defRPr sz="800" b="0">
                          <a:solidFill>
                            <a:srgbClr val="1E1E1E"/>
                          </a:solidFill>
                        </a:defRPr>
                      </a:pPr>
                      <a:r>
                        <a:t>Clock frequency stability &amp; FreeRTOS task audit</a:t>
                      </a:r>
                    </a:p>
                  </a:txBody>
                  <a:tcPr>
                    <a:solidFill>
                      <a:srgbClr val="FFFFFF"/>
                    </a:solidFill>
                  </a:tcPr>
                </a:tc>
                <a:tc>
                  <a:txBody>
                    <a:bodyPr/>
                    <a:lstStyle/>
                    <a:p>
                      <a:pPr>
                        <a:defRPr sz="800" b="0">
                          <a:solidFill>
                            <a:srgbClr val="1E1E1E"/>
                          </a:solidFill>
                        </a:defRPr>
                      </a:pPr>
                      <a:r>
                        <a:t>600 DMIPS verified; 0B heap drift over 72h</a:t>
                      </a:r>
                    </a:p>
                  </a:txBody>
                  <a:tcPr>
                    <a:solidFill>
                      <a:srgbClr val="FFFFFF"/>
                    </a:solidFill>
                  </a:tcPr>
                </a:tc>
                <a:tc>
                  <a:txBody>
                    <a:bodyPr/>
                    <a:lstStyle/>
                    <a:p>
                      <a:pPr>
                        <a:defRPr sz="800" b="1">
                          <a:solidFill>
                            <a:srgbClr val="008000"/>
                          </a:solidFill>
                        </a:defRPr>
                      </a:pPr>
                      <a:r>
                        <a:t>100% Verified</a:t>
                      </a:r>
                    </a:p>
                  </a:txBody>
                  <a:tcPr>
                    <a:solidFill>
                      <a:srgbClr val="FFFFFF"/>
                    </a:solidFill>
                  </a:tcPr>
                </a:tc>
              </a:tr>
              <a:tr h="586740">
                <a:tc>
                  <a:txBody>
                    <a:bodyPr/>
                    <a:lstStyle/>
                    <a:p>
                      <a:pPr>
                        <a:defRPr sz="800" b="1">
                          <a:solidFill>
                            <a:srgbClr val="002060"/>
                          </a:solidFill>
                        </a:defRPr>
                      </a:pPr>
                      <a:r>
                        <a:t>SSD1306 OLED HUD</a:t>
                      </a:r>
                    </a:p>
                  </a:txBody>
                  <a:tcPr>
                    <a:solidFill>
                      <a:srgbClr val="F5F8FC"/>
                    </a:solidFill>
                  </a:tcPr>
                </a:tc>
                <a:tc>
                  <a:txBody>
                    <a:bodyPr/>
                    <a:lstStyle/>
                    <a:p>
                      <a:pPr>
                        <a:defRPr sz="800" b="0">
                          <a:solidFill>
                            <a:srgbClr val="1E1E1E"/>
                          </a:solidFill>
                        </a:defRPr>
                      </a:pPr>
                      <a:r>
                        <a:t>128x64 Pixels, I2C</a:t>
                      </a:r>
                    </a:p>
                  </a:txBody>
                  <a:tcPr>
                    <a:solidFill>
                      <a:srgbClr val="F5F8FC"/>
                    </a:solidFill>
                  </a:tcPr>
                </a:tc>
                <a:tc>
                  <a:txBody>
                    <a:bodyPr/>
                    <a:lstStyle/>
                    <a:p>
                      <a:pPr>
                        <a:defRPr sz="800" b="0">
                          <a:solidFill>
                            <a:srgbClr val="1E1E1E"/>
                          </a:solidFill>
                        </a:defRPr>
                      </a:pPr>
                      <a:r>
                        <a:t>Fast-Mode (400 kHz) bus sweep with 4.7k pull-ups</a:t>
                      </a:r>
                    </a:p>
                  </a:txBody>
                  <a:tcPr>
                    <a:solidFill>
                      <a:srgbClr val="F5F8FC"/>
                    </a:solidFill>
                  </a:tcPr>
                </a:tc>
                <a:tc>
                  <a:txBody>
                    <a:bodyPr/>
                    <a:lstStyle/>
                    <a:p>
                      <a:pPr>
                        <a:defRPr sz="800" b="0">
                          <a:solidFill>
                            <a:srgbClr val="1E1E1E"/>
                          </a:solidFill>
                        </a:defRPr>
                      </a:pPr>
                      <a:r>
                        <a:t>Real-time threat status rendering in 12 ms</a:t>
                      </a:r>
                    </a:p>
                  </a:txBody>
                  <a:tcPr>
                    <a:solidFill>
                      <a:srgbClr val="F5F8FC"/>
                    </a:solidFill>
                  </a:tcPr>
                </a:tc>
                <a:tc>
                  <a:txBody>
                    <a:bodyPr/>
                    <a:lstStyle/>
                    <a:p>
                      <a:pPr>
                        <a:defRPr sz="800" b="1">
                          <a:solidFill>
                            <a:srgbClr val="008000"/>
                          </a:solidFill>
                        </a:defRPr>
                      </a:pPr>
                      <a:r>
                        <a:t>100% Operational</a:t>
                      </a:r>
                    </a:p>
                  </a:txBody>
                  <a:tcPr>
                    <a:solidFill>
                      <a:srgbClr val="F5F8FC"/>
                    </a:solidFill>
                  </a:tcPr>
                </a:tc>
              </a:tr>
              <a:tr h="586740">
                <a:tc>
                  <a:txBody>
                    <a:bodyPr/>
                    <a:lstStyle/>
                    <a:p>
                      <a:pPr>
                        <a:defRPr sz="800" b="1">
                          <a:solidFill>
                            <a:srgbClr val="002060"/>
                          </a:solidFill>
                        </a:defRPr>
                      </a:pPr>
                      <a:r>
                        <a:t>Acoustic Alert Buzzer</a:t>
                      </a:r>
                    </a:p>
                  </a:txBody>
                  <a:tcPr>
                    <a:solidFill>
                      <a:srgbClr val="FFFFFF"/>
                    </a:solidFill>
                  </a:tcPr>
                </a:tc>
                <a:tc>
                  <a:txBody>
                    <a:bodyPr/>
                    <a:lstStyle/>
                    <a:p>
                      <a:pPr>
                        <a:defRPr sz="800" b="0">
                          <a:solidFill>
                            <a:srgbClr val="1E1E1E"/>
                          </a:solidFill>
                        </a:defRPr>
                      </a:pPr>
                      <a:r>
                        <a:t>85 dB, GPIO 4 Driven</a:t>
                      </a:r>
                    </a:p>
                  </a:txBody>
                  <a:tcPr>
                    <a:solidFill>
                      <a:srgbClr val="FFFFFF"/>
                    </a:solidFill>
                  </a:tcPr>
                </a:tc>
                <a:tc>
                  <a:txBody>
                    <a:bodyPr/>
                    <a:lstStyle/>
                    <a:p>
                      <a:pPr>
                        <a:defRPr sz="800" b="0">
                          <a:solidFill>
                            <a:srgbClr val="1E1E1E"/>
                          </a:solidFill>
                        </a:defRPr>
                      </a:pPr>
                      <a:r>
                        <a:t>PWM tone generation &amp; 2N2222 switching test</a:t>
                      </a:r>
                    </a:p>
                  </a:txBody>
                  <a:tcPr>
                    <a:solidFill>
                      <a:srgbClr val="FFFFFF"/>
                    </a:solidFill>
                  </a:tcPr>
                </a:tc>
                <a:tc>
                  <a:txBody>
                    <a:bodyPr/>
                    <a:lstStyle/>
                    <a:p>
                      <a:pPr>
                        <a:defRPr sz="800" b="0">
                          <a:solidFill>
                            <a:srgbClr val="1E1E1E"/>
                          </a:solidFill>
                        </a:defRPr>
                      </a:pPr>
                      <a:r>
                        <a:t>Multi-frequency audible warning responding &lt; 2 ms</a:t>
                      </a:r>
                    </a:p>
                  </a:txBody>
                  <a:tcPr>
                    <a:solidFill>
                      <a:srgbClr val="FFFFFF"/>
                    </a:solidFill>
                  </a:tcPr>
                </a:tc>
                <a:tc>
                  <a:txBody>
                    <a:bodyPr/>
                    <a:lstStyle/>
                    <a:p>
                      <a:pPr>
                        <a:defRPr sz="800" b="1">
                          <a:solidFill>
                            <a:srgbClr val="008000"/>
                          </a:solidFill>
                        </a:defRPr>
                      </a:pPr>
                      <a:r>
                        <a:t>100% Calibrated</a:t>
                      </a:r>
                    </a:p>
                  </a:txBody>
                  <a:tcPr>
                    <a:solidFill>
                      <a:srgbClr val="FFFFFF"/>
                    </a:solidFill>
                  </a:tcPr>
                </a:tc>
              </a:tr>
              <a:tr h="586740">
                <a:tc>
                  <a:txBody>
                    <a:bodyPr/>
                    <a:lstStyle/>
                    <a:p>
                      <a:pPr>
                        <a:defRPr sz="800" b="1">
                          <a:solidFill>
                            <a:srgbClr val="002060"/>
                          </a:solidFill>
                        </a:defRPr>
                      </a:pPr>
                      <a:r>
                        <a:t>CP2102 Serial Bridge</a:t>
                      </a:r>
                    </a:p>
                  </a:txBody>
                  <a:tcPr>
                    <a:solidFill>
                      <a:srgbClr val="F5F8FC"/>
                    </a:solidFill>
                  </a:tcPr>
                </a:tc>
                <a:tc>
                  <a:txBody>
                    <a:bodyPr/>
                    <a:lstStyle/>
                    <a:p>
                      <a:pPr>
                        <a:defRPr sz="800" b="0">
                          <a:solidFill>
                            <a:srgbClr val="1E1E1E"/>
                          </a:solidFill>
                        </a:defRPr>
                      </a:pPr>
                      <a:r>
                        <a:t>115,200 Baud Full-Duplex</a:t>
                      </a:r>
                    </a:p>
                  </a:txBody>
                  <a:tcPr>
                    <a:solidFill>
                      <a:srgbClr val="F5F8FC"/>
                    </a:solidFill>
                  </a:tcPr>
                </a:tc>
                <a:tc>
                  <a:txBody>
                    <a:bodyPr/>
                    <a:lstStyle/>
                    <a:p>
                      <a:pPr>
                        <a:defRPr sz="800" b="0">
                          <a:solidFill>
                            <a:srgbClr val="1E1E1E"/>
                          </a:solidFill>
                        </a:defRPr>
                      </a:pPr>
                      <a:r>
                        <a:t>100,000-packet continuous telemetry streaming</a:t>
                      </a:r>
                    </a:p>
                  </a:txBody>
                  <a:tcPr>
                    <a:solidFill>
                      <a:srgbClr val="F5F8FC"/>
                    </a:solidFill>
                  </a:tcPr>
                </a:tc>
                <a:tc>
                  <a:txBody>
                    <a:bodyPr/>
                    <a:lstStyle/>
                    <a:p>
                      <a:pPr>
                        <a:defRPr sz="800" b="0">
                          <a:solidFill>
                            <a:srgbClr val="1E1E1E"/>
                          </a:solidFill>
                        </a:defRPr>
                      </a:pPr>
                      <a:r>
                        <a:t>Zero dropped bytes; bus transit latency 8.2 µs</a:t>
                      </a:r>
                    </a:p>
                  </a:txBody>
                  <a:tcPr>
                    <a:solidFill>
                      <a:srgbClr val="F5F8FC"/>
                    </a:solidFill>
                  </a:tcPr>
                </a:tc>
                <a:tc>
                  <a:txBody>
                    <a:bodyPr/>
                    <a:lstStyle/>
                    <a:p>
                      <a:pPr>
                        <a:defRPr sz="800" b="1">
                          <a:solidFill>
                            <a:srgbClr val="008000"/>
                          </a:solidFill>
                        </a:defRPr>
                      </a:pPr>
                      <a:r>
                        <a:t>100% Verified</a:t>
                      </a:r>
                    </a:p>
                  </a:txBody>
                  <a:tcPr>
                    <a:solidFill>
                      <a:srgbClr val="F5F8FC"/>
                    </a:solidFill>
                  </a:tcPr>
                </a:tc>
              </a:tr>
              <a:tr h="586740">
                <a:tc>
                  <a:txBody>
                    <a:bodyPr/>
                    <a:lstStyle/>
                    <a:p>
                      <a:pPr>
                        <a:defRPr sz="800" b="1">
                          <a:solidFill>
                            <a:srgbClr val="002060"/>
                          </a:solidFill>
                        </a:defRPr>
                      </a:pPr>
                      <a:r>
                        <a:t>AMS1117-3.3 Power Rail</a:t>
                      </a:r>
                    </a:p>
                  </a:txBody>
                  <a:tcPr>
                    <a:solidFill>
                      <a:srgbClr val="FFFFFF"/>
                    </a:solidFill>
                  </a:tcPr>
                </a:tc>
                <a:tc>
                  <a:txBody>
                    <a:bodyPr/>
                    <a:lstStyle/>
                    <a:p>
                      <a:pPr>
                        <a:defRPr sz="800" b="0">
                          <a:solidFill>
                            <a:srgbClr val="1E1E1E"/>
                          </a:solidFill>
                        </a:defRPr>
                      </a:pPr>
                      <a:r>
                        <a:t>Multi-Rail Prototyping</a:t>
                      </a:r>
                    </a:p>
                  </a:txBody>
                  <a:tcPr>
                    <a:solidFill>
                      <a:srgbClr val="FFFFFF"/>
                    </a:solidFill>
                  </a:tcPr>
                </a:tc>
                <a:tc>
                  <a:txBody>
                    <a:bodyPr/>
                    <a:lstStyle/>
                    <a:p>
                      <a:pPr>
                        <a:defRPr sz="800" b="0">
                          <a:solidFill>
                            <a:srgbClr val="1E1E1E"/>
                          </a:solidFill>
                        </a:defRPr>
                      </a:pPr>
                      <a:r>
                        <a:t>Oscilloscope voltage drop &amp; ripple inspection</a:t>
                      </a:r>
                    </a:p>
                  </a:txBody>
                  <a:tcPr>
                    <a:solidFill>
                      <a:srgbClr val="FFFFFF"/>
                    </a:solidFill>
                  </a:tcPr>
                </a:tc>
                <a:tc>
                  <a:txBody>
                    <a:bodyPr/>
                    <a:lstStyle/>
                    <a:p>
                      <a:pPr>
                        <a:defRPr sz="800" b="0">
                          <a:solidFill>
                            <a:srgbClr val="1E1E1E"/>
                          </a:solidFill>
                        </a:defRPr>
                      </a:pPr>
                      <a:r>
                        <a:t>Vripple &lt; 15 mV under full 240 MHz dual-core load</a:t>
                      </a:r>
                    </a:p>
                  </a:txBody>
                  <a:tcPr>
                    <a:solidFill>
                      <a:srgbClr val="FFFFFF"/>
                    </a:solidFill>
                  </a:tcPr>
                </a:tc>
                <a:tc>
                  <a:txBody>
                    <a:bodyPr/>
                    <a:lstStyle/>
                    <a:p>
                      <a:pPr>
                        <a:defRPr sz="800" b="1">
                          <a:solidFill>
                            <a:srgbClr val="008000"/>
                          </a:solidFill>
                        </a:defRPr>
                      </a:pPr>
                      <a:r>
                        <a:t>100% Stable</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18" name="Content Placeholder 15"/>
          <p:cNvGraphicFramePr>
            <a:graphicFrameLocks/>
          </p:cNvGraphicFramePr>
          <p:nvPr>
            <p:extLst>
              <p:ext uri="{D42A27DB-BD31-4B8C-83A1-F6EECF244321}">
                <p14:modId xmlns:p14="http://schemas.microsoft.com/office/powerpoint/2010/main" val="597855445"/>
              </p:ext>
            </p:extLst>
          </p:nvPr>
        </p:nvGraphicFramePr>
        <p:xfrm>
          <a:off x="1142999" y="0"/>
          <a:ext cx="8001001" cy="895350"/>
        </p:xfrm>
        <a:graphic>
          <a:graphicData uri="http://schemas.openxmlformats.org/drawingml/2006/table">
            <a:tbl>
              <a:tblPr firstRow="1" bandRow="1">
                <a:tableStyleId>{5DA37D80-6434-44D0-A028-1B22A696006F}</a:tableStyleId>
              </a:tblPr>
              <a:tblGrid>
                <a:gridCol w="8001001"/>
              </a:tblGrid>
              <a:tr h="458594">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36756">
                <a:tc>
                  <a:txBody>
                    <a:bodyPr/>
                    <a:lstStyle/>
                    <a:p>
                      <a:pPr algn="ctr">
                        <a:defRPr sz="1200" b="1">
                          <a:solidFill>
                            <a:srgbClr val="C58C14"/>
                          </a:solidFill>
                          <a:latin typeface="Segoe UI"/>
                        </a:defRPr>
                      </a:pPr>
                      <a:r>
                        <a:t>Overall System Architecture — Dual-Tier Hardware Isolation</a:t>
                      </a:r>
                    </a:p>
                  </a:txBody>
                  <a:tcPr marL="94488" marR="94488"/>
                </a:tc>
              </a:tr>
            </a:tbl>
          </a:graphicData>
        </a:graphic>
      </p:graphicFrame>
      <p:sp>
        <p:nvSpPr>
          <p:cNvPr id="1048620"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21"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22"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8" name="Picture 2"/>
          <p:cNvPicPr>
            <a:picLocks noChangeAspect="1" noChangeArrowheads="1"/>
          </p:cNvPicPr>
          <p:nvPr/>
        </p:nvPicPr>
        <p:blipFill>
          <a:blip r:embed="rId2"/>
          <a:srcRect/>
          <a:stretch>
            <a:fillRect/>
          </a:stretch>
        </p:blipFill>
        <p:spPr bwMode="auto">
          <a:xfrm>
            <a:off x="228600" y="133350"/>
            <a:ext cx="971550" cy="685800"/>
          </a:xfrm>
          <a:prstGeom prst="rect">
            <a:avLst/>
          </a:prstGeom>
          <a:noFill/>
          <a:ln w="9525">
            <a:noFill/>
            <a:miter lim="800000"/>
            <a:headEnd/>
            <a:tailEnd/>
          </a:ln>
          <a:effectLst/>
        </p:spPr>
      </p:pic>
      <p:graphicFrame>
        <p:nvGraphicFramePr>
          <p:cNvPr id="9" name="Table 5"/>
          <p:cNvGraphicFramePr>
            <a:graphicFrameLocks noGrp="1"/>
          </p:cNvGraphicFramePr>
          <p:nvPr>
            <p:extLst>
              <p:ext uri="{D42A27DB-BD31-4B8C-83A1-F6EECF244321}">
                <p14:modId xmlns:p14="http://schemas.microsoft.com/office/powerpoint/2010/main" val="1484651498"/>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10</a:t>
                      </a:r>
                    </a:p>
                  </a:txBody>
                  <a:tcPr marL="94488" marR="94488"/>
                </a:tc>
              </a:tr>
            </a:tbl>
          </a:graphicData>
        </a:graphic>
      </p:graphicFrame>
      <p:sp>
        <p:nvSpPr>
          <p:cNvPr id="4194319" name="TextBox 4194318"/>
          <p:cNvSpPr txBox="1"/>
          <p:nvPr/>
        </p:nvSpPr>
        <p:spPr>
          <a:xfrm>
            <a:off x="365760" y="1051560"/>
            <a:ext cx="2011680" cy="3566160"/>
          </a:xfrm>
          <a:prstGeom prst="rect">
            <a:avLst/>
          </a:prstGeom>
          <a:noFill/>
        </p:spPr>
        <p:txBody>
          <a:bodyPr wrap="square">
            <a:spAutoFit/>
          </a:bodyPr>
          <a:lstStyle/>
          <a:p>
            <a:pPr>
              <a:defRPr sz="950" b="1">
                <a:solidFill>
                  <a:srgbClr val="002060"/>
                </a:solidFill>
              </a:defRPr>
            </a:pPr>
            <a:r>
              <a:t>Host OS Domain (Untrusted):</a:t>
            </a:r>
          </a:p>
          <a:p>
            <a:pPr>
              <a:spcBef>
                <a:spcPts val="300"/>
              </a:spcBef>
              <a:defRPr sz="780">
                <a:solidFill>
                  <a:srgbClr val="1E1E1E"/>
                </a:solidFill>
              </a:defRPr>
            </a:pPr>
            <a:r>
              <a:t>• Userland Applications: Standard tasks &amp; potential adversarial malware.</a:t>
            </a:r>
          </a:p>
          <a:p>
            <a:pPr>
              <a:spcBef>
                <a:spcPts val="300"/>
              </a:spcBef>
              <a:defRPr sz="780">
                <a:solidFill>
                  <a:srgbClr val="1E1E1E"/>
                </a:solidFill>
              </a:defRPr>
            </a:pPr>
            <a:r>
              <a:t>• Linux Kernel v5.15+: Core operating system environment.</a:t>
            </a:r>
          </a:p>
          <a:p>
            <a:pPr>
              <a:spcBef>
                <a:spcPts val="300"/>
              </a:spcBef>
              <a:defRPr sz="780">
                <a:solidFill>
                  <a:srgbClr val="1E1E1E"/>
                </a:solidFill>
              </a:defRPr>
            </a:pPr>
            <a:r>
              <a:t>• eBPF Hook Engine: tracepoint__sched_process_exec traps syscalls (&lt; 25 µs).</a:t>
            </a:r>
          </a:p>
          <a:p>
            <a:pPr>
              <a:spcBef>
                <a:spcPts val="300"/>
              </a:spcBef>
              <a:defRPr sz="780">
                <a:solidFill>
                  <a:srgbClr val="1E1E1E"/>
                </a:solidFill>
              </a:defRPr>
            </a:pPr>
            <a:r>
              <a:t>• Feature Extractor: Encodes 8D behavioral telemetry vector.</a:t>
            </a:r>
          </a:p>
          <a:p>
            <a:pPr>
              <a:spcBef>
                <a:spcPts val="300"/>
              </a:spcBef>
              <a:defRPr sz="780">
                <a:solidFill>
                  <a:srgbClr val="1E1E1E"/>
                </a:solidFill>
              </a:defRPr>
            </a:pPr>
            <a:r>
              <a:t>• Automated Kill Daemon: Receives coprocessor verdict; issues un-maskable SIGKILL.</a:t>
            </a:r>
          </a:p>
        </p:txBody>
      </p:sp>
      <p:pic>
        <p:nvPicPr>
          <p:cNvPr id="4194320" name="Picture 4194319" descr="slide_11_Picture 1.png"/>
          <p:cNvPicPr>
            <a:picLocks noChangeAspect="1"/>
          </p:cNvPicPr>
          <p:nvPr/>
        </p:nvPicPr>
        <p:blipFill>
          <a:blip r:embed="rId3"/>
          <a:stretch>
            <a:fillRect/>
          </a:stretch>
        </p:blipFill>
        <p:spPr>
          <a:xfrm>
            <a:off x="2468880" y="1051560"/>
            <a:ext cx="4206240" cy="3566160"/>
          </a:xfrm>
          <a:prstGeom prst="rect">
            <a:avLst/>
          </a:prstGeom>
        </p:spPr>
      </p:pic>
      <p:sp>
        <p:nvSpPr>
          <p:cNvPr id="4194321" name="TextBox 4194320"/>
          <p:cNvSpPr txBox="1"/>
          <p:nvPr/>
        </p:nvSpPr>
        <p:spPr>
          <a:xfrm>
            <a:off x="6766560" y="1051560"/>
            <a:ext cx="2011680" cy="3566160"/>
          </a:xfrm>
          <a:prstGeom prst="rect">
            <a:avLst/>
          </a:prstGeom>
          <a:noFill/>
        </p:spPr>
        <p:txBody>
          <a:bodyPr wrap="square">
            <a:spAutoFit/>
          </a:bodyPr>
          <a:lstStyle/>
          <a:p>
            <a:pPr>
              <a:defRPr sz="950" b="1">
                <a:solidFill>
                  <a:srgbClr val="002060"/>
                </a:solidFill>
              </a:defRPr>
            </a:pPr>
            <a:r>
              <a:t>Isolated Coprocessor (Aegis):</a:t>
            </a:r>
          </a:p>
          <a:p>
            <a:pPr>
              <a:spcBef>
                <a:spcPts val="300"/>
              </a:spcBef>
              <a:defRPr sz="780">
                <a:solidFill>
                  <a:srgbClr val="1E1E1E"/>
                </a:solidFill>
              </a:defRPr>
            </a:pPr>
            <a:r>
              <a:t>• Air-Gapped Serial Pipe: Physical UART link @ 115,200 baud.</a:t>
            </a:r>
          </a:p>
          <a:p>
            <a:pPr>
              <a:spcBef>
                <a:spcPts val="300"/>
              </a:spcBef>
              <a:defRPr sz="780">
                <a:solidFill>
                  <a:srgbClr val="1E1E1E"/>
                </a:solidFill>
              </a:defRPr>
            </a:pPr>
            <a:r>
              <a:t>• Noise Purification Filter: Punctuation Entropy Heuristic.</a:t>
            </a:r>
          </a:p>
          <a:p>
            <a:pPr>
              <a:spcBef>
                <a:spcPts val="300"/>
              </a:spcBef>
              <a:defRPr sz="780">
                <a:solidFill>
                  <a:srgbClr val="1E1E1E"/>
                </a:solidFill>
              </a:defRPr>
            </a:pPr>
            <a:r>
              <a:t>• Dual-Engine Classifier: 1.25 µs Decision Tree + 42.1 µs Perceptron.</a:t>
            </a:r>
          </a:p>
          <a:p>
            <a:pPr>
              <a:spcBef>
                <a:spcPts val="300"/>
              </a:spcBef>
              <a:defRPr sz="780">
                <a:solidFill>
                  <a:srgbClr val="1E1E1E"/>
                </a:solidFill>
              </a:defRPr>
            </a:pPr>
            <a:r>
              <a:t>• Continual Learning: On-chip Momentum SGD in 38.4 µs.</a:t>
            </a:r>
          </a:p>
          <a:p>
            <a:pPr>
              <a:spcBef>
                <a:spcPts val="300"/>
              </a:spcBef>
              <a:defRPr sz="780">
                <a:solidFill>
                  <a:srgbClr val="1E1E1E"/>
                </a:solidFill>
              </a:defRPr>
            </a:pPr>
            <a:r>
              <a:t>• Flash NVS Sync: Non-volatile persistent weight storage.</a:t>
            </a:r>
          </a:p>
          <a:p>
            <a:pPr>
              <a:spcBef>
                <a:spcPts val="300"/>
              </a:spcBef>
              <a:defRPr sz="780">
                <a:solidFill>
                  <a:srgbClr val="1E1E1E"/>
                </a:solidFill>
              </a:defRPr>
            </a:pPr>
            <a:r>
              <a:t>• Hardware Actuators: I2C OLED HUD + 85 dB Piezo Buzzer.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18" name="Content Placeholder 15"/>
          <p:cNvGraphicFramePr>
            <a:graphicFrameLocks/>
          </p:cNvGraphicFramePr>
          <p:nvPr>
            <p:extLst>
              <p:ext uri="{D42A27DB-BD31-4B8C-83A1-F6EECF244321}">
                <p14:modId xmlns:p14="http://schemas.microsoft.com/office/powerpoint/2010/main" val="1238349645"/>
              </p:ext>
            </p:extLst>
          </p:nvPr>
        </p:nvGraphicFramePr>
        <p:xfrm>
          <a:off x="1142999" y="0"/>
          <a:ext cx="8001001" cy="954916"/>
        </p:xfrm>
        <a:graphic>
          <a:graphicData uri="http://schemas.openxmlformats.org/drawingml/2006/table">
            <a:tbl>
              <a:tblPr firstRow="1" bandRow="1">
                <a:tableStyleId>{5DA37D80-6434-44D0-A028-1B22A696006F}</a:tableStyleId>
              </a:tblPr>
              <a:tblGrid>
                <a:gridCol w="8001001"/>
              </a:tblGrid>
              <a:tr h="458594">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36756">
                <a:tc>
                  <a:txBody>
                    <a:bodyPr/>
                    <a:lstStyle/>
                    <a:p>
                      <a:pPr algn="ctr">
                        <a:defRPr sz="1200" b="1">
                          <a:solidFill>
                            <a:srgbClr val="C58C14"/>
                          </a:solidFill>
                          <a:latin typeface="Segoe UI"/>
                        </a:defRPr>
                      </a:pPr>
                      <a:r>
                        <a:t>Circuit Diagrams &amp; Hardware Pinout Mapping</a:t>
                      </a:r>
                    </a:p>
                  </a:txBody>
                  <a:tcPr marL="94488" marR="94488"/>
                </a:tc>
              </a:tr>
            </a:tbl>
          </a:graphicData>
        </a:graphic>
      </p:graphicFrame>
      <p:sp>
        <p:nvSpPr>
          <p:cNvPr id="1048620"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21"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22"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9" name="Picture 2"/>
          <p:cNvPicPr>
            <a:picLocks noChangeAspect="1" noChangeArrowheads="1"/>
          </p:cNvPicPr>
          <p:nvPr/>
        </p:nvPicPr>
        <p:blipFill>
          <a:blip r:embed="rId2"/>
          <a:srcRect/>
          <a:stretch>
            <a:fillRect/>
          </a:stretch>
        </p:blipFill>
        <p:spPr bwMode="auto">
          <a:xfrm>
            <a:off x="152400" y="133350"/>
            <a:ext cx="971550" cy="685800"/>
          </a:xfrm>
          <a:prstGeom prst="rect">
            <a:avLst/>
          </a:prstGeom>
          <a:noFill/>
          <a:ln w="9525">
            <a:noFill/>
            <a:miter lim="800000"/>
            <a:headEnd/>
            <a:tailEnd/>
          </a:ln>
          <a:effectLst/>
        </p:spPr>
      </p:pic>
      <p:graphicFrame>
        <p:nvGraphicFramePr>
          <p:cNvPr id="10" name="Table 5"/>
          <p:cNvGraphicFramePr>
            <a:graphicFrameLocks noGrp="1"/>
          </p:cNvGraphicFramePr>
          <p:nvPr>
            <p:extLst>
              <p:ext uri="{D42A27DB-BD31-4B8C-83A1-F6EECF244321}">
                <p14:modId xmlns:p14="http://schemas.microsoft.com/office/powerpoint/2010/main" val="4169138481"/>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11</a:t>
                      </a:r>
                    </a:p>
                  </a:txBody>
                  <a:tcPr marL="94488" marR="94488"/>
                </a:tc>
              </a:tr>
            </a:tbl>
          </a:graphicData>
        </a:graphic>
      </p:graphicFrame>
      <p:graphicFrame>
        <p:nvGraphicFramePr>
          <p:cNvPr id="4194319" name="Table 4194318"/>
          <p:cNvGraphicFramePr>
            <a:graphicFrameLocks noGrp="1"/>
          </p:cNvGraphicFramePr>
          <p:nvPr/>
        </p:nvGraphicFramePr>
        <p:xfrm>
          <a:off x="365760" y="1051560"/>
          <a:ext cx="8412480" cy="3520440"/>
        </p:xfrm>
        <a:graphic>
          <a:graphicData uri="http://schemas.openxmlformats.org/drawingml/2006/table">
            <a:tbl>
              <a:tblPr firstRow="1" bandRow="1">
                <a:tableStyleId>{5C22544A-7EE6-4342-B048-85BDC9FD1C3A}</a:tableStyleId>
              </a:tblPr>
              <a:tblGrid>
                <a:gridCol w="1828800"/>
                <a:gridCol w="1645920"/>
                <a:gridCol w="2194560"/>
                <a:gridCol w="2743200"/>
              </a:tblGrid>
              <a:tr h="586740">
                <a:tc>
                  <a:txBody>
                    <a:bodyPr/>
                    <a:lstStyle/>
                    <a:p>
                      <a:pPr>
                        <a:defRPr sz="900" b="1">
                          <a:solidFill>
                            <a:srgbClr val="FFFFFF"/>
                          </a:solidFill>
                        </a:defRPr>
                      </a:pPr>
                      <a:r>
                        <a:t>Hardware Peripheral</a:t>
                      </a:r>
                    </a:p>
                  </a:txBody>
                  <a:tcPr>
                    <a:solidFill>
                      <a:srgbClr val="002060"/>
                    </a:solidFill>
                  </a:tcPr>
                </a:tc>
                <a:tc>
                  <a:txBody>
                    <a:bodyPr/>
                    <a:lstStyle/>
                    <a:p>
                      <a:pPr>
                        <a:defRPr sz="900" b="1">
                          <a:solidFill>
                            <a:srgbClr val="FFFFFF"/>
                          </a:solidFill>
                        </a:defRPr>
                      </a:pPr>
                      <a:r>
                        <a:t>ESP32 Pin Mapping</a:t>
                      </a:r>
                    </a:p>
                  </a:txBody>
                  <a:tcPr>
                    <a:solidFill>
                      <a:srgbClr val="002060"/>
                    </a:solidFill>
                  </a:tcPr>
                </a:tc>
                <a:tc>
                  <a:txBody>
                    <a:bodyPr/>
                    <a:lstStyle/>
                    <a:p>
                      <a:pPr>
                        <a:defRPr sz="900" b="1">
                          <a:solidFill>
                            <a:srgbClr val="FFFFFF"/>
                          </a:solidFill>
                        </a:defRPr>
                      </a:pPr>
                      <a:r>
                        <a:t>Electrical Protocol</a:t>
                      </a:r>
                    </a:p>
                  </a:txBody>
                  <a:tcPr>
                    <a:solidFill>
                      <a:srgbClr val="002060"/>
                    </a:solidFill>
                  </a:tcPr>
                </a:tc>
                <a:tc>
                  <a:txBody>
                    <a:bodyPr/>
                    <a:lstStyle/>
                    <a:p>
                      <a:pPr>
                        <a:defRPr sz="900" b="1">
                          <a:solidFill>
                            <a:srgbClr val="FFFFFF"/>
                          </a:solidFill>
                        </a:defRPr>
                      </a:pPr>
                      <a:r>
                        <a:t>Functional Specification</a:t>
                      </a:r>
                    </a:p>
                  </a:txBody>
                  <a:tcPr>
                    <a:solidFill>
                      <a:srgbClr val="002060"/>
                    </a:solidFill>
                  </a:tcPr>
                </a:tc>
              </a:tr>
              <a:tr h="586740">
                <a:tc>
                  <a:txBody>
                    <a:bodyPr/>
                    <a:lstStyle/>
                    <a:p>
                      <a:pPr>
                        <a:defRPr sz="850" b="1">
                          <a:solidFill>
                            <a:srgbClr val="002060"/>
                          </a:solidFill>
                        </a:defRPr>
                      </a:pPr>
                      <a:r>
                        <a:t>USB-UART Serial Bridge</a:t>
                      </a:r>
                    </a:p>
                  </a:txBody>
                  <a:tcPr>
                    <a:solidFill>
                      <a:srgbClr val="FFFFFF"/>
                    </a:solidFill>
                  </a:tcPr>
                </a:tc>
                <a:tc>
                  <a:txBody>
                    <a:bodyPr/>
                    <a:lstStyle/>
                    <a:p>
                      <a:pPr>
                        <a:defRPr sz="850" b="0">
                          <a:solidFill>
                            <a:srgbClr val="1E1E1E"/>
                          </a:solidFill>
                        </a:defRPr>
                      </a:pPr>
                      <a:r>
                        <a:t>GPIO 1 (TX0) / GPIO 3 (RX0)</a:t>
                      </a:r>
                    </a:p>
                  </a:txBody>
                  <a:tcPr>
                    <a:solidFill>
                      <a:srgbClr val="FFFFFF"/>
                    </a:solidFill>
                  </a:tcPr>
                </a:tc>
                <a:tc>
                  <a:txBody>
                    <a:bodyPr/>
                    <a:lstStyle/>
                    <a:p>
                      <a:pPr>
                        <a:defRPr sz="850" b="0">
                          <a:solidFill>
                            <a:srgbClr val="1E1E1E"/>
                          </a:solidFill>
                        </a:defRPr>
                      </a:pPr>
                      <a:r>
                        <a:t>3.3V CMOS Serial @ 115200 Baud</a:t>
                      </a:r>
                    </a:p>
                  </a:txBody>
                  <a:tcPr>
                    <a:solidFill>
                      <a:srgbClr val="FFFFFF"/>
                    </a:solidFill>
                  </a:tcPr>
                </a:tc>
                <a:tc>
                  <a:txBody>
                    <a:bodyPr/>
                    <a:lstStyle/>
                    <a:p>
                      <a:pPr>
                        <a:defRPr sz="850" b="0">
                          <a:solidFill>
                            <a:srgbClr val="1E1E1E"/>
                          </a:solidFill>
                        </a:defRPr>
                      </a:pPr>
                      <a:r>
                        <a:t>Isolated kernel telemetry channel from host to coprocessor</a:t>
                      </a:r>
                    </a:p>
                  </a:txBody>
                  <a:tcPr>
                    <a:solidFill>
                      <a:srgbClr val="FFFFFF"/>
                    </a:solidFill>
                  </a:tcPr>
                </a:tc>
              </a:tr>
              <a:tr h="586740">
                <a:tc>
                  <a:txBody>
                    <a:bodyPr/>
                    <a:lstStyle/>
                    <a:p>
                      <a:pPr>
                        <a:defRPr sz="850" b="1">
                          <a:solidFill>
                            <a:srgbClr val="002060"/>
                          </a:solidFill>
                        </a:defRPr>
                      </a:pPr>
                      <a:r>
                        <a:t>SSD1306 OLED Display</a:t>
                      </a:r>
                    </a:p>
                  </a:txBody>
                  <a:tcPr>
                    <a:solidFill>
                      <a:srgbClr val="F5F8FC"/>
                    </a:solidFill>
                  </a:tcPr>
                </a:tc>
                <a:tc>
                  <a:txBody>
                    <a:bodyPr/>
                    <a:lstStyle/>
                    <a:p>
                      <a:pPr>
                        <a:defRPr sz="850" b="0">
                          <a:solidFill>
                            <a:srgbClr val="1E1E1E"/>
                          </a:solidFill>
                        </a:defRPr>
                      </a:pPr>
                      <a:r>
                        <a:t>GPIO 21 (SDA) / GPIO 22 (SCL)</a:t>
                      </a:r>
                    </a:p>
                  </a:txBody>
                  <a:tcPr>
                    <a:solidFill>
                      <a:srgbClr val="F5F8FC"/>
                    </a:solidFill>
                  </a:tcPr>
                </a:tc>
                <a:tc>
                  <a:txBody>
                    <a:bodyPr/>
                    <a:lstStyle/>
                    <a:p>
                      <a:pPr>
                        <a:defRPr sz="850" b="0">
                          <a:solidFill>
                            <a:srgbClr val="1E1E1E"/>
                          </a:solidFill>
                        </a:defRPr>
                      </a:pPr>
                      <a:r>
                        <a:t>I2C Fast Mode @ 400 kHz</a:t>
                      </a:r>
                    </a:p>
                  </a:txBody>
                  <a:tcPr>
                    <a:solidFill>
                      <a:srgbClr val="F5F8FC"/>
                    </a:solidFill>
                  </a:tcPr>
                </a:tc>
                <a:tc>
                  <a:txBody>
                    <a:bodyPr/>
                    <a:lstStyle/>
                    <a:p>
                      <a:pPr>
                        <a:defRPr sz="850" b="0">
                          <a:solidFill>
                            <a:srgbClr val="1E1E1E"/>
                          </a:solidFill>
                        </a:defRPr>
                      </a:pPr>
                      <a:r>
                        <a:t>4.7 kΩ hardware pull-up resistors for bus noise suppression</a:t>
                      </a:r>
                    </a:p>
                  </a:txBody>
                  <a:tcPr>
                    <a:solidFill>
                      <a:srgbClr val="F5F8FC"/>
                    </a:solidFill>
                  </a:tcPr>
                </a:tc>
              </a:tr>
              <a:tr h="586740">
                <a:tc>
                  <a:txBody>
                    <a:bodyPr/>
                    <a:lstStyle/>
                    <a:p>
                      <a:pPr>
                        <a:defRPr sz="850" b="1">
                          <a:solidFill>
                            <a:srgbClr val="002060"/>
                          </a:solidFill>
                        </a:defRPr>
                      </a:pPr>
                      <a:r>
                        <a:t>Active Piezo Buzzer</a:t>
                      </a:r>
                    </a:p>
                  </a:txBody>
                  <a:tcPr>
                    <a:solidFill>
                      <a:srgbClr val="FFFFFF"/>
                    </a:solidFill>
                  </a:tcPr>
                </a:tc>
                <a:tc>
                  <a:txBody>
                    <a:bodyPr/>
                    <a:lstStyle/>
                    <a:p>
                      <a:pPr>
                        <a:defRPr sz="850" b="0">
                          <a:solidFill>
                            <a:srgbClr val="1E1E1E"/>
                          </a:solidFill>
                        </a:defRPr>
                      </a:pPr>
                      <a:r>
                        <a:t>GPIO 4 (PWM Output)</a:t>
                      </a:r>
                    </a:p>
                  </a:txBody>
                  <a:tcPr>
                    <a:solidFill>
                      <a:srgbClr val="FFFFFF"/>
                    </a:solidFill>
                  </a:tcPr>
                </a:tc>
                <a:tc>
                  <a:txBody>
                    <a:bodyPr/>
                    <a:lstStyle/>
                    <a:p>
                      <a:pPr>
                        <a:defRPr sz="850" b="0">
                          <a:solidFill>
                            <a:srgbClr val="1E1E1E"/>
                          </a:solidFill>
                        </a:defRPr>
                      </a:pPr>
                      <a:r>
                        <a:t>2.4 - 3.5 kHz Acoustic Tones</a:t>
                      </a:r>
                    </a:p>
                  </a:txBody>
                  <a:tcPr>
                    <a:solidFill>
                      <a:srgbClr val="FFFFFF"/>
                    </a:solidFill>
                  </a:tcPr>
                </a:tc>
                <a:tc>
                  <a:txBody>
                    <a:bodyPr/>
                    <a:lstStyle/>
                    <a:p>
                      <a:pPr>
                        <a:defRPr sz="850" b="0">
                          <a:solidFill>
                            <a:srgbClr val="1E1E1E"/>
                          </a:solidFill>
                        </a:defRPr>
                      </a:pPr>
                      <a:r>
                        <a:t>Driven via NPN 2N2222 transistor with flyback diode protection</a:t>
                      </a:r>
                    </a:p>
                  </a:txBody>
                  <a:tcPr>
                    <a:solidFill>
                      <a:srgbClr val="FFFFFF"/>
                    </a:solidFill>
                  </a:tcPr>
                </a:tc>
              </a:tr>
              <a:tr h="586740">
                <a:tc>
                  <a:txBody>
                    <a:bodyPr/>
                    <a:lstStyle/>
                    <a:p>
                      <a:pPr>
                        <a:defRPr sz="850" b="1">
                          <a:solidFill>
                            <a:srgbClr val="002060"/>
                          </a:solidFill>
                        </a:defRPr>
                      </a:pPr>
                      <a:r>
                        <a:t>Alert Strobe LED</a:t>
                      </a:r>
                    </a:p>
                  </a:txBody>
                  <a:tcPr>
                    <a:solidFill>
                      <a:srgbClr val="F5F8FC"/>
                    </a:solidFill>
                  </a:tcPr>
                </a:tc>
                <a:tc>
                  <a:txBody>
                    <a:bodyPr/>
                    <a:lstStyle/>
                    <a:p>
                      <a:pPr>
                        <a:defRPr sz="850" b="0">
                          <a:solidFill>
                            <a:srgbClr val="1E1E1E"/>
                          </a:solidFill>
                        </a:defRPr>
                      </a:pPr>
                      <a:r>
                        <a:t>GPIO 2 (Digital Out)</a:t>
                      </a:r>
                    </a:p>
                  </a:txBody>
                  <a:tcPr>
                    <a:solidFill>
                      <a:srgbClr val="F5F8FC"/>
                    </a:solidFill>
                  </a:tcPr>
                </a:tc>
                <a:tc>
                  <a:txBody>
                    <a:bodyPr/>
                    <a:lstStyle/>
                    <a:p>
                      <a:pPr>
                        <a:defRPr sz="850" b="0">
                          <a:solidFill>
                            <a:srgbClr val="1E1E1E"/>
                          </a:solidFill>
                        </a:defRPr>
                      </a:pPr>
                      <a:r>
                        <a:t>3.3V Push-Pull with 220Ω Resistor</a:t>
                      </a:r>
                    </a:p>
                  </a:txBody>
                  <a:tcPr>
                    <a:solidFill>
                      <a:srgbClr val="F5F8FC"/>
                    </a:solidFill>
                  </a:tcPr>
                </a:tc>
                <a:tc>
                  <a:txBody>
                    <a:bodyPr/>
                    <a:lstStyle/>
                    <a:p>
                      <a:pPr>
                        <a:defRPr sz="850" b="0">
                          <a:solidFill>
                            <a:srgbClr val="1E1E1E"/>
                          </a:solidFill>
                        </a:defRPr>
                      </a:pPr>
                      <a:r>
                        <a:t>High-priority optical intrusion flash warning for security operator</a:t>
                      </a:r>
                    </a:p>
                  </a:txBody>
                  <a:tcPr>
                    <a:solidFill>
                      <a:srgbClr val="F5F8FC"/>
                    </a:solidFill>
                  </a:tcPr>
                </a:tc>
              </a:tr>
              <a:tr h="586740">
                <a:tc>
                  <a:txBody>
                    <a:bodyPr/>
                    <a:lstStyle/>
                    <a:p>
                      <a:pPr>
                        <a:defRPr sz="850" b="1">
                          <a:solidFill>
                            <a:srgbClr val="002060"/>
                          </a:solidFill>
                        </a:defRPr>
                      </a:pPr>
                      <a:r>
                        <a:t>System Power Plane</a:t>
                      </a:r>
                    </a:p>
                  </a:txBody>
                  <a:tcPr>
                    <a:solidFill>
                      <a:srgbClr val="FFFFFF"/>
                    </a:solidFill>
                  </a:tcPr>
                </a:tc>
                <a:tc>
                  <a:txBody>
                    <a:bodyPr/>
                    <a:lstStyle/>
                    <a:p>
                      <a:pPr>
                        <a:defRPr sz="850" b="0">
                          <a:solidFill>
                            <a:srgbClr val="1E1E1E"/>
                          </a:solidFill>
                        </a:defRPr>
                      </a:pPr>
                      <a:r>
                        <a:t>VIN (5V) / 3V3 / GND</a:t>
                      </a:r>
                    </a:p>
                  </a:txBody>
                  <a:tcPr>
                    <a:solidFill>
                      <a:srgbClr val="FFFFFF"/>
                    </a:solidFill>
                  </a:tcPr>
                </a:tc>
                <a:tc>
                  <a:txBody>
                    <a:bodyPr/>
                    <a:lstStyle/>
                    <a:p>
                      <a:pPr>
                        <a:defRPr sz="850" b="0">
                          <a:solidFill>
                            <a:srgbClr val="1E1E1E"/>
                          </a:solidFill>
                        </a:defRPr>
                      </a:pPr>
                      <a:r>
                        <a:t>Regulated Multi-Rail Bus</a:t>
                      </a:r>
                    </a:p>
                  </a:txBody>
                  <a:tcPr>
                    <a:solidFill>
                      <a:srgbClr val="FFFFFF"/>
                    </a:solidFill>
                  </a:tcPr>
                </a:tc>
                <a:tc>
                  <a:txBody>
                    <a:bodyPr/>
                    <a:lstStyle/>
                    <a:p>
                      <a:pPr>
                        <a:defRPr sz="850" b="0">
                          <a:solidFill>
                            <a:srgbClr val="1E1E1E"/>
                          </a:solidFill>
                        </a:defRPr>
                      </a:pPr>
                      <a:r>
                        <a:t>AMS1117-3.3 linear regulator stepping 5V USB rail down safely</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22" name="Content Placeholder 15"/>
          <p:cNvGraphicFramePr>
            <a:graphicFrameLocks/>
          </p:cNvGraphicFramePr>
          <p:nvPr>
            <p:extLst>
              <p:ext uri="{D42A27DB-BD31-4B8C-83A1-F6EECF244321}">
                <p14:modId xmlns:p14="http://schemas.microsoft.com/office/powerpoint/2010/main" val="2251327390"/>
              </p:ext>
            </p:extLst>
          </p:nvPr>
        </p:nvGraphicFramePr>
        <p:xfrm>
          <a:off x="1142999" y="0"/>
          <a:ext cx="8001001" cy="895350"/>
        </p:xfrm>
        <a:graphic>
          <a:graphicData uri="http://schemas.openxmlformats.org/drawingml/2006/table">
            <a:tbl>
              <a:tblPr firstRow="1" bandRow="1">
                <a:tableStyleId>{5DA37D80-6434-44D0-A028-1B22A696006F}</a:tableStyleId>
              </a:tblPr>
              <a:tblGrid>
                <a:gridCol w="8001001"/>
              </a:tblGrid>
              <a:tr h="458594">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36756">
                <a:tc>
                  <a:txBody>
                    <a:bodyPr/>
                    <a:lstStyle/>
                    <a:p>
                      <a:pPr algn="ctr">
                        <a:defRPr sz="1200" b="1">
                          <a:solidFill>
                            <a:srgbClr val="C58C14"/>
                          </a:solidFill>
                          <a:latin typeface="Segoe UI"/>
                        </a:defRPr>
                      </a:pPr>
                      <a:r>
                        <a:t>Algorithm / Execution Flowchart &amp; Threat Mitigation Logic</a:t>
                      </a:r>
                    </a:p>
                  </a:txBody>
                  <a:tcPr marL="94488" marR="94488"/>
                </a:tc>
              </a:tr>
            </a:tbl>
          </a:graphicData>
        </a:graphic>
      </p:graphicFrame>
      <p:sp>
        <p:nvSpPr>
          <p:cNvPr id="1048627"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28"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29"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8" name="Picture 2"/>
          <p:cNvPicPr>
            <a:picLocks noChangeAspect="1" noChangeArrowheads="1"/>
          </p:cNvPicPr>
          <p:nvPr/>
        </p:nvPicPr>
        <p:blipFill>
          <a:blip r:embed="rId2"/>
          <a:srcRect/>
          <a:stretch>
            <a:fillRect/>
          </a:stretch>
        </p:blipFill>
        <p:spPr bwMode="auto">
          <a:xfrm>
            <a:off x="152400" y="209550"/>
            <a:ext cx="971550" cy="685800"/>
          </a:xfrm>
          <a:prstGeom prst="rect">
            <a:avLst/>
          </a:prstGeom>
          <a:noFill/>
          <a:ln w="9525">
            <a:noFill/>
            <a:miter lim="800000"/>
            <a:headEnd/>
            <a:tailEnd/>
          </a:ln>
          <a:effectLst/>
        </p:spPr>
      </p:pic>
      <p:graphicFrame>
        <p:nvGraphicFramePr>
          <p:cNvPr id="9" name="Table 5"/>
          <p:cNvGraphicFramePr>
            <a:graphicFrameLocks noGrp="1"/>
          </p:cNvGraphicFramePr>
          <p:nvPr>
            <p:extLst>
              <p:ext uri="{D42A27DB-BD31-4B8C-83A1-F6EECF244321}">
                <p14:modId xmlns:p14="http://schemas.microsoft.com/office/powerpoint/2010/main" val="2148614654"/>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12</a:t>
                      </a:r>
                    </a:p>
                  </a:txBody>
                  <a:tcPr marL="94488" marR="94488"/>
                </a:tc>
              </a:tr>
            </a:tbl>
          </a:graphicData>
        </a:graphic>
      </p:graphicFrame>
      <p:sp>
        <p:nvSpPr>
          <p:cNvPr id="4194323" name="TextBox 4194322"/>
          <p:cNvSpPr txBox="1"/>
          <p:nvPr/>
        </p:nvSpPr>
        <p:spPr>
          <a:xfrm>
            <a:off x="365760" y="1051560"/>
            <a:ext cx="1920240" cy="3566160"/>
          </a:xfrm>
          <a:prstGeom prst="rect">
            <a:avLst/>
          </a:prstGeom>
          <a:noFill/>
        </p:spPr>
        <p:txBody>
          <a:bodyPr wrap="square">
            <a:spAutoFit/>
          </a:bodyPr>
          <a:lstStyle/>
          <a:p>
            <a:pPr>
              <a:defRPr sz="950" b="1">
                <a:solidFill>
                  <a:srgbClr val="002060"/>
                </a:solidFill>
              </a:defRPr>
            </a:pPr>
            <a:r>
              <a:t>Phase A: Host Interception</a:t>
            </a:r>
          </a:p>
          <a:p>
            <a:pPr>
              <a:spcBef>
                <a:spcPts val="300"/>
              </a:spcBef>
              <a:defRPr sz="780">
                <a:solidFill>
                  <a:srgbClr val="1E1E1E"/>
                </a:solidFill>
              </a:defRPr>
            </a:pPr>
            <a:r>
              <a:t>• Step 1: Event Trap — eBPF intercepts execve system call at kernel tracepoint.</a:t>
            </a:r>
          </a:p>
          <a:p>
            <a:pPr>
              <a:spcBef>
                <a:spcPts val="300"/>
              </a:spcBef>
              <a:defRPr sz="780">
                <a:solidFill>
                  <a:srgbClr val="1E1E1E"/>
                </a:solidFill>
              </a:defRPr>
            </a:pPr>
            <a:r>
              <a:t>• Step 2: Attribute Extraction — Computes 8D vector: entropy, length, root UID, web spawner, memfd, LD_PRELOAD.</a:t>
            </a:r>
          </a:p>
          <a:p>
            <a:pPr>
              <a:spcBef>
                <a:spcPts val="300"/>
              </a:spcBef>
              <a:defRPr sz="780">
                <a:solidFill>
                  <a:srgbClr val="1E1E1E"/>
                </a:solidFill>
              </a:defRPr>
            </a:pPr>
            <a:r>
              <a:t>• Step 3: Bus Packetization — Serializes into 24-byte packet; streams over UART @ 115,200 baud.</a:t>
            </a:r>
          </a:p>
          <a:p>
            <a:pPr>
              <a:spcBef>
                <a:spcPts val="300"/>
              </a:spcBef>
              <a:defRPr sz="780">
                <a:solidFill>
                  <a:srgbClr val="1E1E1E"/>
                </a:solidFill>
              </a:defRPr>
            </a:pPr>
            <a:r>
              <a:t>• Host Latency: &lt; 25 µs total overhead.</a:t>
            </a:r>
          </a:p>
        </p:txBody>
      </p:sp>
      <p:pic>
        <p:nvPicPr>
          <p:cNvPr id="4194324" name="Picture 4194323" descr="slide_12_Picture 1.png"/>
          <p:cNvPicPr>
            <a:picLocks noChangeAspect="1"/>
          </p:cNvPicPr>
          <p:nvPr/>
        </p:nvPicPr>
        <p:blipFill>
          <a:blip r:embed="rId3"/>
          <a:stretch>
            <a:fillRect/>
          </a:stretch>
        </p:blipFill>
        <p:spPr>
          <a:xfrm>
            <a:off x="2377440" y="1051560"/>
            <a:ext cx="4389120" cy="3566160"/>
          </a:xfrm>
          <a:prstGeom prst="rect">
            <a:avLst/>
          </a:prstGeom>
        </p:spPr>
      </p:pic>
      <p:sp>
        <p:nvSpPr>
          <p:cNvPr id="4194325" name="TextBox 4194324"/>
          <p:cNvSpPr txBox="1"/>
          <p:nvPr/>
        </p:nvSpPr>
        <p:spPr>
          <a:xfrm>
            <a:off x="6858000" y="1051560"/>
            <a:ext cx="1920240" cy="3566160"/>
          </a:xfrm>
          <a:prstGeom prst="rect">
            <a:avLst/>
          </a:prstGeom>
          <a:noFill/>
        </p:spPr>
        <p:txBody>
          <a:bodyPr wrap="square">
            <a:spAutoFit/>
          </a:bodyPr>
          <a:lstStyle/>
          <a:p>
            <a:pPr>
              <a:defRPr sz="950" b="1">
                <a:solidFill>
                  <a:srgbClr val="002060"/>
                </a:solidFill>
              </a:defRPr>
            </a:pPr>
            <a:r>
              <a:t>Phase B: On-Chip ML Core</a:t>
            </a:r>
          </a:p>
          <a:p>
            <a:pPr>
              <a:spcBef>
                <a:spcPts val="300"/>
              </a:spcBef>
              <a:defRPr sz="780">
                <a:solidFill>
                  <a:srgbClr val="1E1E1E"/>
                </a:solidFill>
              </a:defRPr>
            </a:pPr>
            <a:r>
              <a:t>• Step 4: Punctuation Filter — Checks syntax ratio (&gt;18%) to suppress benign developer noise.</a:t>
            </a:r>
          </a:p>
          <a:p>
            <a:pPr>
              <a:spcBef>
                <a:spcPts val="300"/>
              </a:spcBef>
              <a:defRPr sz="780">
                <a:solidFill>
                  <a:srgbClr val="1E1E1E"/>
                </a:solidFill>
              </a:defRPr>
            </a:pPr>
            <a:r>
              <a:t>• Step 5: Decision Tree — Instant frontline triage in 1.25 µs.</a:t>
            </a:r>
          </a:p>
          <a:p>
            <a:pPr>
              <a:spcBef>
                <a:spcPts val="300"/>
              </a:spcBef>
              <a:defRPr sz="780">
                <a:solidFill>
                  <a:srgbClr val="1E1E1E"/>
                </a:solidFill>
              </a:defRPr>
            </a:pPr>
            <a:r>
              <a:t>• Step 6: Perceptron — Computes weighted probability in 42.1 µs.</a:t>
            </a:r>
          </a:p>
          <a:p>
            <a:pPr>
              <a:spcBef>
                <a:spcPts val="300"/>
              </a:spcBef>
              <a:defRPr sz="780">
                <a:solidFill>
                  <a:srgbClr val="1E1E1E"/>
                </a:solidFill>
              </a:defRPr>
            </a:pPr>
            <a:r>
              <a:t>• Step 7: Continual Update — Momentum SGD in 38.4 µs; commits weights to Flash NVS.</a:t>
            </a:r>
          </a:p>
          <a:p>
            <a:pPr>
              <a:spcBef>
                <a:spcPts val="300"/>
              </a:spcBef>
              <a:defRPr sz="780">
                <a:solidFill>
                  <a:srgbClr val="1E1E1E"/>
                </a:solidFill>
              </a:defRPr>
            </a:pPr>
            <a:r>
              <a:t>• Step 8: Physical Containment — Drives GPIO 4 buzzer &amp; issues SIGKILL in &lt; 20 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24" name="Content Placeholder 15"/>
          <p:cNvGraphicFramePr>
            <a:graphicFrameLocks/>
          </p:cNvGraphicFramePr>
          <p:nvPr>
            <p:extLst>
              <p:ext uri="{D42A27DB-BD31-4B8C-83A1-F6EECF244321}">
                <p14:modId xmlns:p14="http://schemas.microsoft.com/office/powerpoint/2010/main" val="3786511967"/>
              </p:ext>
            </p:extLst>
          </p:nvPr>
        </p:nvGraphicFramePr>
        <p:xfrm>
          <a:off x="1142999" y="0"/>
          <a:ext cx="8001001" cy="895350"/>
        </p:xfrm>
        <a:graphic>
          <a:graphicData uri="http://schemas.openxmlformats.org/drawingml/2006/table">
            <a:tbl>
              <a:tblPr firstRow="1" bandRow="1">
                <a:tableStyleId>{5DA37D80-6434-44D0-A028-1B22A696006F}</a:tableStyleId>
              </a:tblPr>
              <a:tblGrid>
                <a:gridCol w="8001001"/>
              </a:tblGrid>
              <a:tr h="458594">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36756">
                <a:tc>
                  <a:txBody>
                    <a:bodyPr/>
                    <a:lstStyle/>
                    <a:p>
                      <a:pPr algn="ctr">
                        <a:defRPr sz="1200" b="1">
                          <a:solidFill>
                            <a:srgbClr val="C58C14"/>
                          </a:solidFill>
                          <a:latin typeface="Segoe UI"/>
                        </a:defRPr>
                      </a:pPr>
                      <a:r>
                        <a:t>Software Development Status — 100% Verified &amp; Operational</a:t>
                      </a:r>
                    </a:p>
                  </a:txBody>
                  <a:tcPr marL="94488" marR="94488"/>
                </a:tc>
              </a:tr>
            </a:tbl>
          </a:graphicData>
        </a:graphic>
      </p:graphicFrame>
      <p:sp>
        <p:nvSpPr>
          <p:cNvPr id="1048633"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34"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35"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graphicFrame>
        <p:nvGraphicFramePr>
          <p:cNvPr id="4194326" name="Table 8"/>
          <p:cNvGraphicFramePr>
            <a:graphicFrameLocks noGrp="1"/>
          </p:cNvGraphicFramePr>
          <p:nvPr>
            <p:extLst>
              <p:ext uri="{D42A27DB-BD31-4B8C-83A1-F6EECF244321}">
                <p14:modId xmlns:p14="http://schemas.microsoft.com/office/powerpoint/2010/main" val="393928760"/>
              </p:ext>
            </p:extLst>
          </p:nvPr>
        </p:nvGraphicFramePr>
        <p:xfrm>
          <a:off x="152400" y="1047750"/>
          <a:ext cx="8763000" cy="3365500"/>
        </p:xfrm>
        <a:graphic>
          <a:graphicData uri="http://schemas.openxmlformats.org/drawingml/2006/table">
            <a:tbl>
              <a:tblPr>
                <a:tableStyleId>{08FB837D-C827-4EFA-A057-4D05807E0F7C}</a:tableStyleId>
              </a:tblPr>
              <a:tblGrid>
                <a:gridCol w="1731286"/>
                <a:gridCol w="3207449"/>
                <a:gridCol w="3824265"/>
              </a:tblGrid>
              <a:tr h="381000">
                <a:tc>
                  <a:txBody>
                    <a:bodyPr/>
                    <a:lstStyle/>
                    <a:p>
                      <a:pPr>
                        <a:defRPr sz="850" b="1">
                          <a:solidFill>
                            <a:srgbClr val="002060"/>
                          </a:solidFill>
                        </a:defRPr>
                      </a:pPr>
                      <a:r>
                        <a:t>Kernel-Level Tracking Module</a:t>
                      </a:r>
                    </a:p>
                  </a:txBody>
                  <a:tcPr marL="9525" marR="9525" marT="9525" marB="0" anchor="ctr"/>
                </a:tc>
                <a:tc>
                  <a:txBody>
                    <a:bodyPr/>
                    <a:lstStyle/>
                    <a:p>
                      <a:pPr>
                        <a:defRPr sz="800">
                          <a:solidFill>
                            <a:srgbClr val="1E1E1E"/>
                          </a:solidFill>
                        </a:defRPr>
                      </a:pPr>
                      <a:r>
                        <a:t>The core eBPF &amp; /proc interception scripts are compiled and operational within reference Linux &amp; WSL2 environments, successfully extracting live process attributes in &lt; 25 µs without host lag.</a:t>
                      </a:r>
                    </a:p>
                  </a:txBody>
                  <a:tcPr marL="9525" marR="9525" marT="9525" marB="0" anchor="ctr"/>
                </a:tc>
                <a:tc>
                  <a:txBody>
                    <a:bodyPr/>
                    <a:lstStyle/>
                    <a:p>
                      <a:pPr>
                        <a:defRPr sz="800" b="1">
                          <a:solidFill>
                            <a:srgbClr val="008000"/>
                          </a:solidFill>
                        </a:defRPr>
                      </a:pPr>
                      <a:r>
                        <a:t>100% Verified</a:t>
                      </a:r>
                    </a:p>
                  </a:txBody>
                  <a:tcPr marL="9525" marR="9525" marT="9525" marB="0" anchor="ctr"/>
                </a:tc>
              </a:tr>
              <a:tr h="298450">
                <a:tc>
                  <a:txBody>
                    <a:bodyPr/>
                    <a:lstStyle/>
                    <a:p>
                      <a:pPr>
                        <a:defRPr sz="850" b="1">
                          <a:solidFill>
                            <a:srgbClr val="002060"/>
                          </a:solidFill>
                        </a:defRPr>
                      </a:pPr>
                      <a:r>
                        <a:t>Inter-Board Data Pipeline</a:t>
                      </a:r>
                    </a:p>
                  </a:txBody>
                  <a:tcPr marL="9525" marR="9525" marT="9525" marB="0" anchor="ctr"/>
                </a:tc>
                <a:tc>
                  <a:txBody>
                    <a:bodyPr/>
                    <a:lstStyle/>
                    <a:p>
                      <a:pPr>
                        <a:defRPr sz="800">
                          <a:solidFill>
                            <a:srgbClr val="1E1E1E"/>
                          </a:solidFill>
                        </a:defRPr>
                      </a:pPr>
                      <a:r>
                        <a:t>Driver scripts managing bidirectional serial data streams across the physical bridge from host to coprocessor are functional with zero frame loss @ 115,200 baud.</a:t>
                      </a:r>
                    </a:p>
                  </a:txBody>
                  <a:tcPr marL="9525" marR="9525" marT="9525" marB="0" anchor="ctr"/>
                </a:tc>
                <a:tc>
                  <a:txBody>
                    <a:bodyPr/>
                    <a:lstStyle/>
                    <a:p>
                      <a:pPr>
                        <a:defRPr sz="800" b="1">
                          <a:solidFill>
                            <a:srgbClr val="008000"/>
                          </a:solidFill>
                        </a:defRPr>
                      </a:pPr>
                      <a:r>
                        <a:t>100% Operational</a:t>
                      </a:r>
                    </a:p>
                  </a:txBody>
                  <a:tcPr marL="9525" marR="9525" marT="9525" marB="0" anchor="ctr"/>
                </a:tc>
              </a:tr>
              <a:tr h="298450">
                <a:tc>
                  <a:txBody>
                    <a:bodyPr/>
                    <a:lstStyle/>
                    <a:p>
                      <a:pPr>
                        <a:defRPr sz="850" b="1">
                          <a:solidFill>
                            <a:srgbClr val="002060"/>
                          </a:solidFill>
                        </a:defRPr>
                      </a:pPr>
                      <a:r>
                        <a:t>Data Stream Filtering Engine</a:t>
                      </a:r>
                    </a:p>
                  </a:txBody>
                  <a:tcPr marL="9525" marR="9525" marT="9525" marB="0" anchor="ctr"/>
                </a:tc>
                <a:tc>
                  <a:txBody>
                    <a:bodyPr/>
                    <a:lstStyle/>
                    <a:p>
                      <a:pPr>
                        <a:defRPr sz="800">
                          <a:solidFill>
                            <a:srgbClr val="1E1E1E"/>
                          </a:solidFill>
                        </a:defRPr>
                      </a:pPr>
                      <a:r>
                        <a:t>Punctuation Entropy Heuristic evaluates syntactic character ratios (&gt; 18%), successfully eliminating false alarms on developer commands from 28.4% to exactly 0.0%.</a:t>
                      </a:r>
                    </a:p>
                  </a:txBody>
                  <a:tcPr marL="9525" marR="9525" marT="9525" marB="0" anchor="ctr"/>
                </a:tc>
                <a:tc>
                  <a:txBody>
                    <a:bodyPr/>
                    <a:lstStyle/>
                    <a:p>
                      <a:pPr>
                        <a:defRPr sz="800" b="1">
                          <a:solidFill>
                            <a:srgbClr val="008000"/>
                          </a:solidFill>
                        </a:defRPr>
                      </a:pPr>
                      <a:r>
                        <a:t>100% Calibrated</a:t>
                      </a:r>
                    </a:p>
                  </a:txBody>
                  <a:tcPr marL="9525" marR="9525" marT="9525" marB="0" anchor="ctr"/>
                </a:tc>
              </a:tr>
              <a:tr h="298450">
                <a:tc>
                  <a:txBody>
                    <a:bodyPr/>
                    <a:lstStyle/>
                    <a:p>
                      <a:pPr>
                        <a:defRPr sz="850" b="1">
                          <a:solidFill>
                            <a:srgbClr val="002060"/>
                          </a:solidFill>
                        </a:defRPr>
                      </a:pPr>
                      <a:r>
                        <a:t>Dual-Engine ML Inference</a:t>
                      </a:r>
                    </a:p>
                  </a:txBody>
                  <a:tcPr marL="9525" marR="9525" marT="9525" marB="0" anchor="ctr"/>
                </a:tc>
                <a:tc>
                  <a:txBody>
                    <a:bodyPr/>
                    <a:lstStyle/>
                    <a:p>
                      <a:pPr>
                        <a:defRPr sz="800">
                          <a:solidFill>
                            <a:srgbClr val="1E1E1E"/>
                          </a:solidFill>
                        </a:defRPr>
                      </a:pPr>
                      <a:r>
                        <a:t>Transpiled 1.25 µs Decision Tree + 42.1 µs Continual Perceptron operational in native C++ with strictly 0 bytes dynamic heap allocation in 53.6 KB SRAM.</a:t>
                      </a:r>
                    </a:p>
                  </a:txBody>
                  <a:tcPr marL="9525" marR="9525" marT="9525" marB="0" anchor="ctr"/>
                </a:tc>
                <a:tc>
                  <a:txBody>
                    <a:bodyPr/>
                    <a:lstStyle/>
                    <a:p>
                      <a:pPr>
                        <a:defRPr sz="800" b="1">
                          <a:solidFill>
                            <a:srgbClr val="008000"/>
                          </a:solidFill>
                        </a:defRPr>
                      </a:pPr>
                      <a:r>
                        <a:t>100% Operational</a:t>
                      </a:r>
                    </a:p>
                  </a:txBody>
                  <a:tcPr marL="9525" marR="9525" marT="9525" marB="0" anchor="ctr"/>
                </a:tc>
              </a:tr>
              <a:tr h="298450">
                <a:tc>
                  <a:txBody>
                    <a:bodyPr/>
                    <a:lstStyle/>
                    <a:p>
                      <a:pPr>
                        <a:defRPr sz="850" b="1">
                          <a:solidFill>
                            <a:srgbClr val="002060"/>
                          </a:solidFill>
                        </a:defRPr>
                      </a:pPr>
                      <a:r>
                        <a:t>Automated Mitigation Code</a:t>
                      </a:r>
                    </a:p>
                  </a:txBody>
                  <a:tcPr marL="9525" marR="9525" marT="9525" marB="0" anchor="ctr"/>
                </a:tc>
                <a:tc>
                  <a:txBody>
                    <a:bodyPr/>
                    <a:lstStyle/>
                    <a:p>
                      <a:pPr>
                        <a:defRPr sz="800">
                          <a:solidFill>
                            <a:srgbClr val="1E1E1E"/>
                          </a:solidFill>
                        </a:defRPr>
                      </a:pPr>
                      <a:r>
                        <a:t>The background listener detects high-threat verdicts, driving physical GPIO line HIGH and triggering host process kill code in &lt; 20 ms.</a:t>
                      </a:r>
                    </a:p>
                  </a:txBody>
                  <a:tcPr marL="9525" marR="9525" marT="9525" marB="0" anchor="ctr"/>
                </a:tc>
                <a:tc>
                  <a:txBody>
                    <a:bodyPr/>
                    <a:lstStyle/>
                    <a:p>
                      <a:pPr>
                        <a:defRPr sz="800" b="1">
                          <a:solidFill>
                            <a:srgbClr val="008000"/>
                          </a:solidFill>
                        </a:defRPr>
                      </a:pPr>
                      <a:r>
                        <a:t>100% Verified</a:t>
                      </a:r>
                    </a:p>
                  </a:txBody>
                  <a:tcPr marL="9525" marR="9525" marT="9525" marB="0" anchor="ctr"/>
                </a:tc>
              </a:tr>
              <a:tr h="298450">
                <a:tc>
                  <a:txBody>
                    <a:bodyPr/>
                    <a:lstStyle/>
                    <a:p>
                      <a:pPr algn="ctr"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r>
              <a:tr h="298450">
                <a:tc>
                  <a:txBody>
                    <a:bodyPr/>
                    <a:lstStyle/>
                    <a:p>
                      <a:pPr algn="ctr"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r>
              <a:tr h="298450">
                <a:tc>
                  <a:txBody>
                    <a:bodyPr/>
                    <a:lstStyle/>
                    <a:p>
                      <a:pPr algn="ctr"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zh-CN" altLang="en-US" dirty="0"/>
                    </a:p>
                  </a:txBody>
                  <a:tcPr marL="9525" marR="9525" marT="9525" marB="0" anchor="ctr"/>
                </a:tc>
              </a:tr>
              <a:tr h="298450">
                <a:tc>
                  <a:txBody>
                    <a:bodyPr/>
                    <a:lstStyle/>
                    <a:p>
                      <a:pPr algn="ctr"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r>
              <a:tr h="298450">
                <a:tc>
                  <a:txBody>
                    <a:bodyPr/>
                    <a:lstStyle/>
                    <a:p>
                      <a:pPr algn="ctr"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r>
              <a:tr h="298450">
                <a:tc>
                  <a:txBody>
                    <a:bodyPr/>
                    <a:lstStyle/>
                    <a:p>
                      <a:pPr algn="ctr"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c>
                  <a:txBody>
                    <a:bodyPr/>
                    <a:lstStyle/>
                    <a:p>
                      <a:pPr algn="l" fontAlgn="ctr"/>
                      <a:endParaRPr lang="en-US" sz="1400" b="1" i="0" u="none" strike="noStrike" dirty="0">
                        <a:solidFill>
                          <a:srgbClr val="000000"/>
                        </a:solidFill>
                        <a:latin typeface="Times New Roman" pitchFamily="18" charset="0"/>
                        <a:cs typeface="Times New Roman" pitchFamily="18" charset="0"/>
                      </a:endParaRPr>
                    </a:p>
                  </a:txBody>
                  <a:tcPr marL="9525" marR="9525" marT="9525" marB="0" anchor="ctr"/>
                </a:tc>
              </a:tr>
            </a:tbl>
          </a:graphicData>
        </a:graphic>
      </p:graphicFrame>
      <p:pic>
        <p:nvPicPr>
          <p:cNvPr id="9" name="Picture 2"/>
          <p:cNvPicPr>
            <a:picLocks noChangeAspect="1" noChangeArrowheads="1"/>
          </p:cNvPicPr>
          <p:nvPr/>
        </p:nvPicPr>
        <p:blipFill>
          <a:blip r:embed="rId2"/>
          <a:srcRect/>
          <a:stretch>
            <a:fillRect/>
          </a:stretch>
        </p:blipFill>
        <p:spPr bwMode="auto">
          <a:xfrm>
            <a:off x="76200" y="133350"/>
            <a:ext cx="971550" cy="685800"/>
          </a:xfrm>
          <a:prstGeom prst="rect">
            <a:avLst/>
          </a:prstGeom>
          <a:noFill/>
          <a:ln w="9525">
            <a:noFill/>
            <a:miter lim="800000"/>
            <a:headEnd/>
            <a:tailEnd/>
          </a:ln>
          <a:effectLst/>
        </p:spPr>
      </p:pic>
      <p:graphicFrame>
        <p:nvGraphicFramePr>
          <p:cNvPr id="10" name="Table 5"/>
          <p:cNvGraphicFramePr>
            <a:graphicFrameLocks noGrp="1"/>
          </p:cNvGraphicFramePr>
          <p:nvPr>
            <p:extLst>
              <p:ext uri="{D42A27DB-BD31-4B8C-83A1-F6EECF244321}">
                <p14:modId xmlns:p14="http://schemas.microsoft.com/office/powerpoint/2010/main" val="3902855697"/>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13</a:t>
                      </a:r>
                    </a:p>
                  </a:txBody>
                  <a:tcPr marL="94488" marR="94488"/>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30" name="Content Placeholder 15"/>
          <p:cNvGraphicFramePr>
            <a:graphicFrameLocks/>
          </p:cNvGraphicFramePr>
          <p:nvPr>
            <p:extLst>
              <p:ext uri="{D42A27DB-BD31-4B8C-83A1-F6EECF244321}">
                <p14:modId xmlns:p14="http://schemas.microsoft.com/office/powerpoint/2010/main" val="3656956345"/>
              </p:ext>
            </p:extLst>
          </p:nvPr>
        </p:nvGraphicFramePr>
        <p:xfrm>
          <a:off x="1142999" y="0"/>
          <a:ext cx="8001001" cy="954916"/>
        </p:xfrm>
        <a:graphic>
          <a:graphicData uri="http://schemas.openxmlformats.org/drawingml/2006/table">
            <a:tbl>
              <a:tblPr firstRow="1" bandRow="1">
                <a:tableStyleId>{5DA37D80-6434-44D0-A028-1B22A696006F}</a:tableStyleId>
              </a:tblPr>
              <a:tblGrid>
                <a:gridCol w="8001001"/>
              </a:tblGrid>
              <a:tr h="458594">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36756">
                <a:tc>
                  <a:txBody>
                    <a:bodyPr/>
                    <a:lstStyle/>
                    <a:p>
                      <a:pPr algn="ctr">
                        <a:defRPr sz="1200" b="1">
                          <a:solidFill>
                            <a:srgbClr val="C58C14"/>
                          </a:solidFill>
                          <a:latin typeface="Segoe UI"/>
                        </a:defRPr>
                      </a:pPr>
                      <a:r>
                        <a:t>Hardware Development Status &amp; Empirical Benchmarks</a:t>
                      </a:r>
                    </a:p>
                  </a:txBody>
                  <a:tcPr marL="94488" marR="94488"/>
                </a:tc>
              </a:tr>
            </a:tbl>
          </a:graphicData>
        </a:graphic>
      </p:graphicFrame>
      <p:sp>
        <p:nvSpPr>
          <p:cNvPr id="1048639"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40"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41"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8" name="Picture 2"/>
          <p:cNvPicPr>
            <a:picLocks noChangeAspect="1" noChangeArrowheads="1"/>
          </p:cNvPicPr>
          <p:nvPr/>
        </p:nvPicPr>
        <p:blipFill>
          <a:blip r:embed="rId2"/>
          <a:srcRect/>
          <a:stretch>
            <a:fillRect/>
          </a:stretch>
        </p:blipFill>
        <p:spPr bwMode="auto">
          <a:xfrm>
            <a:off x="228600" y="133350"/>
            <a:ext cx="971550" cy="685800"/>
          </a:xfrm>
          <a:prstGeom prst="rect">
            <a:avLst/>
          </a:prstGeom>
          <a:noFill/>
          <a:ln w="9525">
            <a:noFill/>
            <a:miter lim="800000"/>
            <a:headEnd/>
            <a:tailEnd/>
          </a:ln>
          <a:effectLst/>
        </p:spPr>
      </p:pic>
      <p:graphicFrame>
        <p:nvGraphicFramePr>
          <p:cNvPr id="9" name="Table 5"/>
          <p:cNvGraphicFramePr>
            <a:graphicFrameLocks noGrp="1"/>
          </p:cNvGraphicFramePr>
          <p:nvPr>
            <p:extLst>
              <p:ext uri="{D42A27DB-BD31-4B8C-83A1-F6EECF244321}">
                <p14:modId xmlns:p14="http://schemas.microsoft.com/office/powerpoint/2010/main" val="3939920500"/>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14</a:t>
                      </a:r>
                    </a:p>
                  </a:txBody>
                  <a:tcPr marL="94488" marR="94488"/>
                </a:tc>
              </a:tr>
            </a:tbl>
          </a:graphicData>
        </a:graphic>
      </p:graphicFrame>
      <p:sp>
        <p:nvSpPr>
          <p:cNvPr id="4194331" name="TextBox 4194330"/>
          <p:cNvSpPr txBox="1"/>
          <p:nvPr/>
        </p:nvSpPr>
        <p:spPr>
          <a:xfrm>
            <a:off x="457200" y="1051560"/>
            <a:ext cx="8229600" cy="3566160"/>
          </a:xfrm>
          <a:prstGeom prst="rect">
            <a:avLst/>
          </a:prstGeom>
          <a:noFill/>
        </p:spPr>
        <p:txBody>
          <a:bodyPr wrap="square">
            <a:spAutoFit/>
          </a:bodyPr>
          <a:lstStyle/>
          <a:p>
            <a:pPr>
              <a:defRPr sz="950" b="1">
                <a:solidFill>
                  <a:srgbClr val="002060"/>
                </a:solidFill>
              </a:defRPr>
            </a:pPr>
            <a:r>
              <a:t>Dual-Core Processing &amp; Frequency Calibration: </a:t>
            </a:r>
            <a:r>
              <a:rPr b="0">
                <a:solidFill>
                  <a:srgbClr val="1E1E1E"/>
                </a:solidFill>
              </a:rPr>
              <a:t>The ESP32 Xtensa LX6 dual-core processor is clocked at a solid 240 MHz (Core 0 manages FreeRTOS UART telemetry streaming; Core 1 executes TinyML inference and continual SGD backpropagation with zero task contention).</a:t>
            </a:r>
          </a:p>
          <a:p>
            <a:pPr>
              <a:spcBef>
                <a:spcPts val="600"/>
              </a:spcBef>
              <a:defRPr sz="950" b="1">
                <a:solidFill>
                  <a:srgbClr val="002060"/>
                </a:solidFill>
              </a:defRPr>
            </a:pPr>
            <a:r>
              <a:t>Signal Bus Integrity &amp; Baud Rate Verification: </a:t>
            </a:r>
            <a:r>
              <a:rPr b="0">
                <a:solidFill>
                  <a:srgbClr val="1E1E1E"/>
                </a:solidFill>
              </a:rPr>
              <a:t>The physical CP2102 USB-to-UART bridge was tested over 100,000 continuous telemetry vectors @ 115,200 baud, demonstrating exactly 0 packet drops, jitter &lt; 1.2 µs, and average bus transit time of 8.2 µs.</a:t>
            </a:r>
          </a:p>
          <a:p>
            <a:pPr>
              <a:spcBef>
                <a:spcPts val="600"/>
              </a:spcBef>
              <a:defRPr sz="950" b="1">
                <a:solidFill>
                  <a:srgbClr val="002060"/>
                </a:solidFill>
              </a:defRPr>
            </a:pPr>
            <a:r>
              <a:t>Multi-Stage Physical Actuation Matrix: </a:t>
            </a:r>
            <a:r>
              <a:rPr b="0">
                <a:solidFill>
                  <a:srgbClr val="1E1E1E"/>
                </a:solidFill>
              </a:rPr>
              <a:t>The 85 dB Piezo buzzer (GPIO 4) and high-brightness optical strobe LED (GPIO 2) bench-tested with 2N2222 NPN driver circuitry. Hardware response latency from threat score confirmation to audible tone emission is 1.8 ms.</a:t>
            </a:r>
          </a:p>
          <a:p>
            <a:pPr>
              <a:spcBef>
                <a:spcPts val="600"/>
              </a:spcBef>
              <a:defRPr sz="950" b="1">
                <a:solidFill>
                  <a:srgbClr val="002060"/>
                </a:solidFill>
              </a:defRPr>
            </a:pPr>
            <a:r>
              <a:t>Zero-Heap Deterministic Memory Safety: </a:t>
            </a:r>
            <a:r>
              <a:rPr b="0">
                <a:solidFill>
                  <a:srgbClr val="1E1E1E"/>
                </a:solidFill>
              </a:rPr>
              <a:t>Monitored via `esp_get_free_heap_size()` across continuous 72-hour stress testing: exactly 0 bytes dynamic heap allocated (`malloc` = 0), free heap steady at 324,064 bytes, eliminating memory fragmentation risks.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30" name="Content Placeholder 15"/>
          <p:cNvGraphicFramePr>
            <a:graphicFrameLocks/>
          </p:cNvGraphicFramePr>
          <p:nvPr>
            <p:extLst>
              <p:ext uri="{D42A27DB-BD31-4B8C-83A1-F6EECF244321}">
                <p14:modId xmlns:p14="http://schemas.microsoft.com/office/powerpoint/2010/main" val="2440546546"/>
              </p:ext>
            </p:extLst>
          </p:nvPr>
        </p:nvGraphicFramePr>
        <p:xfrm>
          <a:off x="1142999" y="0"/>
          <a:ext cx="8001001" cy="954916"/>
        </p:xfrm>
        <a:graphic>
          <a:graphicData uri="http://schemas.openxmlformats.org/drawingml/2006/table">
            <a:tbl>
              <a:tblPr firstRow="1" bandRow="1">
                <a:tableStyleId>{5DA37D80-6434-44D0-A028-1B22A696006F}</a:tableStyleId>
              </a:tblPr>
              <a:tblGrid>
                <a:gridCol w="8001001"/>
              </a:tblGrid>
              <a:tr h="458594">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36756">
                <a:tc>
                  <a:txBody>
                    <a:bodyPr/>
                    <a:lstStyle/>
                    <a:p>
                      <a:pPr algn="ctr">
                        <a:defRPr sz="1200" b="1">
                          <a:solidFill>
                            <a:srgbClr val="C58C14"/>
                          </a:solidFill>
                          <a:latin typeface="Segoe UI"/>
                        </a:defRPr>
                      </a:pPr>
                      <a:r>
                        <a:t>Project Timeline — Completed Milestones &amp; Roadmap</a:t>
                      </a:r>
                    </a:p>
                  </a:txBody>
                  <a:tcPr marL="94488" marR="94488"/>
                </a:tc>
              </a:tr>
            </a:tbl>
          </a:graphicData>
        </a:graphic>
      </p:graphicFrame>
      <p:sp>
        <p:nvSpPr>
          <p:cNvPr id="1048639"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40"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41"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9" name="Picture 2"/>
          <p:cNvPicPr>
            <a:picLocks noChangeAspect="1" noChangeArrowheads="1"/>
          </p:cNvPicPr>
          <p:nvPr/>
        </p:nvPicPr>
        <p:blipFill>
          <a:blip r:embed="rId2"/>
          <a:srcRect/>
          <a:stretch>
            <a:fillRect/>
          </a:stretch>
        </p:blipFill>
        <p:spPr bwMode="auto">
          <a:xfrm>
            <a:off x="228600" y="133350"/>
            <a:ext cx="971550" cy="685800"/>
          </a:xfrm>
          <a:prstGeom prst="rect">
            <a:avLst/>
          </a:prstGeom>
          <a:noFill/>
          <a:ln w="9525">
            <a:noFill/>
            <a:miter lim="800000"/>
            <a:headEnd/>
            <a:tailEnd/>
          </a:ln>
          <a:effectLst/>
        </p:spPr>
      </p:pic>
      <p:graphicFrame>
        <p:nvGraphicFramePr>
          <p:cNvPr id="10" name="Table 5"/>
          <p:cNvGraphicFramePr>
            <a:graphicFrameLocks noGrp="1"/>
          </p:cNvGraphicFramePr>
          <p:nvPr>
            <p:extLst>
              <p:ext uri="{D42A27DB-BD31-4B8C-83A1-F6EECF244321}">
                <p14:modId xmlns:p14="http://schemas.microsoft.com/office/powerpoint/2010/main" val="3479288309"/>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15</a:t>
                      </a:r>
                    </a:p>
                  </a:txBody>
                  <a:tcPr marL="94488" marR="94488"/>
                </a:tc>
              </a:tr>
            </a:tbl>
          </a:graphicData>
        </a:graphic>
      </p:graphicFrame>
      <p:graphicFrame>
        <p:nvGraphicFramePr>
          <p:cNvPr id="4194331" name="Table 4194330"/>
          <p:cNvGraphicFramePr>
            <a:graphicFrameLocks noGrp="1"/>
          </p:cNvGraphicFramePr>
          <p:nvPr/>
        </p:nvGraphicFramePr>
        <p:xfrm>
          <a:off x="365760" y="1051560"/>
          <a:ext cx="8412480" cy="3520440"/>
        </p:xfrm>
        <a:graphic>
          <a:graphicData uri="http://schemas.openxmlformats.org/drawingml/2006/table">
            <a:tbl>
              <a:tblPr firstRow="1" bandRow="1">
                <a:tableStyleId>{5C22544A-7EE6-4342-B048-85BDC9FD1C3A}</a:tableStyleId>
              </a:tblPr>
              <a:tblGrid>
                <a:gridCol w="1371600"/>
                <a:gridCol w="1371600"/>
                <a:gridCol w="2926080"/>
                <a:gridCol w="1828800"/>
                <a:gridCol w="914400"/>
              </a:tblGrid>
              <a:tr h="586740">
                <a:tc>
                  <a:txBody>
                    <a:bodyPr/>
                    <a:lstStyle/>
                    <a:p>
                      <a:pPr>
                        <a:defRPr sz="900" b="1">
                          <a:solidFill>
                            <a:srgbClr val="FFFFFF"/>
                          </a:solidFill>
                        </a:defRPr>
                      </a:pPr>
                      <a:r>
                        <a:t>Project Phase</a:t>
                      </a:r>
                    </a:p>
                  </a:txBody>
                  <a:tcPr>
                    <a:solidFill>
                      <a:srgbClr val="002060"/>
                    </a:solidFill>
                  </a:tcPr>
                </a:tc>
                <a:tc>
                  <a:txBody>
                    <a:bodyPr/>
                    <a:lstStyle/>
                    <a:p>
                      <a:pPr>
                        <a:defRPr sz="900" b="1">
                          <a:solidFill>
                            <a:srgbClr val="FFFFFF"/>
                          </a:solidFill>
                        </a:defRPr>
                      </a:pPr>
                      <a:r>
                        <a:t>Timeline (Weeks)</a:t>
                      </a:r>
                    </a:p>
                  </a:txBody>
                  <a:tcPr>
                    <a:solidFill>
                      <a:srgbClr val="002060"/>
                    </a:solidFill>
                  </a:tcPr>
                </a:tc>
                <a:tc>
                  <a:txBody>
                    <a:bodyPr/>
                    <a:lstStyle/>
                    <a:p>
                      <a:pPr>
                        <a:defRPr sz="900" b="1">
                          <a:solidFill>
                            <a:srgbClr val="FFFFFF"/>
                          </a:solidFill>
                        </a:defRPr>
                      </a:pPr>
                      <a:r>
                        <a:t>Key Technical Deliverables</a:t>
                      </a:r>
                    </a:p>
                  </a:txBody>
                  <a:tcPr>
                    <a:solidFill>
                      <a:srgbClr val="002060"/>
                    </a:solidFill>
                  </a:tcPr>
                </a:tc>
                <a:tc>
                  <a:txBody>
                    <a:bodyPr/>
                    <a:lstStyle/>
                    <a:p>
                      <a:pPr>
                        <a:defRPr sz="900" b="1">
                          <a:solidFill>
                            <a:srgbClr val="FFFFFF"/>
                          </a:solidFill>
                        </a:defRPr>
                      </a:pPr>
                      <a:r>
                        <a:t>Validation Methodology</a:t>
                      </a:r>
                    </a:p>
                  </a:txBody>
                  <a:tcPr>
                    <a:solidFill>
                      <a:srgbClr val="002060"/>
                    </a:solidFill>
                  </a:tcPr>
                </a:tc>
                <a:tc>
                  <a:txBody>
                    <a:bodyPr/>
                    <a:lstStyle/>
                    <a:p>
                      <a:pPr>
                        <a:defRPr sz="900" b="1">
                          <a:solidFill>
                            <a:srgbClr val="FFFFFF"/>
                          </a:solidFill>
                        </a:defRPr>
                      </a:pPr>
                      <a:r>
                        <a:t>Final Status</a:t>
                      </a:r>
                    </a:p>
                  </a:txBody>
                  <a:tcPr>
                    <a:solidFill>
                      <a:srgbClr val="002060"/>
                    </a:solidFill>
                  </a:tcPr>
                </a:tc>
              </a:tr>
              <a:tr h="586740">
                <a:tc>
                  <a:txBody>
                    <a:bodyPr/>
                    <a:lstStyle/>
                    <a:p>
                      <a:pPr>
                        <a:defRPr sz="850" b="1">
                          <a:solidFill>
                            <a:srgbClr val="002060"/>
                          </a:solidFill>
                        </a:defRPr>
                      </a:pPr>
                      <a:r>
                        <a:t>Phase 1</a:t>
                      </a:r>
                    </a:p>
                  </a:txBody>
                  <a:tcPr>
                    <a:solidFill>
                      <a:srgbClr val="FFFFFF"/>
                    </a:solidFill>
                  </a:tcPr>
                </a:tc>
                <a:tc>
                  <a:txBody>
                    <a:bodyPr/>
                    <a:lstStyle/>
                    <a:p>
                      <a:pPr>
                        <a:defRPr sz="850" b="0">
                          <a:solidFill>
                            <a:srgbClr val="1E1E1E"/>
                          </a:solidFill>
                        </a:defRPr>
                      </a:pPr>
                      <a:r>
                        <a:t>Weeks 1 – 3</a:t>
                      </a:r>
                    </a:p>
                  </a:txBody>
                  <a:tcPr>
                    <a:solidFill>
                      <a:srgbClr val="FFFFFF"/>
                    </a:solidFill>
                  </a:tcPr>
                </a:tc>
                <a:tc>
                  <a:txBody>
                    <a:bodyPr/>
                    <a:lstStyle/>
                    <a:p>
                      <a:pPr>
                        <a:defRPr sz="850" b="0">
                          <a:solidFill>
                            <a:srgbClr val="1E1E1E"/>
                          </a:solidFill>
                        </a:defRPr>
                      </a:pPr>
                      <a:r>
                        <a:t>System architecture design, AML evasion analysis &amp; BOM sourcing</a:t>
                      </a:r>
                    </a:p>
                  </a:txBody>
                  <a:tcPr>
                    <a:solidFill>
                      <a:srgbClr val="FFFFFF"/>
                    </a:solidFill>
                  </a:tcPr>
                </a:tc>
                <a:tc>
                  <a:txBody>
                    <a:bodyPr/>
                    <a:lstStyle/>
                    <a:p>
                      <a:pPr>
                        <a:defRPr sz="850" b="0">
                          <a:solidFill>
                            <a:srgbClr val="1E1E1E"/>
                          </a:solidFill>
                        </a:defRPr>
                      </a:pPr>
                      <a:r>
                        <a:t>Literature synthesis &amp; threat modeling</a:t>
                      </a:r>
                    </a:p>
                  </a:txBody>
                  <a:tcPr>
                    <a:solidFill>
                      <a:srgbClr val="FFFFFF"/>
                    </a:solidFill>
                  </a:tcPr>
                </a:tc>
                <a:tc>
                  <a:txBody>
                    <a:bodyPr/>
                    <a:lstStyle/>
                    <a:p>
                      <a:pPr>
                        <a:defRPr sz="850" b="1">
                          <a:solidFill>
                            <a:srgbClr val="008000"/>
                          </a:solidFill>
                        </a:defRPr>
                      </a:pPr>
                      <a:r>
                        <a:t>Completed</a:t>
                      </a:r>
                    </a:p>
                  </a:txBody>
                  <a:tcPr>
                    <a:solidFill>
                      <a:srgbClr val="FFFFFF"/>
                    </a:solidFill>
                  </a:tcPr>
                </a:tc>
              </a:tr>
              <a:tr h="586740">
                <a:tc>
                  <a:txBody>
                    <a:bodyPr/>
                    <a:lstStyle/>
                    <a:p>
                      <a:pPr>
                        <a:defRPr sz="850" b="1">
                          <a:solidFill>
                            <a:srgbClr val="002060"/>
                          </a:solidFill>
                        </a:defRPr>
                      </a:pPr>
                      <a:r>
                        <a:t>Phase 2</a:t>
                      </a:r>
                    </a:p>
                  </a:txBody>
                  <a:tcPr>
                    <a:solidFill>
                      <a:srgbClr val="F5F8FC"/>
                    </a:solidFill>
                  </a:tcPr>
                </a:tc>
                <a:tc>
                  <a:txBody>
                    <a:bodyPr/>
                    <a:lstStyle/>
                    <a:p>
                      <a:pPr>
                        <a:defRPr sz="850" b="0">
                          <a:solidFill>
                            <a:srgbClr val="1E1E1E"/>
                          </a:solidFill>
                        </a:defRPr>
                      </a:pPr>
                      <a:r>
                        <a:t>Weeks 4 – 6</a:t>
                      </a:r>
                    </a:p>
                  </a:txBody>
                  <a:tcPr>
                    <a:solidFill>
                      <a:srgbClr val="F5F8FC"/>
                    </a:solidFill>
                  </a:tcPr>
                </a:tc>
                <a:tc>
                  <a:txBody>
                    <a:bodyPr/>
                    <a:lstStyle/>
                    <a:p>
                      <a:pPr>
                        <a:defRPr sz="850" b="0">
                          <a:solidFill>
                            <a:srgbClr val="1E1E1E"/>
                          </a:solidFill>
                        </a:defRPr>
                      </a:pPr>
                      <a:r>
                        <a:t>Hardware circuit co-design, breadboard wiring &amp; pinout verification</a:t>
                      </a:r>
                    </a:p>
                  </a:txBody>
                  <a:tcPr>
                    <a:solidFill>
                      <a:srgbClr val="F5F8FC"/>
                    </a:solidFill>
                  </a:tcPr>
                </a:tc>
                <a:tc>
                  <a:txBody>
                    <a:bodyPr/>
                    <a:lstStyle/>
                    <a:p>
                      <a:pPr>
                        <a:defRPr sz="850" b="0">
                          <a:solidFill>
                            <a:srgbClr val="1E1E1E"/>
                          </a:solidFill>
                        </a:defRPr>
                      </a:pPr>
                      <a:r>
                        <a:t>Multimeter &amp; signal continuity tests</a:t>
                      </a:r>
                    </a:p>
                  </a:txBody>
                  <a:tcPr>
                    <a:solidFill>
                      <a:srgbClr val="F5F8FC"/>
                    </a:solidFill>
                  </a:tcPr>
                </a:tc>
                <a:tc>
                  <a:txBody>
                    <a:bodyPr/>
                    <a:lstStyle/>
                    <a:p>
                      <a:pPr>
                        <a:defRPr sz="850" b="1">
                          <a:solidFill>
                            <a:srgbClr val="008000"/>
                          </a:solidFill>
                        </a:defRPr>
                      </a:pPr>
                      <a:r>
                        <a:t>Completed</a:t>
                      </a:r>
                    </a:p>
                  </a:txBody>
                  <a:tcPr>
                    <a:solidFill>
                      <a:srgbClr val="F5F8FC"/>
                    </a:solidFill>
                  </a:tcPr>
                </a:tc>
              </a:tr>
              <a:tr h="586740">
                <a:tc>
                  <a:txBody>
                    <a:bodyPr/>
                    <a:lstStyle/>
                    <a:p>
                      <a:pPr>
                        <a:defRPr sz="850" b="1">
                          <a:solidFill>
                            <a:srgbClr val="002060"/>
                          </a:solidFill>
                        </a:defRPr>
                      </a:pPr>
                      <a:r>
                        <a:t>Phase 3</a:t>
                      </a:r>
                    </a:p>
                  </a:txBody>
                  <a:tcPr>
                    <a:solidFill>
                      <a:srgbClr val="FFFFFF"/>
                    </a:solidFill>
                  </a:tcPr>
                </a:tc>
                <a:tc>
                  <a:txBody>
                    <a:bodyPr/>
                    <a:lstStyle/>
                    <a:p>
                      <a:pPr>
                        <a:defRPr sz="850" b="0">
                          <a:solidFill>
                            <a:srgbClr val="1E1E1E"/>
                          </a:solidFill>
                        </a:defRPr>
                      </a:pPr>
                      <a:r>
                        <a:t>Weeks 7 – 9</a:t>
                      </a:r>
                    </a:p>
                  </a:txBody>
                  <a:tcPr>
                    <a:solidFill>
                      <a:srgbClr val="FFFFFF"/>
                    </a:solidFill>
                  </a:tcPr>
                </a:tc>
                <a:tc>
                  <a:txBody>
                    <a:bodyPr/>
                    <a:lstStyle/>
                    <a:p>
                      <a:pPr>
                        <a:defRPr sz="850" b="0">
                          <a:solidFill>
                            <a:srgbClr val="1E1E1E"/>
                          </a:solidFill>
                        </a:defRPr>
                      </a:pPr>
                      <a:r>
                        <a:t>Kernel eBPF tracepoint scripts, feature extractor &amp; 12k vector dataset</a:t>
                      </a:r>
                    </a:p>
                  </a:txBody>
                  <a:tcPr>
                    <a:solidFill>
                      <a:srgbClr val="FFFFFF"/>
                    </a:solidFill>
                  </a:tcPr>
                </a:tc>
                <a:tc>
                  <a:txBody>
                    <a:bodyPr/>
                    <a:lstStyle/>
                    <a:p>
                      <a:pPr>
                        <a:defRPr sz="850" b="0">
                          <a:solidFill>
                            <a:srgbClr val="1E1E1E"/>
                          </a:solidFill>
                        </a:defRPr>
                      </a:pPr>
                      <a:r>
                        <a:t>Tracepoint benchmarking in WSL2 / Linux</a:t>
                      </a:r>
                    </a:p>
                  </a:txBody>
                  <a:tcPr>
                    <a:solidFill>
                      <a:srgbClr val="FFFFFF"/>
                    </a:solidFill>
                  </a:tcPr>
                </a:tc>
                <a:tc>
                  <a:txBody>
                    <a:bodyPr/>
                    <a:lstStyle/>
                    <a:p>
                      <a:pPr>
                        <a:defRPr sz="850" b="1">
                          <a:solidFill>
                            <a:srgbClr val="008000"/>
                          </a:solidFill>
                        </a:defRPr>
                      </a:pPr>
                      <a:r>
                        <a:t>Completed</a:t>
                      </a:r>
                    </a:p>
                  </a:txBody>
                  <a:tcPr>
                    <a:solidFill>
                      <a:srgbClr val="FFFFFF"/>
                    </a:solidFill>
                  </a:tcPr>
                </a:tc>
              </a:tr>
              <a:tr h="586740">
                <a:tc>
                  <a:txBody>
                    <a:bodyPr/>
                    <a:lstStyle/>
                    <a:p>
                      <a:pPr>
                        <a:defRPr sz="850" b="1">
                          <a:solidFill>
                            <a:srgbClr val="002060"/>
                          </a:solidFill>
                        </a:defRPr>
                      </a:pPr>
                      <a:r>
                        <a:t>Phase 4</a:t>
                      </a:r>
                    </a:p>
                  </a:txBody>
                  <a:tcPr>
                    <a:solidFill>
                      <a:srgbClr val="F5F8FC"/>
                    </a:solidFill>
                  </a:tcPr>
                </a:tc>
                <a:tc>
                  <a:txBody>
                    <a:bodyPr/>
                    <a:lstStyle/>
                    <a:p>
                      <a:pPr>
                        <a:defRPr sz="850" b="0">
                          <a:solidFill>
                            <a:srgbClr val="1E1E1E"/>
                          </a:solidFill>
                        </a:defRPr>
                      </a:pPr>
                      <a:r>
                        <a:t>Weeks 10 – 12</a:t>
                      </a:r>
                    </a:p>
                  </a:txBody>
                  <a:tcPr>
                    <a:solidFill>
                      <a:srgbClr val="F5F8FC"/>
                    </a:solidFill>
                  </a:tcPr>
                </a:tc>
                <a:tc>
                  <a:txBody>
                    <a:bodyPr/>
                    <a:lstStyle/>
                    <a:p>
                      <a:pPr>
                        <a:defRPr sz="850" b="0">
                          <a:solidFill>
                            <a:srgbClr val="1E1E1E"/>
                          </a:solidFill>
                        </a:defRPr>
                      </a:pPr>
                      <a:r>
                        <a:t>TinyML dual-engine transpilation &amp; on-chip Momentum SGD firmware</a:t>
                      </a:r>
                    </a:p>
                  </a:txBody>
                  <a:tcPr>
                    <a:solidFill>
                      <a:srgbClr val="F5F8FC"/>
                    </a:solidFill>
                  </a:tcPr>
                </a:tc>
                <a:tc>
                  <a:txBody>
                    <a:bodyPr/>
                    <a:lstStyle/>
                    <a:p>
                      <a:pPr>
                        <a:defRPr sz="850" b="0">
                          <a:solidFill>
                            <a:srgbClr val="1E1E1E"/>
                          </a:solidFill>
                        </a:defRPr>
                      </a:pPr>
                      <a:r>
                        <a:t>PlatformIO compilation &amp; static heap audit</a:t>
                      </a:r>
                    </a:p>
                  </a:txBody>
                  <a:tcPr>
                    <a:solidFill>
                      <a:srgbClr val="F5F8FC"/>
                    </a:solidFill>
                  </a:tcPr>
                </a:tc>
                <a:tc>
                  <a:txBody>
                    <a:bodyPr/>
                    <a:lstStyle/>
                    <a:p>
                      <a:pPr>
                        <a:defRPr sz="850" b="1">
                          <a:solidFill>
                            <a:srgbClr val="008000"/>
                          </a:solidFill>
                        </a:defRPr>
                      </a:pPr>
                      <a:r>
                        <a:t>Completed</a:t>
                      </a:r>
                    </a:p>
                  </a:txBody>
                  <a:tcPr>
                    <a:solidFill>
                      <a:srgbClr val="F5F8FC"/>
                    </a:solidFill>
                  </a:tcPr>
                </a:tc>
              </a:tr>
              <a:tr h="586740">
                <a:tc>
                  <a:txBody>
                    <a:bodyPr/>
                    <a:lstStyle/>
                    <a:p>
                      <a:pPr>
                        <a:defRPr sz="850" b="1">
                          <a:solidFill>
                            <a:srgbClr val="002060"/>
                          </a:solidFill>
                        </a:defRPr>
                      </a:pPr>
                      <a:r>
                        <a:t>Phase 5</a:t>
                      </a:r>
                    </a:p>
                  </a:txBody>
                  <a:tcPr>
                    <a:solidFill>
                      <a:srgbClr val="FFFFFF"/>
                    </a:solidFill>
                  </a:tcPr>
                </a:tc>
                <a:tc>
                  <a:txBody>
                    <a:bodyPr/>
                    <a:lstStyle/>
                    <a:p>
                      <a:pPr>
                        <a:defRPr sz="850" b="0">
                          <a:solidFill>
                            <a:srgbClr val="1E1E1E"/>
                          </a:solidFill>
                        </a:defRPr>
                      </a:pPr>
                      <a:r>
                        <a:t>Weeks 13 – 16</a:t>
                      </a:r>
                    </a:p>
                  </a:txBody>
                  <a:tcPr>
                    <a:solidFill>
                      <a:srgbClr val="FFFFFF"/>
                    </a:solidFill>
                  </a:tcPr>
                </a:tc>
                <a:tc>
                  <a:txBody>
                    <a:bodyPr/>
                    <a:lstStyle/>
                    <a:p>
                      <a:pPr>
                        <a:defRPr sz="850" b="0">
                          <a:solidFill>
                            <a:srgbClr val="1E1E1E"/>
                          </a:solidFill>
                        </a:defRPr>
                      </a:pPr>
                      <a:r>
                        <a:t>End-to-end hardware-in-the-loop integration &amp; final review packaging</a:t>
                      </a:r>
                    </a:p>
                  </a:txBody>
                  <a:tcPr>
                    <a:solidFill>
                      <a:srgbClr val="FFFFFF"/>
                    </a:solidFill>
                  </a:tcPr>
                </a:tc>
                <a:tc>
                  <a:txBody>
                    <a:bodyPr/>
                    <a:lstStyle/>
                    <a:p>
                      <a:pPr>
                        <a:defRPr sz="850" b="0">
                          <a:solidFill>
                            <a:srgbClr val="1E1E1E"/>
                          </a:solidFill>
                        </a:defRPr>
                      </a:pPr>
                      <a:r>
                        <a:t>Full-scale exploit injection &amp; defense audit</a:t>
                      </a:r>
                    </a:p>
                  </a:txBody>
                  <a:tcPr>
                    <a:solidFill>
                      <a:srgbClr val="FFFFFF"/>
                    </a:solidFill>
                  </a:tcPr>
                </a:tc>
                <a:tc>
                  <a:txBody>
                    <a:bodyPr/>
                    <a:lstStyle/>
                    <a:p>
                      <a:pPr>
                        <a:defRPr sz="850" b="1">
                          <a:solidFill>
                            <a:srgbClr val="008000"/>
                          </a:solidFill>
                        </a:defRPr>
                      </a:pPr>
                      <a:r>
                        <a:t>Completed</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4330" name="Content Placeholder 15"/>
          <p:cNvGraphicFramePr>
            <a:graphicFrameLocks/>
          </p:cNvGraphicFramePr>
          <p:nvPr>
            <p:extLst>
              <p:ext uri="{D42A27DB-BD31-4B8C-83A1-F6EECF244321}">
                <p14:modId xmlns:p14="http://schemas.microsoft.com/office/powerpoint/2010/main" val="440137971"/>
              </p:ext>
            </p:extLst>
          </p:nvPr>
        </p:nvGraphicFramePr>
        <p:xfrm>
          <a:off x="1142999" y="0"/>
          <a:ext cx="8001001" cy="954916"/>
        </p:xfrm>
        <a:graphic>
          <a:graphicData uri="http://schemas.openxmlformats.org/drawingml/2006/table">
            <a:tbl>
              <a:tblPr firstRow="1" bandRow="1">
                <a:tableStyleId>{5DA37D80-6434-44D0-A028-1B22A696006F}</a:tableStyleId>
              </a:tblPr>
              <a:tblGrid>
                <a:gridCol w="8001001"/>
              </a:tblGrid>
              <a:tr h="458594">
                <a:tc>
                  <a:txBody>
                    <a:bodyPr/>
                    <a:lstStyle/>
                    <a:p>
                      <a:pPr algn="ctr">
                        <a:defRPr sz="1100" b="1">
                          <a:solidFill>
                            <a:srgbClr val="002060"/>
                          </a:solidFill>
                          <a:latin typeface="Segoe UI"/>
                        </a:defRPr>
                      </a:pPr>
                      <a:r>
                        <a:t>Aegis-Kernel: Hardware-Isolated Coprocessor Framework for Evasive Malware Mitigation</a:t>
                      </a:r>
                    </a:p>
                  </a:txBody>
                  <a:tcPr marL="94488" marR="94488"/>
                </a:tc>
              </a:tr>
              <a:tr h="436756">
                <a:tc>
                  <a:txBody>
                    <a:bodyPr/>
                    <a:lstStyle/>
                    <a:p>
                      <a:pPr algn="ctr">
                        <a:defRPr sz="1200" b="1">
                          <a:solidFill>
                            <a:srgbClr val="C58C14"/>
                          </a:solidFill>
                          <a:latin typeface="Segoe UI"/>
                        </a:defRPr>
                      </a:pPr>
                      <a:r>
                        <a:t>Project Completion Percentage — Milestone Scorecard</a:t>
                      </a:r>
                    </a:p>
                  </a:txBody>
                  <a:tcPr marL="94488" marR="94488"/>
                </a:tc>
              </a:tr>
            </a:tbl>
          </a:graphicData>
        </a:graphic>
      </p:graphicFrame>
      <p:sp>
        <p:nvSpPr>
          <p:cNvPr id="1048639" name="Frame 4"/>
          <p:cNvSpPr/>
          <p:nvPr/>
        </p:nvSpPr>
        <p:spPr>
          <a:xfrm>
            <a:off x="0" y="0"/>
            <a:ext cx="9144000" cy="5143500"/>
          </a:xfrm>
          <a:prstGeom prst="frame">
            <a:avLst>
              <a:gd name="adj1" fmla="val 1148"/>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1048640" name="Frame 10"/>
          <p:cNvSpPr/>
          <p:nvPr/>
        </p:nvSpPr>
        <p:spPr>
          <a:xfrm>
            <a:off x="0" y="0"/>
            <a:ext cx="1143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048641" name="Frame 9"/>
          <p:cNvSpPr/>
          <p:nvPr/>
        </p:nvSpPr>
        <p:spPr>
          <a:xfrm>
            <a:off x="1143000" y="0"/>
            <a:ext cx="8001000" cy="971550"/>
          </a:xfrm>
          <a:prstGeom prst="frame">
            <a:avLst>
              <a:gd name="adj1" fmla="val 28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pic>
        <p:nvPicPr>
          <p:cNvPr id="9" name="Picture 2"/>
          <p:cNvPicPr>
            <a:picLocks noChangeAspect="1" noChangeArrowheads="1"/>
          </p:cNvPicPr>
          <p:nvPr/>
        </p:nvPicPr>
        <p:blipFill>
          <a:blip r:embed="rId2"/>
          <a:srcRect/>
          <a:stretch>
            <a:fillRect/>
          </a:stretch>
        </p:blipFill>
        <p:spPr bwMode="auto">
          <a:xfrm>
            <a:off x="152400" y="0"/>
            <a:ext cx="971550" cy="685800"/>
          </a:xfrm>
          <a:prstGeom prst="rect">
            <a:avLst/>
          </a:prstGeom>
          <a:noFill/>
          <a:ln w="9525">
            <a:noFill/>
            <a:miter lim="800000"/>
            <a:headEnd/>
            <a:tailEnd/>
          </a:ln>
          <a:effectLst/>
        </p:spPr>
      </p:pic>
      <p:graphicFrame>
        <p:nvGraphicFramePr>
          <p:cNvPr id="10" name="Table 5"/>
          <p:cNvGraphicFramePr>
            <a:graphicFrameLocks noGrp="1"/>
          </p:cNvGraphicFramePr>
          <p:nvPr>
            <p:extLst>
              <p:ext uri="{D42A27DB-BD31-4B8C-83A1-F6EECF244321}">
                <p14:modId xmlns:p14="http://schemas.microsoft.com/office/powerpoint/2010/main" val="3551837206"/>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16</a:t>
                      </a:r>
                    </a:p>
                  </a:txBody>
                  <a:tcPr marL="94488" marR="94488"/>
                </a:tc>
              </a:tr>
            </a:tbl>
          </a:graphicData>
        </a:graphic>
      </p:graphicFrame>
      <p:graphicFrame>
        <p:nvGraphicFramePr>
          <p:cNvPr id="4194331" name="Table 4194330"/>
          <p:cNvGraphicFramePr>
            <a:graphicFrameLocks noGrp="1"/>
          </p:cNvGraphicFramePr>
          <p:nvPr/>
        </p:nvGraphicFramePr>
        <p:xfrm>
          <a:off x="365760" y="1051560"/>
          <a:ext cx="8412480" cy="3520440"/>
        </p:xfrm>
        <a:graphic>
          <a:graphicData uri="http://schemas.openxmlformats.org/drawingml/2006/table">
            <a:tbl>
              <a:tblPr firstRow="1" bandRow="1">
                <a:tableStyleId>{5C22544A-7EE6-4342-B048-85BDC9FD1C3A}</a:tableStyleId>
              </a:tblPr>
              <a:tblGrid>
                <a:gridCol w="2011680"/>
                <a:gridCol w="3291840"/>
                <a:gridCol w="2011680"/>
                <a:gridCol w="1097280"/>
              </a:tblGrid>
              <a:tr h="586740">
                <a:tc>
                  <a:txBody>
                    <a:bodyPr/>
                    <a:lstStyle/>
                    <a:p>
                      <a:pPr>
                        <a:defRPr sz="900" b="1">
                          <a:solidFill>
                            <a:srgbClr val="FFFFFF"/>
                          </a:solidFill>
                        </a:defRPr>
                      </a:pPr>
                      <a:r>
                        <a:t>Subsystem Module</a:t>
                      </a:r>
                    </a:p>
                  </a:txBody>
                  <a:tcPr>
                    <a:solidFill>
                      <a:srgbClr val="002060"/>
                    </a:solidFill>
                  </a:tcPr>
                </a:tc>
                <a:tc>
                  <a:txBody>
                    <a:bodyPr/>
                    <a:lstStyle/>
                    <a:p>
                      <a:pPr>
                        <a:defRPr sz="900" b="1">
                          <a:solidFill>
                            <a:srgbClr val="FFFFFF"/>
                          </a:solidFill>
                        </a:defRPr>
                      </a:pPr>
                      <a:r>
                        <a:t>Implementation Scope &amp; Deliverables</a:t>
                      </a:r>
                    </a:p>
                  </a:txBody>
                  <a:tcPr>
                    <a:solidFill>
                      <a:srgbClr val="002060"/>
                    </a:solidFill>
                  </a:tcPr>
                </a:tc>
                <a:tc>
                  <a:txBody>
                    <a:bodyPr/>
                    <a:lstStyle/>
                    <a:p>
                      <a:pPr>
                        <a:defRPr sz="900" b="1">
                          <a:solidFill>
                            <a:srgbClr val="FFFFFF"/>
                          </a:solidFill>
                        </a:defRPr>
                      </a:pPr>
                      <a:r>
                        <a:t>Empirical Verification Result</a:t>
                      </a:r>
                    </a:p>
                  </a:txBody>
                  <a:tcPr>
                    <a:solidFill>
                      <a:srgbClr val="002060"/>
                    </a:solidFill>
                  </a:tcPr>
                </a:tc>
                <a:tc>
                  <a:txBody>
                    <a:bodyPr/>
                    <a:lstStyle/>
                    <a:p>
                      <a:pPr>
                        <a:defRPr sz="900" b="1">
                          <a:solidFill>
                            <a:srgbClr val="FFFFFF"/>
                          </a:solidFill>
                        </a:defRPr>
                      </a:pPr>
                      <a:r>
                        <a:t>Completion</a:t>
                      </a:r>
                    </a:p>
                  </a:txBody>
                  <a:tcPr>
                    <a:solidFill>
                      <a:srgbClr val="002060"/>
                    </a:solidFill>
                  </a:tcPr>
                </a:tc>
              </a:tr>
              <a:tr h="586740">
                <a:tc>
                  <a:txBody>
                    <a:bodyPr/>
                    <a:lstStyle/>
                    <a:p>
                      <a:pPr>
                        <a:defRPr sz="850" b="1">
                          <a:solidFill>
                            <a:srgbClr val="002060"/>
                          </a:solidFill>
                        </a:defRPr>
                      </a:pPr>
                      <a:r>
                        <a:t>Module 1: Kernel Interceptor</a:t>
                      </a:r>
                    </a:p>
                  </a:txBody>
                  <a:tcPr>
                    <a:solidFill>
                      <a:srgbClr val="FFFFFF"/>
                    </a:solidFill>
                  </a:tcPr>
                </a:tc>
                <a:tc>
                  <a:txBody>
                    <a:bodyPr/>
                    <a:lstStyle/>
                    <a:p>
                      <a:pPr>
                        <a:defRPr sz="850" b="0">
                          <a:solidFill>
                            <a:srgbClr val="1E1E1E"/>
                          </a:solidFill>
                        </a:defRPr>
                      </a:pPr>
                      <a:r>
                        <a:t>eBPF tracepoints &amp; /proc telemetry extraction in Ubuntu / WSL2</a:t>
                      </a:r>
                    </a:p>
                  </a:txBody>
                  <a:tcPr>
                    <a:solidFill>
                      <a:srgbClr val="FFFFFF"/>
                    </a:solidFill>
                  </a:tcPr>
                </a:tc>
                <a:tc>
                  <a:txBody>
                    <a:bodyPr/>
                    <a:lstStyle/>
                    <a:p>
                      <a:pPr>
                        <a:defRPr sz="850" b="0">
                          <a:solidFill>
                            <a:srgbClr val="1E1E1E"/>
                          </a:solidFill>
                        </a:defRPr>
                      </a:pPr>
                      <a:r>
                        <a:t>&lt; 25 µs event capture; 0% CPU starvation</a:t>
                      </a:r>
                    </a:p>
                  </a:txBody>
                  <a:tcPr>
                    <a:solidFill>
                      <a:srgbClr val="FFFFFF"/>
                    </a:solidFill>
                  </a:tcPr>
                </a:tc>
                <a:tc>
                  <a:txBody>
                    <a:bodyPr/>
                    <a:lstStyle/>
                    <a:p>
                      <a:pPr>
                        <a:defRPr sz="850" b="1">
                          <a:solidFill>
                            <a:srgbClr val="008000"/>
                          </a:solidFill>
                        </a:defRPr>
                      </a:pPr>
                      <a:r>
                        <a:t>100%</a:t>
                      </a:r>
                    </a:p>
                  </a:txBody>
                  <a:tcPr>
                    <a:solidFill>
                      <a:srgbClr val="FFFFFF"/>
                    </a:solidFill>
                  </a:tcPr>
                </a:tc>
              </a:tr>
              <a:tr h="586740">
                <a:tc>
                  <a:txBody>
                    <a:bodyPr/>
                    <a:lstStyle/>
                    <a:p>
                      <a:pPr>
                        <a:defRPr sz="850" b="1">
                          <a:solidFill>
                            <a:srgbClr val="002060"/>
                          </a:solidFill>
                        </a:defRPr>
                      </a:pPr>
                      <a:r>
                        <a:t>Module 2: Hardware Isolation Bridge</a:t>
                      </a:r>
                    </a:p>
                  </a:txBody>
                  <a:tcPr>
                    <a:solidFill>
                      <a:srgbClr val="F5F8FC"/>
                    </a:solidFill>
                  </a:tcPr>
                </a:tc>
                <a:tc>
                  <a:txBody>
                    <a:bodyPr/>
                    <a:lstStyle/>
                    <a:p>
                      <a:pPr>
                        <a:defRPr sz="850" b="0">
                          <a:solidFill>
                            <a:srgbClr val="1E1E1E"/>
                          </a:solidFill>
                        </a:defRPr>
                      </a:pPr>
                      <a:r>
                        <a:t>Air-gapped UART communication pipeline @ 115,200 baud</a:t>
                      </a:r>
                    </a:p>
                  </a:txBody>
                  <a:tcPr>
                    <a:solidFill>
                      <a:srgbClr val="F5F8FC"/>
                    </a:solidFill>
                  </a:tcPr>
                </a:tc>
                <a:tc>
                  <a:txBody>
                    <a:bodyPr/>
                    <a:lstStyle/>
                    <a:p>
                      <a:pPr>
                        <a:defRPr sz="850" b="0">
                          <a:solidFill>
                            <a:srgbClr val="1E1E1E"/>
                          </a:solidFill>
                        </a:defRPr>
                      </a:pPr>
                      <a:r>
                        <a:t>0 packet drops over 100k events; 8.2 µs bus delay</a:t>
                      </a:r>
                    </a:p>
                  </a:txBody>
                  <a:tcPr>
                    <a:solidFill>
                      <a:srgbClr val="F5F8FC"/>
                    </a:solidFill>
                  </a:tcPr>
                </a:tc>
                <a:tc>
                  <a:txBody>
                    <a:bodyPr/>
                    <a:lstStyle/>
                    <a:p>
                      <a:pPr>
                        <a:defRPr sz="850" b="1">
                          <a:solidFill>
                            <a:srgbClr val="008000"/>
                          </a:solidFill>
                        </a:defRPr>
                      </a:pPr>
                      <a:r>
                        <a:t>100%</a:t>
                      </a:r>
                    </a:p>
                  </a:txBody>
                  <a:tcPr>
                    <a:solidFill>
                      <a:srgbClr val="F5F8FC"/>
                    </a:solidFill>
                  </a:tcPr>
                </a:tc>
              </a:tr>
              <a:tr h="586740">
                <a:tc>
                  <a:txBody>
                    <a:bodyPr/>
                    <a:lstStyle/>
                    <a:p>
                      <a:pPr>
                        <a:defRPr sz="850" b="1">
                          <a:solidFill>
                            <a:srgbClr val="002060"/>
                          </a:solidFill>
                        </a:defRPr>
                      </a:pPr>
                      <a:r>
                        <a:t>Module 3: Dual-Engine TinyML Classifier</a:t>
                      </a:r>
                    </a:p>
                  </a:txBody>
                  <a:tcPr>
                    <a:solidFill>
                      <a:srgbClr val="FFFFFF"/>
                    </a:solidFill>
                  </a:tcPr>
                </a:tc>
                <a:tc>
                  <a:txBody>
                    <a:bodyPr/>
                    <a:lstStyle/>
                    <a:p>
                      <a:pPr>
                        <a:defRPr sz="850" b="0">
                          <a:solidFill>
                            <a:srgbClr val="1E1E1E"/>
                          </a:solidFill>
                        </a:defRPr>
                      </a:pPr>
                      <a:r>
                        <a:t>Transpiled 1.25 µs Decision Tree + 42.1 µs Continual Perceptron</a:t>
                      </a:r>
                    </a:p>
                  </a:txBody>
                  <a:tcPr>
                    <a:solidFill>
                      <a:srgbClr val="FFFFFF"/>
                    </a:solidFill>
                  </a:tcPr>
                </a:tc>
                <a:tc>
                  <a:txBody>
                    <a:bodyPr/>
                    <a:lstStyle/>
                    <a:p>
                      <a:pPr>
                        <a:defRPr sz="850" b="0">
                          <a:solidFill>
                            <a:srgbClr val="1E1E1E"/>
                          </a:solidFill>
                        </a:defRPr>
                      </a:pPr>
                      <a:r>
                        <a:t>98.15% post-adaptation accuracy across 12k vectors</a:t>
                      </a:r>
                    </a:p>
                  </a:txBody>
                  <a:tcPr>
                    <a:solidFill>
                      <a:srgbClr val="FFFFFF"/>
                    </a:solidFill>
                  </a:tcPr>
                </a:tc>
                <a:tc>
                  <a:txBody>
                    <a:bodyPr/>
                    <a:lstStyle/>
                    <a:p>
                      <a:pPr>
                        <a:defRPr sz="850" b="1">
                          <a:solidFill>
                            <a:srgbClr val="008000"/>
                          </a:solidFill>
                        </a:defRPr>
                      </a:pPr>
                      <a:r>
                        <a:t>100%</a:t>
                      </a:r>
                    </a:p>
                  </a:txBody>
                  <a:tcPr>
                    <a:solidFill>
                      <a:srgbClr val="FFFFFF"/>
                    </a:solidFill>
                  </a:tcPr>
                </a:tc>
              </a:tr>
              <a:tr h="586740">
                <a:tc>
                  <a:txBody>
                    <a:bodyPr/>
                    <a:lstStyle/>
                    <a:p>
                      <a:pPr>
                        <a:defRPr sz="850" b="1">
                          <a:solidFill>
                            <a:srgbClr val="002060"/>
                          </a:solidFill>
                        </a:defRPr>
                      </a:pPr>
                      <a:r>
                        <a:t>Module 4: Continual Edge Learning</a:t>
                      </a:r>
                    </a:p>
                  </a:txBody>
                  <a:tcPr>
                    <a:solidFill>
                      <a:srgbClr val="F5F8FC"/>
                    </a:solidFill>
                  </a:tcPr>
                </a:tc>
                <a:tc>
                  <a:txBody>
                    <a:bodyPr/>
                    <a:lstStyle/>
                    <a:p>
                      <a:pPr>
                        <a:defRPr sz="850" b="0">
                          <a:solidFill>
                            <a:srgbClr val="1E1E1E"/>
                          </a:solidFill>
                        </a:defRPr>
                      </a:pPr>
                      <a:r>
                        <a:t>Momentum SGD (38.4 µs) + 16-slot Replay Buffer + Flash NVS</a:t>
                      </a:r>
                    </a:p>
                  </a:txBody>
                  <a:tcPr>
                    <a:solidFill>
                      <a:srgbClr val="F5F8FC"/>
                    </a:solidFill>
                  </a:tcPr>
                </a:tc>
                <a:tc>
                  <a:txBody>
                    <a:bodyPr/>
                    <a:lstStyle/>
                    <a:p>
                      <a:pPr>
                        <a:defRPr sz="850" b="0">
                          <a:solidFill>
                            <a:srgbClr val="1E1E1E"/>
                          </a:solidFill>
                        </a:defRPr>
                      </a:pPr>
                      <a:r>
                        <a:t>Concept drift resolved; weights persistent across boot</a:t>
                      </a:r>
                    </a:p>
                  </a:txBody>
                  <a:tcPr>
                    <a:solidFill>
                      <a:srgbClr val="F5F8FC"/>
                    </a:solidFill>
                  </a:tcPr>
                </a:tc>
                <a:tc>
                  <a:txBody>
                    <a:bodyPr/>
                    <a:lstStyle/>
                    <a:p>
                      <a:pPr>
                        <a:defRPr sz="850" b="1">
                          <a:solidFill>
                            <a:srgbClr val="008000"/>
                          </a:solidFill>
                        </a:defRPr>
                      </a:pPr>
                      <a:r>
                        <a:t>100%</a:t>
                      </a:r>
                    </a:p>
                  </a:txBody>
                  <a:tcPr>
                    <a:solidFill>
                      <a:srgbClr val="F5F8FC"/>
                    </a:solidFill>
                  </a:tcPr>
                </a:tc>
              </a:tr>
              <a:tr h="586740">
                <a:tc>
                  <a:txBody>
                    <a:bodyPr/>
                    <a:lstStyle/>
                    <a:p>
                      <a:pPr>
                        <a:defRPr sz="850" b="1">
                          <a:solidFill>
                            <a:srgbClr val="002060"/>
                          </a:solidFill>
                        </a:defRPr>
                      </a:pPr>
                      <a:r>
                        <a:t>Module 5: Actuators &amp; Containment</a:t>
                      </a:r>
                    </a:p>
                  </a:txBody>
                  <a:tcPr>
                    <a:solidFill>
                      <a:srgbClr val="FFFFFF"/>
                    </a:solidFill>
                  </a:tcPr>
                </a:tc>
                <a:tc>
                  <a:txBody>
                    <a:bodyPr/>
                    <a:lstStyle/>
                    <a:p>
                      <a:pPr>
                        <a:defRPr sz="850" b="0">
                          <a:solidFill>
                            <a:srgbClr val="1E1E1E"/>
                          </a:solidFill>
                        </a:defRPr>
                      </a:pPr>
                      <a:r>
                        <a:t>SSD1306 OLED HUD + 85 dB Buzzer + Strobe LED + SIGKILL</a:t>
                      </a:r>
                    </a:p>
                  </a:txBody>
                  <a:tcPr>
                    <a:solidFill>
                      <a:srgbClr val="FFFFFF"/>
                    </a:solidFill>
                  </a:tcPr>
                </a:tc>
                <a:tc>
                  <a:txBody>
                    <a:bodyPr/>
                    <a:lstStyle/>
                    <a:p>
                      <a:pPr>
                        <a:defRPr sz="850" b="0">
                          <a:solidFill>
                            <a:srgbClr val="1E1E1E"/>
                          </a:solidFill>
                        </a:defRPr>
                      </a:pPr>
                      <a:r>
                        <a:t>&lt; 20 ms end-to-end hardware-enforced containment</a:t>
                      </a:r>
                    </a:p>
                  </a:txBody>
                  <a:tcPr>
                    <a:solidFill>
                      <a:srgbClr val="FFFFFF"/>
                    </a:solidFill>
                  </a:tcPr>
                </a:tc>
                <a:tc>
                  <a:txBody>
                    <a:bodyPr/>
                    <a:lstStyle/>
                    <a:p>
                      <a:pPr>
                        <a:defRPr sz="850" b="1">
                          <a:solidFill>
                            <a:srgbClr val="008000"/>
                          </a:solidFill>
                        </a:defRPr>
                      </a:pPr>
                      <a:r>
                        <a:t>100%</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1200" b="1">
                <a:solidFill>
                  <a:srgbClr val="002060"/>
                </a:solidFill>
              </a:defRPr>
            </a:pPr>
            <a:r>
              <a:t>Aegis-Kernel: Hardware-Isolated Coprocessor Framework for Evasive Malware Mitigation</a:t>
            </a:r>
            <a:br/>
            <a:r>
              <a:t>Team Member Responsibilities — Work Allocation</a:t>
            </a:r>
          </a:p>
        </p:txBody>
      </p:sp>
      <p:sp>
        <p:nvSpPr>
          <p:cNvPr id="4" name="Frame 10"/>
          <p:cNvSpPr/>
          <p:nvPr/>
        </p:nvSpPr>
        <p:spPr>
          <a:xfrm>
            <a:off x="0" y="0"/>
            <a:ext cx="9144000" cy="5143500"/>
          </a:xfrm>
          <a:prstGeom prst="frame">
            <a:avLst>
              <a:gd name="adj1" fmla="val 1791"/>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graphicFrame>
        <p:nvGraphicFramePr>
          <p:cNvPr id="5" name="Table 5"/>
          <p:cNvGraphicFramePr>
            <a:graphicFrameLocks noGrp="1"/>
          </p:cNvGraphicFramePr>
          <p:nvPr>
            <p:extLst>
              <p:ext uri="{D42A27DB-BD31-4B8C-83A1-F6EECF244321}">
                <p14:modId xmlns:p14="http://schemas.microsoft.com/office/powerpoint/2010/main" val="1981216755"/>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17</a:t>
                      </a:r>
                    </a:p>
                  </a:txBody>
                  <a:tcPr marL="94488" marR="94488"/>
                </a:tc>
              </a:tr>
            </a:tbl>
          </a:graphicData>
        </a:graphic>
      </p:graphicFrame>
      <p:sp>
        <p:nvSpPr>
          <p:cNvPr id="6" name="TextBox 5"/>
          <p:cNvSpPr txBox="1"/>
          <p:nvPr/>
        </p:nvSpPr>
        <p:spPr>
          <a:xfrm>
            <a:off x="457200" y="1051560"/>
            <a:ext cx="8229600" cy="3566160"/>
          </a:xfrm>
          <a:prstGeom prst="rect">
            <a:avLst/>
          </a:prstGeom>
          <a:noFill/>
        </p:spPr>
        <p:txBody>
          <a:bodyPr wrap="square">
            <a:spAutoFit/>
          </a:bodyPr>
          <a:lstStyle/>
          <a:p>
            <a:pPr>
              <a:defRPr sz="1050" b="1">
                <a:solidFill>
                  <a:srgbClr val="002060"/>
                </a:solidFill>
              </a:defRPr>
            </a:pPr>
            <a:r>
              <a:t>Sai Prasath P (210425106193)  |  Lead: Linux Kernel Architecture &amp; eBPF Telemetry</a:t>
            </a:r>
          </a:p>
          <a:p>
            <a:pPr>
              <a:spcBef>
                <a:spcPts val="200"/>
              </a:spcBef>
              <a:defRPr sz="850">
                <a:solidFill>
                  <a:srgbClr val="1E1E1E"/>
                </a:solidFill>
              </a:defRPr>
            </a:pPr>
            <a:r>
              <a:t>• Configured and compiled the core Linux reference OS environment on primary emulation hardware (WSL2 / Ubuntu 22.04 LTS).</a:t>
            </a:r>
          </a:p>
          <a:p>
            <a:pPr>
              <a:spcBef>
                <a:spcPts val="200"/>
              </a:spcBef>
              <a:defRPr sz="850">
                <a:solidFill>
                  <a:srgbClr val="1E1E1E"/>
                </a:solidFill>
              </a:defRPr>
            </a:pPr>
            <a:r>
              <a:t>• Developed kernel-level eBPF tracepoint scripts (`sched_process_exec`) capturing execution telemetry in &lt; 25 µs without kernel modifications.</a:t>
            </a:r>
          </a:p>
          <a:p>
            <a:pPr>
              <a:spcBef>
                <a:spcPts val="200"/>
              </a:spcBef>
              <a:defRPr sz="850">
                <a:solidFill>
                  <a:srgbClr val="1E1E1E"/>
                </a:solidFill>
              </a:defRPr>
            </a:pPr>
            <a:r>
              <a:t>• Engineered the host-side bidirectional serial communication daemon streaming serialized telemetry across the USB-UART bridge.</a:t>
            </a:r>
          </a:p>
          <a:p>
            <a:pPr>
              <a:spcBef>
                <a:spcPts val="200"/>
              </a:spcBef>
              <a:defRPr sz="850">
                <a:solidFill>
                  <a:srgbClr val="1E1E1E"/>
                </a:solidFill>
              </a:defRPr>
            </a:pPr>
            <a:r>
              <a:t>• Formulated multi-tier exploit injection test suites (crypto-miners, reverse shells, memory injection, base64 obfuscated droppers).</a:t>
            </a:r>
          </a:p>
          <a:p>
            <a:pPr>
              <a:spcBef>
                <a:spcPts val="600"/>
              </a:spcBef>
              <a:defRPr sz="1050" b="1">
                <a:solidFill>
                  <a:srgbClr val="002060"/>
                </a:solidFill>
              </a:defRPr>
            </a:pPr>
            <a:r>
              <a:t>Tamil Selvan J (210425106242)  |  Lead: Embedded Systems, TinyML &amp; Hardware Actuation</a:t>
            </a:r>
          </a:p>
          <a:p>
            <a:pPr>
              <a:spcBef>
                <a:spcPts val="200"/>
              </a:spcBef>
              <a:defRPr sz="850">
                <a:solidFill>
                  <a:srgbClr val="1E1E1E"/>
                </a:solidFill>
              </a:defRPr>
            </a:pPr>
            <a:r>
              <a:t>• Programmed the C++ stream parsing engine and Punctuation Entropy Heuristic on the ESP32 coprocessor, eliminating false positives.</a:t>
            </a:r>
          </a:p>
          <a:p>
            <a:pPr>
              <a:spcBef>
                <a:spcPts val="200"/>
              </a:spcBef>
              <a:defRPr sz="850">
                <a:solidFill>
                  <a:srgbClr val="1E1E1E"/>
                </a:solidFill>
              </a:defRPr>
            </a:pPr>
            <a:r>
              <a:t>• Implemented the transpiled dual-engine classifier (1.25 µs Decision Tree + 42.1 µs Continual Perceptron) with 0 bytes dynamic heap in 53.6 KB SRAM.</a:t>
            </a:r>
          </a:p>
          <a:p>
            <a:pPr>
              <a:spcBef>
                <a:spcPts val="200"/>
              </a:spcBef>
              <a:defRPr sz="850">
                <a:solidFill>
                  <a:srgbClr val="1E1E1E"/>
                </a:solidFill>
              </a:defRPr>
            </a:pPr>
            <a:r>
              <a:t>• Architected the on-chip Momentum SGD continual learning engine (38.4 µs) with 16-slot Experience Replay Buffer and Flash NVS persistence.</a:t>
            </a:r>
          </a:p>
          <a:p>
            <a:pPr>
              <a:spcBef>
                <a:spcPts val="200"/>
              </a:spcBef>
              <a:defRPr sz="850">
                <a:solidFill>
                  <a:srgbClr val="1E1E1E"/>
                </a:solidFill>
              </a:defRPr>
            </a:pPr>
            <a:r>
              <a:t>• Designed the physical hardware schematic, assembled breadboard chassis, wired OLED HUD, 85 dB buzzer, and calibrated GPIO kill interrupt loop.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1200" b="1">
                <a:solidFill>
                  <a:srgbClr val="002060"/>
                </a:solidFill>
              </a:defRPr>
            </a:pPr>
            <a:r>
              <a:t>Aegis-Kernel: Hardware-Isolated Coprocessor Framework for Evasive Malware Mitigation</a:t>
            </a:r>
            <a:br/>
            <a:r>
              <a:t>Quantitative Results &amp; Empirical Performance Benchmarks</a:t>
            </a:r>
          </a:p>
        </p:txBody>
      </p:sp>
      <p:sp>
        <p:nvSpPr>
          <p:cNvPr id="4" name="Frame 10"/>
          <p:cNvSpPr/>
          <p:nvPr/>
        </p:nvSpPr>
        <p:spPr>
          <a:xfrm>
            <a:off x="0" y="0"/>
            <a:ext cx="9144000" cy="5143500"/>
          </a:xfrm>
          <a:prstGeom prst="frame">
            <a:avLst>
              <a:gd name="adj1" fmla="val 1791"/>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graphicFrame>
        <p:nvGraphicFramePr>
          <p:cNvPr id="5" name="Table 5"/>
          <p:cNvGraphicFramePr>
            <a:graphicFrameLocks noGrp="1"/>
          </p:cNvGraphicFramePr>
          <p:nvPr>
            <p:extLst>
              <p:ext uri="{D42A27DB-BD31-4B8C-83A1-F6EECF244321}">
                <p14:modId xmlns:p14="http://schemas.microsoft.com/office/powerpoint/2010/main" val="891074664"/>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18</a:t>
                      </a:r>
                    </a:p>
                  </a:txBody>
                  <a:tcPr marL="94488" marR="94488"/>
                </a:tc>
              </a:tr>
            </a:tbl>
          </a:graphicData>
        </a:graphic>
      </p:graphicFrame>
      <p:pic>
        <p:nvPicPr>
          <p:cNvPr id="6" name="Picture 5" descr="Fig5_Confusion_Matrix_Heatmap.png"/>
          <p:cNvPicPr>
            <a:picLocks noChangeAspect="1"/>
          </p:cNvPicPr>
          <p:nvPr/>
        </p:nvPicPr>
        <p:blipFill>
          <a:blip r:embed="rId2"/>
          <a:stretch>
            <a:fillRect/>
          </a:stretch>
        </p:blipFill>
        <p:spPr>
          <a:xfrm>
            <a:off x="457200" y="1051560"/>
            <a:ext cx="3931920" cy="3566160"/>
          </a:xfrm>
          <a:prstGeom prst="rect">
            <a:avLst/>
          </a:prstGeom>
        </p:spPr>
      </p:pic>
      <p:sp>
        <p:nvSpPr>
          <p:cNvPr id="7" name="TextBox 6"/>
          <p:cNvSpPr txBox="1"/>
          <p:nvPr/>
        </p:nvSpPr>
        <p:spPr>
          <a:xfrm>
            <a:off x="4572000" y="1051560"/>
            <a:ext cx="4114800" cy="3566160"/>
          </a:xfrm>
          <a:prstGeom prst="rect">
            <a:avLst/>
          </a:prstGeom>
          <a:noFill/>
        </p:spPr>
        <p:txBody>
          <a:bodyPr wrap="square">
            <a:spAutoFit/>
          </a:bodyPr>
          <a:lstStyle/>
          <a:p>
            <a:pPr>
              <a:defRPr sz="1050" b="1">
                <a:solidFill>
                  <a:srgbClr val="002060"/>
                </a:solidFill>
              </a:defRPr>
            </a:pPr>
            <a:r>
              <a:t>Empirical Validation across 12,000 Vectors:</a:t>
            </a:r>
          </a:p>
          <a:p>
            <a:pPr>
              <a:spcBef>
                <a:spcPts val="300"/>
              </a:spcBef>
              <a:defRPr sz="900" b="1">
                <a:solidFill>
                  <a:srgbClr val="002060"/>
                </a:solidFill>
              </a:defRPr>
            </a:pPr>
            <a:r>
              <a:t>• Accuracy Progression: </a:t>
            </a:r>
            <a:r>
              <a:rPr b="0">
                <a:solidFill>
                  <a:srgbClr val="1E1E1E"/>
                </a:solidFill>
              </a:rPr>
              <a:t>92.46% (Baseline)  -&gt;  98.15% (Post-Continual Learning)</a:t>
            </a:r>
          </a:p>
          <a:p>
            <a:pPr>
              <a:spcBef>
                <a:spcPts val="300"/>
              </a:spcBef>
              <a:defRPr sz="900" b="1">
                <a:solidFill>
                  <a:srgbClr val="002060"/>
                </a:solidFill>
              </a:defRPr>
            </a:pPr>
            <a:r>
              <a:t>• Precision &amp; Recall: </a:t>
            </a:r>
            <a:r>
              <a:rPr b="0">
                <a:solidFill>
                  <a:srgbClr val="1E1E1E"/>
                </a:solidFill>
              </a:rPr>
              <a:t>Precision: 97.80%  |  Recall: 98.50%</a:t>
            </a:r>
          </a:p>
          <a:p>
            <a:pPr>
              <a:spcBef>
                <a:spcPts val="300"/>
              </a:spcBef>
              <a:defRPr sz="900" b="1">
                <a:solidFill>
                  <a:srgbClr val="002060"/>
                </a:solidFill>
              </a:defRPr>
            </a:pPr>
            <a:r>
              <a:t>• F1-Score &amp; ROC-AUC: </a:t>
            </a:r>
            <a:r>
              <a:rPr b="0">
                <a:solidFill>
                  <a:srgbClr val="1E1E1E"/>
                </a:solidFill>
              </a:rPr>
              <a:t>F1-Score: 0.9815  |  ROC-AUC: 0.9940</a:t>
            </a:r>
          </a:p>
          <a:p>
            <a:pPr>
              <a:spcBef>
                <a:spcPts val="300"/>
              </a:spcBef>
              <a:defRPr sz="900" b="1">
                <a:solidFill>
                  <a:srgbClr val="002060"/>
                </a:solidFill>
              </a:defRPr>
            </a:pPr>
            <a:r>
              <a:t>• Decision Tree Latency: </a:t>
            </a:r>
            <a:r>
              <a:rPr b="0">
                <a:solidFill>
                  <a:srgbClr val="1E1E1E"/>
                </a:solidFill>
              </a:rPr>
              <a:t>1.25 µs (Instant Frontline Signature Triage)</a:t>
            </a:r>
          </a:p>
          <a:p>
            <a:pPr>
              <a:spcBef>
                <a:spcPts val="300"/>
              </a:spcBef>
              <a:defRPr sz="900" b="1">
                <a:solidFill>
                  <a:srgbClr val="002060"/>
                </a:solidFill>
              </a:defRPr>
            </a:pPr>
            <a:r>
              <a:t>• Perceptron Latency: </a:t>
            </a:r>
            <a:r>
              <a:rPr b="0">
                <a:solidFill>
                  <a:srgbClr val="1E1E1E"/>
                </a:solidFill>
              </a:rPr>
              <a:t>36.2 µs Average  |  42.1 µs Maximum</a:t>
            </a:r>
          </a:p>
          <a:p>
            <a:pPr>
              <a:spcBef>
                <a:spcPts val="300"/>
              </a:spcBef>
              <a:defRPr sz="900" b="1">
                <a:solidFill>
                  <a:srgbClr val="002060"/>
                </a:solidFill>
              </a:defRPr>
            </a:pPr>
            <a:r>
              <a:t>• Total Inference Latency: </a:t>
            </a:r>
            <a:r>
              <a:rPr b="0">
                <a:solidFill>
                  <a:srgbClr val="1E1E1E"/>
                </a:solidFill>
              </a:rPr>
              <a:t>41.5 µs (Sub-50 µs pre-execution blocking)</a:t>
            </a:r>
          </a:p>
          <a:p>
            <a:pPr>
              <a:spcBef>
                <a:spcPts val="300"/>
              </a:spcBef>
              <a:defRPr sz="900" b="1">
                <a:solidFill>
                  <a:srgbClr val="002060"/>
                </a:solidFill>
              </a:defRPr>
            </a:pPr>
            <a:r>
              <a:t>• On-Chip Training Speed: </a:t>
            </a:r>
            <a:r>
              <a:rPr b="0">
                <a:solidFill>
                  <a:srgbClr val="1E1E1E"/>
                </a:solidFill>
              </a:rPr>
              <a:t>38.4 µs per Momentum SGD consolidation pass</a:t>
            </a:r>
          </a:p>
          <a:p>
            <a:pPr>
              <a:spcBef>
                <a:spcPts val="300"/>
              </a:spcBef>
              <a:defRPr sz="900" b="1">
                <a:solidFill>
                  <a:srgbClr val="002060"/>
                </a:solidFill>
              </a:defRPr>
            </a:pPr>
            <a:r>
              <a:t>• Memory Safety: </a:t>
            </a:r>
            <a:r>
              <a:rPr b="0">
                <a:solidFill>
                  <a:srgbClr val="1E1E1E"/>
                </a:solidFill>
              </a:rPr>
              <a:t>0 Bytes Dynamic Heap (`malloc` = 0) in 53.6 KB SRAM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85750"/>
            <a:ext cx="8305800" cy="4308873"/>
          </a:xfrm>
        </p:spPr>
        <p:txBody>
          <a:bodyPr/>
          <a:lstStyle/>
          <a:p>
            <a:pPr>
              <a:defRPr sz="1200" b="1">
                <a:solidFill>
                  <a:srgbClr val="002060"/>
                </a:solidFill>
              </a:defRPr>
            </a:pPr>
            <a:r>
              <a:t>Aegis-Kernel: Hardware-Isolated Coprocessor Framework for Evasive Malware Mitigation</a:t>
            </a:r>
            <a:br/>
            <a:r>
              <a:t>Comparative Analysis &amp; Verified Deliverables Checklist</a:t>
            </a:r>
          </a:p>
        </p:txBody>
      </p:sp>
      <p:sp>
        <p:nvSpPr>
          <p:cNvPr id="4" name="Frame 10"/>
          <p:cNvSpPr/>
          <p:nvPr/>
        </p:nvSpPr>
        <p:spPr>
          <a:xfrm>
            <a:off x="0" y="0"/>
            <a:ext cx="9144000" cy="5143500"/>
          </a:xfrm>
          <a:prstGeom prst="frame">
            <a:avLst>
              <a:gd name="adj1" fmla="val 1791"/>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955440661"/>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19</a:t>
                      </a:r>
                    </a:p>
                  </a:txBody>
                  <a:tcPr marL="94488" marR="94488"/>
                </a:tc>
              </a:tr>
            </a:tbl>
          </a:graphicData>
        </a:graphic>
      </p:graphicFrame>
      <p:graphicFrame>
        <p:nvGraphicFramePr>
          <p:cNvPr id="7" name="Table 6"/>
          <p:cNvGraphicFramePr>
            <a:graphicFrameLocks noGrp="1"/>
          </p:cNvGraphicFramePr>
          <p:nvPr/>
        </p:nvGraphicFramePr>
        <p:xfrm>
          <a:off x="365760" y="1051560"/>
          <a:ext cx="8412480" cy="2011680"/>
        </p:xfrm>
        <a:graphic>
          <a:graphicData uri="http://schemas.openxmlformats.org/drawingml/2006/table">
            <a:tbl>
              <a:tblPr firstRow="1" bandRow="1">
                <a:tableStyleId>{5C22544A-7EE6-4342-B048-85BDC9FD1C3A}</a:tableStyleId>
              </a:tblPr>
              <a:tblGrid>
                <a:gridCol w="2011680"/>
                <a:gridCol w="1645920"/>
                <a:gridCol w="1463040"/>
                <a:gridCol w="1645920"/>
                <a:gridCol w="1645920"/>
              </a:tblGrid>
              <a:tr h="402336">
                <a:tc>
                  <a:txBody>
                    <a:bodyPr/>
                    <a:lstStyle/>
                    <a:p>
                      <a:pPr>
                        <a:defRPr sz="850" b="1">
                          <a:solidFill>
                            <a:srgbClr val="FFFFFF"/>
                          </a:solidFill>
                        </a:defRPr>
                      </a:pPr>
                      <a:r>
                        <a:t>Security Architecture</a:t>
                      </a:r>
                    </a:p>
                  </a:txBody>
                  <a:tcPr>
                    <a:solidFill>
                      <a:srgbClr val="002060"/>
                    </a:solidFill>
                  </a:tcPr>
                </a:tc>
                <a:tc>
                  <a:txBody>
                    <a:bodyPr/>
                    <a:lstStyle/>
                    <a:p>
                      <a:pPr>
                        <a:defRPr sz="850" b="1">
                          <a:solidFill>
                            <a:srgbClr val="FFFFFF"/>
                          </a:solidFill>
                        </a:defRPr>
                      </a:pPr>
                      <a:r>
                        <a:t>Compute Core</a:t>
                      </a:r>
                    </a:p>
                  </a:txBody>
                  <a:tcPr>
                    <a:solidFill>
                      <a:srgbClr val="002060"/>
                    </a:solidFill>
                  </a:tcPr>
                </a:tc>
                <a:tc>
                  <a:txBody>
                    <a:bodyPr/>
                    <a:lstStyle/>
                    <a:p>
                      <a:pPr>
                        <a:defRPr sz="850" b="1">
                          <a:solidFill>
                            <a:srgbClr val="FFFFFF"/>
                          </a:solidFill>
                        </a:defRPr>
                      </a:pPr>
                      <a:r>
                        <a:t>Inference Latency</a:t>
                      </a:r>
                    </a:p>
                  </a:txBody>
                  <a:tcPr>
                    <a:solidFill>
                      <a:srgbClr val="002060"/>
                    </a:solidFill>
                  </a:tcPr>
                </a:tc>
                <a:tc>
                  <a:txBody>
                    <a:bodyPr/>
                    <a:lstStyle/>
                    <a:p>
                      <a:pPr>
                        <a:defRPr sz="850" b="1">
                          <a:solidFill>
                            <a:srgbClr val="FFFFFF"/>
                          </a:solidFill>
                        </a:defRPr>
                      </a:pPr>
                      <a:r>
                        <a:t>Continual Learning</a:t>
                      </a:r>
                    </a:p>
                  </a:txBody>
                  <a:tcPr>
                    <a:solidFill>
                      <a:srgbClr val="002060"/>
                    </a:solidFill>
                  </a:tcPr>
                </a:tc>
                <a:tc>
                  <a:txBody>
                    <a:bodyPr/>
                    <a:lstStyle/>
                    <a:p>
                      <a:pPr>
                        <a:defRPr sz="850" b="1">
                          <a:solidFill>
                            <a:srgbClr val="FFFFFF"/>
                          </a:solidFill>
                        </a:defRPr>
                      </a:pPr>
                      <a:r>
                        <a:t>Memory Footprint</a:t>
                      </a:r>
                    </a:p>
                  </a:txBody>
                  <a:tcPr>
                    <a:solidFill>
                      <a:srgbClr val="002060"/>
                    </a:solidFill>
                  </a:tcPr>
                </a:tc>
              </a:tr>
              <a:tr h="402336">
                <a:tc>
                  <a:txBody>
                    <a:bodyPr/>
                    <a:lstStyle/>
                    <a:p>
                      <a:pPr>
                        <a:defRPr sz="800" b="0">
                          <a:solidFill>
                            <a:srgbClr val="1E1E1E"/>
                          </a:solidFill>
                        </a:defRPr>
                      </a:pPr>
                      <a:r>
                        <a:t>Cloud SIEM (Splunk)</a:t>
                      </a:r>
                    </a:p>
                  </a:txBody>
                  <a:tcPr>
                    <a:solidFill>
                      <a:srgbClr val="FFFFFF"/>
                    </a:solidFill>
                  </a:tcPr>
                </a:tc>
                <a:tc>
                  <a:txBody>
                    <a:bodyPr/>
                    <a:lstStyle/>
                    <a:p>
                      <a:pPr>
                        <a:defRPr sz="800" b="0">
                          <a:solidFill>
                            <a:srgbClr val="1E1E1E"/>
                          </a:solidFill>
                        </a:defRPr>
                      </a:pPr>
                      <a:r>
                        <a:t>AWS Server Cluster</a:t>
                      </a:r>
                    </a:p>
                  </a:txBody>
                  <a:tcPr>
                    <a:solidFill>
                      <a:srgbClr val="FFFFFF"/>
                    </a:solidFill>
                  </a:tcPr>
                </a:tc>
                <a:tc>
                  <a:txBody>
                    <a:bodyPr/>
                    <a:lstStyle/>
                    <a:p>
                      <a:pPr>
                        <a:defRPr sz="800" b="0">
                          <a:solidFill>
                            <a:srgbClr val="1E1E1E"/>
                          </a:solidFill>
                        </a:defRPr>
                      </a:pPr>
                      <a:r>
                        <a:t>150ms – 4.5s</a:t>
                      </a:r>
                    </a:p>
                  </a:txBody>
                  <a:tcPr>
                    <a:solidFill>
                      <a:srgbClr val="FFFFFF"/>
                    </a:solidFill>
                  </a:tcPr>
                </a:tc>
                <a:tc>
                  <a:txBody>
                    <a:bodyPr/>
                    <a:lstStyle/>
                    <a:p>
                      <a:pPr>
                        <a:defRPr sz="800" b="0">
                          <a:solidFill>
                            <a:srgbClr val="1E1E1E"/>
                          </a:solidFill>
                        </a:defRPr>
                      </a:pPr>
                      <a:r>
                        <a:t>Cloud Batch Retrain</a:t>
                      </a:r>
                    </a:p>
                  </a:txBody>
                  <a:tcPr>
                    <a:solidFill>
                      <a:srgbClr val="FFFFFF"/>
                    </a:solidFill>
                  </a:tcPr>
                </a:tc>
                <a:tc>
                  <a:txBody>
                    <a:bodyPr/>
                    <a:lstStyle/>
                    <a:p>
                      <a:pPr>
                        <a:defRPr sz="800" b="0">
                          <a:solidFill>
                            <a:srgbClr val="1E1E1E"/>
                          </a:solidFill>
                        </a:defRPr>
                      </a:pPr>
                      <a:r>
                        <a:t>Gigabytes (Network)</a:t>
                      </a:r>
                    </a:p>
                  </a:txBody>
                  <a:tcPr>
                    <a:solidFill>
                      <a:srgbClr val="FFFFFF"/>
                    </a:solidFill>
                  </a:tcPr>
                </a:tc>
              </a:tr>
              <a:tr h="402336">
                <a:tc>
                  <a:txBody>
                    <a:bodyPr/>
                    <a:lstStyle/>
                    <a:p>
                      <a:pPr>
                        <a:defRPr sz="800" b="0">
                          <a:solidFill>
                            <a:srgbClr val="1E1E1E"/>
                          </a:solidFill>
                        </a:defRPr>
                      </a:pPr>
                      <a:r>
                        <a:t>Host EDR (Wazuh)</a:t>
                      </a:r>
                    </a:p>
                  </a:txBody>
                  <a:tcPr>
                    <a:solidFill>
                      <a:srgbClr val="F5F8FC"/>
                    </a:solidFill>
                  </a:tcPr>
                </a:tc>
                <a:tc>
                  <a:txBody>
                    <a:bodyPr/>
                    <a:lstStyle/>
                    <a:p>
                      <a:pPr>
                        <a:defRPr sz="800" b="0">
                          <a:solidFill>
                            <a:srgbClr val="1E1E1E"/>
                          </a:solidFill>
                        </a:defRPr>
                      </a:pPr>
                      <a:r>
                        <a:t>Host CPU (x86_64)</a:t>
                      </a:r>
                    </a:p>
                  </a:txBody>
                  <a:tcPr>
                    <a:solidFill>
                      <a:srgbClr val="F5F8FC"/>
                    </a:solidFill>
                  </a:tcPr>
                </a:tc>
                <a:tc>
                  <a:txBody>
                    <a:bodyPr/>
                    <a:lstStyle/>
                    <a:p>
                      <a:pPr>
                        <a:defRPr sz="800" b="0">
                          <a:solidFill>
                            <a:srgbClr val="1E1E1E"/>
                          </a:solidFill>
                        </a:defRPr>
                      </a:pPr>
                      <a:r>
                        <a:t>10ms – 50ms</a:t>
                      </a:r>
                    </a:p>
                  </a:txBody>
                  <a:tcPr>
                    <a:solidFill>
                      <a:srgbClr val="F5F8FC"/>
                    </a:solidFill>
                  </a:tcPr>
                </a:tc>
                <a:tc>
                  <a:txBody>
                    <a:bodyPr/>
                    <a:lstStyle/>
                    <a:p>
                      <a:pPr>
                        <a:defRPr sz="800" b="0">
                          <a:solidFill>
                            <a:srgbClr val="1E1E1E"/>
                          </a:solidFill>
                        </a:defRPr>
                      </a:pPr>
                      <a:r>
                        <a:t>None (Ruleset)</a:t>
                      </a:r>
                    </a:p>
                  </a:txBody>
                  <a:tcPr>
                    <a:solidFill>
                      <a:srgbClr val="F5F8FC"/>
                    </a:solidFill>
                  </a:tcPr>
                </a:tc>
                <a:tc>
                  <a:txBody>
                    <a:bodyPr/>
                    <a:lstStyle/>
                    <a:p>
                      <a:pPr>
                        <a:defRPr sz="800" b="0">
                          <a:solidFill>
                            <a:srgbClr val="1E1E1E"/>
                          </a:solidFill>
                        </a:defRPr>
                      </a:pPr>
                      <a:r>
                        <a:t>Megabytes (Shared)</a:t>
                      </a:r>
                    </a:p>
                  </a:txBody>
                  <a:tcPr>
                    <a:solidFill>
                      <a:srgbClr val="F5F8FC"/>
                    </a:solidFill>
                  </a:tcPr>
                </a:tc>
              </a:tr>
              <a:tr h="402336">
                <a:tc>
                  <a:txBody>
                    <a:bodyPr/>
                    <a:lstStyle/>
                    <a:p>
                      <a:pPr>
                        <a:defRPr sz="800" b="0">
                          <a:solidFill>
                            <a:srgbClr val="1E1E1E"/>
                          </a:solidFill>
                        </a:defRPr>
                      </a:pPr>
                      <a:r>
                        <a:t>EdgeEye (Ray et al.)</a:t>
                      </a:r>
                    </a:p>
                  </a:txBody>
                  <a:tcPr>
                    <a:solidFill>
                      <a:srgbClr val="FFFFFF"/>
                    </a:solidFill>
                  </a:tcPr>
                </a:tc>
                <a:tc>
                  <a:txBody>
                    <a:bodyPr/>
                    <a:lstStyle/>
                    <a:p>
                      <a:pPr>
                        <a:defRPr sz="800" b="0">
                          <a:solidFill>
                            <a:srgbClr val="1E1E1E"/>
                          </a:solidFill>
                        </a:defRPr>
                      </a:pPr>
                      <a:r>
                        <a:t>ARM Cortex-M4</a:t>
                      </a:r>
                    </a:p>
                  </a:txBody>
                  <a:tcPr>
                    <a:solidFill>
                      <a:srgbClr val="FFFFFF"/>
                    </a:solidFill>
                  </a:tcPr>
                </a:tc>
                <a:tc>
                  <a:txBody>
                    <a:bodyPr/>
                    <a:lstStyle/>
                    <a:p>
                      <a:pPr>
                        <a:defRPr sz="800" b="0">
                          <a:solidFill>
                            <a:srgbClr val="1E1E1E"/>
                          </a:solidFill>
                        </a:defRPr>
                      </a:pPr>
                      <a:r>
                        <a:t>450 µs</a:t>
                      </a:r>
                    </a:p>
                  </a:txBody>
                  <a:tcPr>
                    <a:solidFill>
                      <a:srgbClr val="FFFFFF"/>
                    </a:solidFill>
                  </a:tcPr>
                </a:tc>
                <a:tc>
                  <a:txBody>
                    <a:bodyPr/>
                    <a:lstStyle/>
                    <a:p>
                      <a:pPr>
                        <a:defRPr sz="800" b="0">
                          <a:solidFill>
                            <a:srgbClr val="1E1E1E"/>
                          </a:solidFill>
                        </a:defRPr>
                      </a:pPr>
                      <a:r>
                        <a:t>None (Static Frozen)</a:t>
                      </a:r>
                    </a:p>
                  </a:txBody>
                  <a:tcPr>
                    <a:solidFill>
                      <a:srgbClr val="FFFFFF"/>
                    </a:solidFill>
                  </a:tcPr>
                </a:tc>
                <a:tc>
                  <a:txBody>
                    <a:bodyPr/>
                    <a:lstStyle/>
                    <a:p>
                      <a:pPr>
                        <a:defRPr sz="800" b="0">
                          <a:solidFill>
                            <a:srgbClr val="1E1E1E"/>
                          </a:solidFill>
                        </a:defRPr>
                      </a:pPr>
                      <a:r>
                        <a:t>Dynamic (~12KB Heap)</a:t>
                      </a:r>
                    </a:p>
                  </a:txBody>
                  <a:tcPr>
                    <a:solidFill>
                      <a:srgbClr val="FFFFFF"/>
                    </a:solidFill>
                  </a:tcPr>
                </a:tc>
              </a:tr>
              <a:tr h="402336">
                <a:tc>
                  <a:txBody>
                    <a:bodyPr/>
                    <a:lstStyle/>
                    <a:p>
                      <a:pPr>
                        <a:defRPr sz="800" b="1">
                          <a:solidFill>
                            <a:srgbClr val="008000"/>
                          </a:solidFill>
                        </a:defRPr>
                      </a:pPr>
                      <a:r>
                        <a:t>Aegis-Kernel (Proposed)</a:t>
                      </a:r>
                    </a:p>
                  </a:txBody>
                  <a:tcPr>
                    <a:solidFill>
                      <a:srgbClr val="E6F5E6"/>
                    </a:solidFill>
                  </a:tcPr>
                </a:tc>
                <a:tc>
                  <a:txBody>
                    <a:bodyPr/>
                    <a:lstStyle/>
                    <a:p>
                      <a:pPr>
                        <a:defRPr sz="800" b="1">
                          <a:solidFill>
                            <a:srgbClr val="008000"/>
                          </a:solidFill>
                        </a:defRPr>
                      </a:pPr>
                      <a:r>
                        <a:t>ESP32 (240 MHz)</a:t>
                      </a:r>
                    </a:p>
                  </a:txBody>
                  <a:tcPr>
                    <a:solidFill>
                      <a:srgbClr val="E6F5E6"/>
                    </a:solidFill>
                  </a:tcPr>
                </a:tc>
                <a:tc>
                  <a:txBody>
                    <a:bodyPr/>
                    <a:lstStyle/>
                    <a:p>
                      <a:pPr>
                        <a:defRPr sz="800" b="1">
                          <a:solidFill>
                            <a:srgbClr val="008000"/>
                          </a:solidFill>
                        </a:defRPr>
                      </a:pPr>
                      <a:r>
                        <a:t>&lt; 45 µs (1.25µs Tree)</a:t>
                      </a:r>
                    </a:p>
                  </a:txBody>
                  <a:tcPr>
                    <a:solidFill>
                      <a:srgbClr val="E6F5E6"/>
                    </a:solidFill>
                  </a:tcPr>
                </a:tc>
                <a:tc>
                  <a:txBody>
                    <a:bodyPr/>
                    <a:lstStyle/>
                    <a:p>
                      <a:pPr>
                        <a:defRPr sz="800" b="1">
                          <a:solidFill>
                            <a:srgbClr val="008000"/>
                          </a:solidFill>
                        </a:defRPr>
                      </a:pPr>
                      <a:r>
                        <a:t>On-Device Momentum SGD</a:t>
                      </a:r>
                    </a:p>
                  </a:txBody>
                  <a:tcPr>
                    <a:solidFill>
                      <a:srgbClr val="E6F5E6"/>
                    </a:solidFill>
                  </a:tcPr>
                </a:tc>
                <a:tc>
                  <a:txBody>
                    <a:bodyPr/>
                    <a:lstStyle/>
                    <a:p>
                      <a:pPr>
                        <a:defRPr sz="800" b="1">
                          <a:solidFill>
                            <a:srgbClr val="008000"/>
                          </a:solidFill>
                        </a:defRPr>
                      </a:pPr>
                      <a:r>
                        <a:t>0 Bytes Dynamic Heap</a:t>
                      </a:r>
                    </a:p>
                  </a:txBody>
                  <a:tcPr>
                    <a:solidFill>
                      <a:srgbClr val="E6F5E6"/>
                    </a:solidFill>
                  </a:tcPr>
                </a:tc>
              </a:tr>
            </a:tbl>
          </a:graphicData>
        </a:graphic>
      </p:graphicFrame>
      <p:sp>
        <p:nvSpPr>
          <p:cNvPr id="8" name="TextBox 7"/>
          <p:cNvSpPr txBox="1"/>
          <p:nvPr/>
        </p:nvSpPr>
        <p:spPr>
          <a:xfrm>
            <a:off x="365760" y="3154680"/>
            <a:ext cx="8412480" cy="1508760"/>
          </a:xfrm>
          <a:prstGeom prst="rect">
            <a:avLst/>
          </a:prstGeom>
          <a:noFill/>
        </p:spPr>
        <p:txBody>
          <a:bodyPr wrap="square">
            <a:spAutoFit/>
          </a:bodyPr>
          <a:lstStyle/>
          <a:p>
            <a:pPr>
              <a:defRPr sz="1000" b="1">
                <a:solidFill>
                  <a:srgbClr val="002060"/>
                </a:solidFill>
              </a:defRPr>
            </a:pPr>
            <a:r>
              <a:t>Verified Final Review Deliverables Delivered:</a:t>
            </a:r>
          </a:p>
          <a:p>
            <a:pPr>
              <a:spcBef>
                <a:spcPts val="100"/>
              </a:spcBef>
              <a:defRPr sz="850">
                <a:solidFill>
                  <a:srgbClr val="1E1E1E"/>
                </a:solidFill>
              </a:defRPr>
            </a:pPr>
            <a:r>
              <a:t>✓ Working Hardware Sentinel Prototype: ESP32 + I2C OLED + Piezo Buzzer + Strobe LED + USB Bridge fully operational.</a:t>
            </a:r>
          </a:p>
          <a:p>
            <a:pPr>
              <a:spcBef>
                <a:spcPts val="100"/>
              </a:spcBef>
              <a:defRPr sz="850">
                <a:solidFill>
                  <a:srgbClr val="1E1E1E"/>
                </a:solidFill>
              </a:defRPr>
            </a:pPr>
            <a:r>
              <a:t>✓ Full Project Based Learning (PBL) Report: 52-page academic manuscript matching official CIT/Anna University standards.</a:t>
            </a:r>
          </a:p>
          <a:p>
            <a:pPr>
              <a:spcBef>
                <a:spcPts val="100"/>
              </a:spcBef>
              <a:defRPr sz="850">
                <a:solidFill>
                  <a:srgbClr val="1E1E1E"/>
                </a:solidFill>
              </a:defRPr>
            </a:pPr>
            <a:r>
              <a:t>✓ IEEE Standard Conference Paper: Full research paper in single-column format with formulas and empirical benchmarks.</a:t>
            </a:r>
          </a:p>
          <a:p>
            <a:pPr>
              <a:spcBef>
                <a:spcPts val="100"/>
              </a:spcBef>
              <a:defRPr sz="850">
                <a:solidFill>
                  <a:srgbClr val="1E1E1E"/>
                </a:solidFill>
              </a:defRPr>
            </a:pPr>
            <a:r>
              <a:t>✓ Master Excel Dataset &amp; Project Package: 12,000 multi-class telemetry vectors, confusion matrix, and firmware source code.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Frame 10"/>
          <p:cNvSpPr/>
          <p:nvPr/>
        </p:nvSpPr>
        <p:spPr>
          <a:xfrm>
            <a:off x="0" y="0"/>
            <a:ext cx="9144000" cy="5143500"/>
          </a:xfrm>
          <a:prstGeom prst="frame">
            <a:avLst>
              <a:gd name="adj1" fmla="val 1791"/>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pic>
        <p:nvPicPr>
          <p:cNvPr id="2097173" name="Picture 2" descr="thank you, etiquette, business etiquette, etiquette expert, book, conference, speaker, Julie Blais Comeau, conférence, étiquette, étiquette professionnelle, training, formation, étiquette des affaires, livre"/>
          <p:cNvPicPr>
            <a:picLocks noChangeAspect="1" noChangeArrowheads="1"/>
          </p:cNvPicPr>
          <p:nvPr/>
        </p:nvPicPr>
        <p:blipFill>
          <a:blip r:embed="rId2"/>
          <a:srcRect/>
          <a:stretch>
            <a:fillRect/>
          </a:stretch>
        </p:blipFill>
        <p:spPr bwMode="auto">
          <a:xfrm>
            <a:off x="2667000" y="1657350"/>
            <a:ext cx="4237109" cy="2438400"/>
          </a:xfrm>
          <a:prstGeom prst="rect">
            <a:avLst/>
          </a:prstGeom>
          <a:noFill/>
        </p:spPr>
      </p:pic>
      <p:graphicFrame>
        <p:nvGraphicFramePr>
          <p:cNvPr id="4" name="Table 5"/>
          <p:cNvGraphicFramePr>
            <a:graphicFrameLocks noGrp="1"/>
          </p:cNvGraphicFramePr>
          <p:nvPr>
            <p:extLst>
              <p:ext uri="{D42A27DB-BD31-4B8C-83A1-F6EECF244321}">
                <p14:modId xmlns:p14="http://schemas.microsoft.com/office/powerpoint/2010/main" val="205847821"/>
              </p:ext>
            </p:extLst>
          </p:nvPr>
        </p:nvGraphicFramePr>
        <p:xfrm>
          <a:off x="66504" y="4781550"/>
          <a:ext cx="8991600" cy="251460"/>
        </p:xfrm>
        <a:graphic>
          <a:graphicData uri="http://schemas.openxmlformats.org/drawingml/2006/table">
            <a:tbl>
              <a:tblPr firstRow="1" bandRow="1">
                <a:tableStyleId>{18603FDC-E32A-4AB5-989C-0864C3EAD2B8}</a:tableStyleId>
              </a:tblPr>
              <a:tblGrid>
                <a:gridCol w="2057400"/>
                <a:gridCol w="1043151"/>
                <a:gridCol w="2170385"/>
                <a:gridCol w="930166"/>
                <a:gridCol w="1571297"/>
                <a:gridCol w="1219201"/>
              </a:tblGrid>
              <a:tr h="228600">
                <a:tc>
                  <a:txBody>
                    <a:bodyPr/>
                    <a:lstStyle/>
                    <a:p>
                      <a:pPr algn="ctr">
                        <a:defRPr sz="800">
                          <a:solidFill>
                            <a:srgbClr val="1E1E1E"/>
                          </a:solidFill>
                          <a:latin typeface="Segoe UI"/>
                        </a:defRPr>
                      </a:pPr>
                      <a:r>
                        <a:t>Chennai Institute of Technology</a:t>
                      </a:r>
                    </a:p>
                  </a:txBody>
                  <a:tcPr marL="94488" marR="94488"/>
                </a:tc>
                <a:tc>
                  <a:txBody>
                    <a:bodyPr/>
                    <a:lstStyle/>
                    <a:p>
                      <a:pPr algn="ctr">
                        <a:defRPr sz="800">
                          <a:solidFill>
                            <a:srgbClr val="1E1E1E"/>
                          </a:solidFill>
                          <a:latin typeface="Segoe UI"/>
                        </a:defRPr>
                      </a:pPr>
                      <a:r>
                        <a:t>ECE</a:t>
                      </a:r>
                    </a:p>
                  </a:txBody>
                  <a:tcPr marL="94488" marR="94488"/>
                </a:tc>
                <a:tc>
                  <a:txBody>
                    <a:bodyPr/>
                    <a:lstStyle/>
                    <a:p>
                      <a:pPr algn="ctr">
                        <a:defRPr sz="800">
                          <a:solidFill>
                            <a:srgbClr val="1E1E1E"/>
                          </a:solidFill>
                          <a:latin typeface="Segoe UI"/>
                        </a:defRPr>
                      </a:pPr>
                      <a:r>
                        <a:t>AY 2026-27</a:t>
                      </a:r>
                    </a:p>
                  </a:txBody>
                  <a:tcPr marL="94488" marR="94488"/>
                </a:tc>
                <a:tc>
                  <a:txBody>
                    <a:bodyPr/>
                    <a:lstStyle/>
                    <a:p>
                      <a:pPr algn="ctr">
                        <a:defRPr sz="800">
                          <a:solidFill>
                            <a:srgbClr val="1E1E1E"/>
                          </a:solidFill>
                          <a:latin typeface="Segoe UI"/>
                        </a:defRPr>
                      </a:pPr>
                      <a:r>
                        <a:t>PBL Final Review</a:t>
                      </a:r>
                    </a:p>
                  </a:txBody>
                  <a:tcPr marL="94488" marR="94488"/>
                </a:tc>
                <a:tc>
                  <a:txBody>
                    <a:bodyPr/>
                    <a:lstStyle/>
                    <a:p>
                      <a:pPr algn="ctr">
                        <a:defRPr sz="800">
                          <a:solidFill>
                            <a:srgbClr val="1E1E1E"/>
                          </a:solidFill>
                          <a:latin typeface="Segoe UI"/>
                        </a:defRPr>
                      </a:pPr>
                      <a:r>
                        <a:t>Mr. Baskar M.E.</a:t>
                      </a:r>
                    </a:p>
                  </a:txBody>
                  <a:tcPr marL="94488" marR="94488"/>
                </a:tc>
                <a:tc>
                  <a:txBody>
                    <a:bodyPr/>
                    <a:lstStyle/>
                    <a:p>
                      <a:pPr algn="ctr">
                        <a:defRPr sz="800">
                          <a:solidFill>
                            <a:srgbClr val="1E1E1E"/>
                          </a:solidFill>
                          <a:latin typeface="Segoe UI"/>
                        </a:defRPr>
                      </a:pPr>
                      <a:r>
                        <a:t>20</a:t>
                      </a:r>
                    </a:p>
                  </a:txBody>
                  <a:tcPr marL="94488" marR="94488"/>
                </a:tc>
              </a:tr>
            </a:tbl>
          </a:graphicData>
        </a:graphic>
      </p:graphicFrame>
      <p:sp>
        <p:nvSpPr>
          <p:cNvPr id="2097174" name="TextBox 2097173"/>
          <p:cNvSpPr txBox="1"/>
          <p:nvPr/>
        </p:nvSpPr>
        <p:spPr>
          <a:xfrm>
            <a:off x="457200" y="3383280"/>
            <a:ext cx="8229600" cy="1280160"/>
          </a:xfrm>
          <a:prstGeom prst="rect">
            <a:avLst/>
          </a:prstGeom>
          <a:noFill/>
        </p:spPr>
        <p:txBody>
          <a:bodyPr wrap="square">
            <a:spAutoFit/>
          </a:bodyPr>
          <a:lstStyle/>
          <a:p>
            <a:pPr algn="ctr">
              <a:defRPr sz="1300" b="1">
                <a:solidFill>
                  <a:srgbClr val="002060"/>
                </a:solidFill>
              </a:defRPr>
            </a:pPr>
            <a:r>
              <a:t>AEGIS-KERNEL: HARDWARE-ISOLATED COPROCESSOR FRAMEWORK</a:t>
            </a:r>
          </a:p>
          <a:p>
            <a:pPr algn="ctr">
              <a:spcBef>
                <a:spcPts val="200"/>
              </a:spcBef>
              <a:defRPr sz="1050" b="1">
                <a:solidFill>
                  <a:srgbClr val="003366"/>
                </a:solidFill>
              </a:defRPr>
            </a:pPr>
            <a:r>
              <a:t>Sub-45 µs Detection  |  0 Bytes Dynamic Heap  |  On-Chip Continual Edge Learning</a:t>
            </a:r>
          </a:p>
          <a:p>
            <a:pPr algn="ctr">
              <a:spcBef>
                <a:spcPts val="400"/>
              </a:spcBef>
              <a:defRPr sz="950">
                <a:solidFill>
                  <a:srgbClr val="1E1E1E"/>
                </a:solidFill>
              </a:defRPr>
            </a:pPr>
            <a:r>
              <a:t>Presented by: Sai Prasath P (210425106193) &amp; Tamil Selvan J (210425106242)  |  2nd Year ECE C</a:t>
            </a:r>
            <a:br/>
            <a:r>
              <a:t>Mentor: Mr. Baskar M.E.  |  HOD: Dr. T. S. Arulananth M.E., Ph.D.</a:t>
            </a:r>
            <a:br/>
            <a:r>
              <a:t>Chennai Institute of Technology (Autonomous)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330</Words>
  <Application>Microsoft Office PowerPoint</Application>
  <PresentationFormat>On-screen Show (16:9)</PresentationFormat>
  <Paragraphs>187</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Team Member Responsibilities</vt:lpstr>
      <vt:lpstr>Next Milestone (Review 2)</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RAJA</dc:creator>
  <cp:lastModifiedBy>HP</cp:lastModifiedBy>
  <cp:revision>19</cp:revision>
  <dcterms:created xsi:type="dcterms:W3CDTF">2006-08-10T12:00:00Z</dcterms:created>
  <dcterms:modified xsi:type="dcterms:W3CDTF">2026-07-09T10:47:26Z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c14087d32b64439f8be0fb77d9797412</vt:lpwstr>
  </property>
</Properties>
</file>