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109728"/>
            <a:ext cx="883310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" y="1005840"/>
            <a:ext cx="883310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002060"/>
                </a:solidFill>
                <a:latin typeface="Segoe UI"/>
              </a:defRPr>
            </a:pPr>
            <a:r>
              <a:t>Department of Electronics and Communication Engineering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003366"/>
                </a:solidFill>
                <a:latin typeface="Segoe UI"/>
              </a:defRPr>
            </a:pPr>
            <a:r>
              <a:t>B.E – ECE ( 2 Year C Section)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B41414"/>
                </a:solidFill>
                <a:latin typeface="Segoe UI"/>
              </a:defRPr>
            </a:pPr>
            <a:r>
              <a:t>PROJECT BASED LEARNING FINAL REVIEW  AY 2026-27 ODD SEMESTER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5448" y="1965960"/>
          <a:ext cx="8833104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3104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Real-Time TinyML Hardware Coprocessor with On-Chip Continual Edge Learning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5448" y="3246120"/>
          <a:ext cx="884224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6552"/>
                <a:gridCol w="9144"/>
                <a:gridCol w="4407408"/>
                <a:gridCol w="9144"/>
              </a:tblGrid>
              <a:tr h="579120">
                <a:tc>
                  <a:txBody>
                    <a:bodyPr lIns="109728" tIns="36576"/>
                    <a:lstStyle/>
                    <a:p>
                      <a:pPr>
                        <a:defRPr sz="10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Presented By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109728" tIns="36576"/>
                    <a:lstStyle/>
                    <a:p>
                      <a:pPr>
                        <a:defRPr sz="10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Under the Mentoring of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79120">
                <a:tc>
                  <a:txBody>
                    <a:bodyPr lIns="109728" tIns="36576"/>
                    <a:lstStyle/>
                    <a:p>
                      <a:pPr>
                        <a:defRPr sz="100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Sai Prasath P (210425106193)  |  2nd Year ECE C</a:t>
                      </a:r>
                      <a:br/>
                      <a:r>
                        <a:t>Tamil Selvan J (210425106242)  |  2nd Year ECE C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109728" tIns="36576"/>
                    <a:lstStyle/>
                    <a:p>
                      <a:pPr>
                        <a:defRPr sz="100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Mr. Baskar M.E.</a:t>
                      </a:r>
                      <a:br/>
                      <a:r>
                        <a:t>Assistant Professor / ECE Department / CIT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79120">
                <a:tc>
                  <a:txBody>
                    <a:bodyPr lIns="109728" tIns="36576"/>
                    <a:lstStyle/>
                    <a:p>
                      <a:pPr>
                        <a:defRPr sz="1000" b="0">
                          <a:solidFill>
                            <a:srgbClr val="505050"/>
                          </a:solidFill>
                          <a:latin typeface="Segoe UI"/>
                        </a:defRPr>
                      </a:pPr>
                      <a:r>
                        <a:t>Project Scope: Embedded TinyML, Hardware Security &amp; Kernel Architecture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109728" tIns="36576"/>
                    <a:lstStyle/>
                    <a:p>
                      <a:pPr>
                        <a:defRPr sz="1000" b="0">
                          <a:solidFill>
                            <a:srgbClr val="505050"/>
                          </a:solidFill>
                          <a:latin typeface="Segoe UI"/>
                        </a:defRPr>
                      </a:pPr>
                      <a:r>
                        <a:t>HOD: Dr. T. S. Arulananth M.E., Ph.D.  |  Professor &amp; HOD, 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ABSTRACT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060"/>
                </a:solidFill>
                <a:latin typeface="Segoe UI"/>
              </a:defRPr>
            </a:pPr>
            <a:r>
              <a:t>The Adversarial Evasion Challenge: </a:t>
            </a:r>
            <a:r>
              <a:rPr b="0">
                <a:solidFill>
                  <a:srgbClr val="1E1E1E"/>
                </a:solidFill>
              </a:rPr>
              <a:t>Modern operating systems face severe cyber threats from evasive exploits that leverage Adversarial Machine Learning (AML) camouflage. By padding a single malicious payload with thousands of benign dummy system calls or executing filelessly in memory (`memfd_create`, `LD_PRELOAD`), attackers drop traditional software AI detection models from 99% accuracy down to a defenseless 24.79%.</a:t>
            </a:r>
          </a:p>
          <a:p>
            <a:pPr>
              <a:spcBef>
                <a:spcPts val="600"/>
              </a:spcBef>
              <a:defRPr sz="1050" b="1">
                <a:solidFill>
                  <a:srgbClr val="002060"/>
                </a:solidFill>
                <a:latin typeface="Segoe UI"/>
              </a:defRPr>
            </a:pPr>
            <a:r>
              <a:t>Hardware-Software Co-Design Solution: </a:t>
            </a:r>
            <a:r>
              <a:rPr b="0">
                <a:solidFill>
                  <a:srgbClr val="1E1E1E"/>
                </a:solidFill>
              </a:rPr>
              <a:t>Aegis-Kernel physically separates the threat detection pipeline onto an external, hardware-isolated coprocessor (ESP32 Xtensa Dual-Core @ 240 MHz). A low-latency Linux kernel interceptor extracts live system call traces and streams them across an isolated physical bus (UART/SPI) to the coprocessor with 0% CPU starvation on the host.</a:t>
            </a:r>
          </a:p>
          <a:p>
            <a:pPr>
              <a:spcBef>
                <a:spcPts val="600"/>
              </a:spcBef>
              <a:defRPr sz="1050" b="1">
                <a:solidFill>
                  <a:srgbClr val="002060"/>
                </a:solidFill>
                <a:latin typeface="Segoe UI"/>
              </a:defRPr>
            </a:pPr>
            <a:r>
              <a:t>On-Chip Continual Edge Learning: </a:t>
            </a:r>
            <a:r>
              <a:rPr b="0">
                <a:solidFill>
                  <a:srgbClr val="1E1E1E"/>
                </a:solidFill>
              </a:rPr>
              <a:t>The coprocessor runs a real-time noise-filtering heuristic and a dual-engine classifier (1.25 µs Decision Tree + 42.1 µs Continual Perceptron). To resolve concept drift without cloud retraining, on-chip Momentum SGD updates weights in 38.4 µs over a bounded 16-slot Experience Replay Buffer, persisted to Flash NVS.</a:t>
            </a:r>
          </a:p>
          <a:p>
            <a:pPr>
              <a:spcBef>
                <a:spcPts val="600"/>
              </a:spcBef>
              <a:defRPr sz="1050" b="1">
                <a:solidFill>
                  <a:srgbClr val="002060"/>
                </a:solidFill>
                <a:latin typeface="Segoe UI"/>
              </a:defRPr>
            </a:pPr>
            <a:r>
              <a:t>Empirical Results &amp; Physical Actuation: </a:t>
            </a:r>
            <a:r>
              <a:rPr b="0">
                <a:solidFill>
                  <a:srgbClr val="1E1E1E"/>
                </a:solidFill>
              </a:rPr>
              <a:t>Tested across 12,000 multi-class vectors, Aegis achieves 98.15% post-adaptation accuracy, &lt; 45 µs end-to-end latency, and strictly 0 bytes of dynamic heap allocation. Verified threats immediately trigger a hardware GPIO interrupt to trip an audible buzzer and execute an automated process termination loop.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Outcomes &amp; Literature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8412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651760"/>
                <a:gridCol w="2468880"/>
                <a:gridCol w="2743200"/>
              </a:tblGrid>
              <a:tr h="88011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S. No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 Papers &amp; Literature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Problem Identified in Prior Work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Aegis-Kernel Validated Resolution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880110"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SysDroid: Dynamic ML-Based Malware Analyzer Using Syscall Traces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Vulnerable to System Call Padding &amp; mimicry attacks; causes massive host CPU overhead (&gt; 35%).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Offloaded telemetry to dedicated coprocessor; implemented noise filter stripping camouflage in real 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0110"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Optimizing eBPF-Based Syscall Monitoring for Real-Time Detection in High-Throughput Servers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Kernel verifier bottlenecks and high memory usage cause packet dropping during heavy I/O bursts.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eBPF acts purely as a lightweight router; inference runs fully in hardware with 0B heap leakage on host.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80110"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Artificial Intelligence &amp; Web Privacy (Concept Drift &amp; Evolving Threats)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Static models suffer from data obsolescence; cannot adapt without cloud retraining &amp; privacy leaks.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Implemented On-Chip Continual Learning (Momentum SGD + 16-slot Replay Buffer) permanently stored in Flash NVS.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Project Objectives — Verified &amp; Achieved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051560"/>
            <a:ext cx="4160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388620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1. Low-Latency Kernel Hooking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</a:t>
            </a:r>
            <a:r>
              <a:rPr b="0">
                <a:solidFill>
                  <a:srgbClr val="1E1E1E"/>
                </a:solidFill>
              </a:rPr>
              <a:t>Deployed lightweight /proc &amp; eBPF tracepoint interceptors inside the Linux kernel to capture active system call streams in &lt; 25 µs without host lag.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051560"/>
            <a:ext cx="4160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161288"/>
            <a:ext cx="388620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Segoe UI"/>
              </a:defRPr>
            </a:pPr>
            <a:r>
              <a:t>2. Hardware-Isolated Offloading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</a:t>
            </a:r>
            <a:r>
              <a:rPr b="0">
                <a:solidFill>
                  <a:srgbClr val="1E1E1E"/>
                </a:solidFill>
              </a:rPr>
              <a:t>Constructed a dedicated physical serial/SPI data pipe to stream execution traces to an independent microcontroller, eliminating rootkit tampering.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240280"/>
            <a:ext cx="4160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50008"/>
            <a:ext cx="388620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3. Stream Noise Purification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</a:t>
            </a:r>
            <a:r>
              <a:rPr b="0">
                <a:solidFill>
                  <a:srgbClr val="1E1E1E"/>
                </a:solidFill>
              </a:rPr>
              <a:t>Developed a deterministic Punctuation Entropy &amp; camouflage-stripping algorithm, eliminating false alarms on developer commands from 28.4% to 0.0%.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240280"/>
            <a:ext cx="4160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350008"/>
            <a:ext cx="388620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Segoe UI"/>
              </a:defRPr>
            </a:pPr>
            <a:r>
              <a:t>4. Dual-Engine On-Chip Inference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</a:t>
            </a:r>
            <a:r>
              <a:rPr b="0">
                <a:solidFill>
                  <a:srgbClr val="1E1E1E"/>
                </a:solidFill>
              </a:rPr>
              <a:t>Integrated a 1.25 µs Decision Tree for instant triage and a 42.1 µs Continual Perceptron for behavioral evaluation, operating with 0 bytes dynamic heap.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429000"/>
            <a:ext cx="4160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38728"/>
            <a:ext cx="388620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5. On-Device Continual Edge Learning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</a:t>
            </a:r>
            <a:r>
              <a:rPr b="0">
                <a:solidFill>
                  <a:srgbClr val="1E1E1E"/>
                </a:solidFill>
              </a:rPr>
              <a:t>Implemented Momentum SGD and a bounded 16-slot Experience Replay Buffer, updating weights on-chip in 38.4 µs and saving to Flash NVS.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429000"/>
            <a:ext cx="4160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538728"/>
            <a:ext cx="388620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8A745"/>
                </a:solidFill>
                <a:latin typeface="Segoe UI"/>
              </a:defRPr>
            </a:pPr>
            <a:r>
              <a:t>6. Physical Actuation &amp; Kill Switch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</a:t>
            </a:r>
            <a:r>
              <a:rPr b="0">
                <a:solidFill>
                  <a:srgbClr val="1E1E1E"/>
                </a:solidFill>
              </a:rPr>
              <a:t>Hardwired an un-bypassable GPIO line connected to an active warning buzzer matrix, OLED UI, and automated host process termination daemon.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Problem Statements Identified &amp; Addressed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051560"/>
            <a:ext cx="274320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246888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C3545"/>
                </a:solidFill>
                <a:latin typeface="Segoe UI"/>
              </a:defRPr>
            </a:pPr>
            <a:r>
              <a:t>Adversarial Evasion of Digital Safeguards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The Challenge: </a:t>
            </a:r>
            <a:r>
              <a:rPr b="0">
                <a:solidFill>
                  <a:srgbClr val="1E1E1E"/>
                </a:solidFill>
              </a:rPr>
              <a:t>Modern exploits pad malicious operations with hundreds of benign system calls to obscure digital footprints.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Security Impact: </a:t>
            </a:r>
            <a:r>
              <a:rPr b="0">
                <a:solidFill>
                  <a:srgbClr val="1E1E1E"/>
                </a:solidFill>
              </a:rPr>
              <a:t>Static AI antivirus scanners suffer dramatic accuracy drops (from 99% down to 24.79%), failing to detect zero-day evasion techniques.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Resolution: </a:t>
            </a:r>
            <a:r>
              <a:rPr b="0">
                <a:solidFill>
                  <a:srgbClr val="1E1E1E"/>
                </a:solidFill>
              </a:rPr>
              <a:t>Aegis parses structural entropy and filters padding noise before passing vectors to the ML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051560"/>
            <a:ext cx="274320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161288"/>
            <a:ext cx="246888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Vulnerability of Shared Memory Defenses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The Challenge: </a:t>
            </a:r>
            <a:r>
              <a:rPr b="0">
                <a:solidFill>
                  <a:srgbClr val="1E1E1E"/>
                </a:solidFill>
              </a:rPr>
              <a:t>Traditional endpoint detection agents (EDRs/HIDS) execute on the host CPU and share RAM with untrusted applications.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Security Impact: </a:t>
            </a:r>
            <a:r>
              <a:rPr b="0">
                <a:solidFill>
                  <a:srgbClr val="1E1E1E"/>
                </a:solidFill>
              </a:rPr>
              <a:t>Kernel-level exploits (e.g. Dirty Pipe, Polkit) grant root access to attackers, allowing them to blind, unhook, or terminate software firewalls.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Resolution: </a:t>
            </a:r>
            <a:r>
              <a:rPr b="0">
                <a:solidFill>
                  <a:srgbClr val="1E1E1E"/>
                </a:solidFill>
              </a:rPr>
              <a:t>Physical hardware decoupling onto an external coprocessor guarantees the security engine cannot be tampered with.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051560"/>
            <a:ext cx="274320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161288"/>
            <a:ext cx="246888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Segoe UI"/>
              </a:defRPr>
            </a:pPr>
            <a:r>
              <a:t>Compute Starvation &amp; Cloud Latency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The Challenge: </a:t>
            </a:r>
            <a:r>
              <a:rPr b="0">
                <a:solidFill>
                  <a:srgbClr val="1E1E1E"/>
                </a:solidFill>
              </a:rPr>
              <a:t>Continuous deep-packet or syscall inspection on the host CPU exhausts battery and CPU cycles, while cloud offloading incurs 100ms - 5s latency.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Security Impact: </a:t>
            </a:r>
            <a:r>
              <a:rPr b="0">
                <a:solidFill>
                  <a:srgbClr val="1E1E1E"/>
                </a:solidFill>
              </a:rPr>
              <a:t>High latency prevents real-time pre-execution blocking; malware executes and deletes traces before cloud SIEM responses arrive.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Resolution: </a:t>
            </a:r>
            <a:r>
              <a:rPr b="0">
                <a:solidFill>
                  <a:srgbClr val="1E1E1E"/>
                </a:solidFill>
              </a:rPr>
              <a:t>On-device sub-45 µs inference delivers deterministic pre-execution blocking without cloud dependencies.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Solutions &amp; Core System Innovations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051560"/>
            <a:ext cx="4160520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388620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1. Physical Separation Boundary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Isolated Coprocessor: </a:t>
            </a:r>
            <a:r>
              <a:rPr b="0">
                <a:solidFill>
                  <a:srgbClr val="1E1E1E"/>
                </a:solidFill>
              </a:rPr>
              <a:t>Running the classification engine on a dedicated microcontroller ensures the monitoring framework remains 100% un-hackable.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Bus Isolation: </a:t>
            </a:r>
            <a:r>
              <a:rPr b="0">
                <a:solidFill>
                  <a:srgbClr val="1E1E1E"/>
                </a:solidFill>
              </a:rPr>
              <a:t>Telemetry streams across physical UART/SPI; the host OS possesses no electrical access to overwrite coprocessor registers.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051560"/>
            <a:ext cx="4160520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161288"/>
            <a:ext cx="388620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2. Hardware Stream Purification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Camouflage Stripping: </a:t>
            </a:r>
            <a:r>
              <a:rPr b="0">
                <a:solidFill>
                  <a:srgbClr val="1E1E1E"/>
                </a:solidFill>
              </a:rPr>
              <a:t>Shifting the log stream onto the coprocessor strips injected dummy system calls smoothly without causing CPU lag on the host.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Punctuation Entropy: </a:t>
            </a:r>
            <a:r>
              <a:rPr b="0">
                <a:solidFill>
                  <a:srgbClr val="1E1E1E"/>
                </a:solidFill>
              </a:rPr>
              <a:t>Exempts structured developer commands (`python3 -c`, scripts) based on syntactic character ratios, suppressing false positives.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834639"/>
            <a:ext cx="4160520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44367"/>
            <a:ext cx="388620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3. Dual-Engine Real-Time ML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Fast Decision Tree: </a:t>
            </a:r>
            <a:r>
              <a:rPr b="0">
                <a:solidFill>
                  <a:srgbClr val="1E1E1E"/>
                </a:solidFill>
              </a:rPr>
              <a:t>Inlined assembly conditional branches evaluate known signatures in 1.25 µs.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Continual Perceptron: </a:t>
            </a:r>
            <a:r>
              <a:rPr b="0">
                <a:solidFill>
                  <a:srgbClr val="1E1E1E"/>
                </a:solidFill>
              </a:rPr>
              <a:t>Evaluates weighted behavioral probabilities in 42.1 µs with zero dynamic heap allocation.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834639"/>
            <a:ext cx="4160520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944367"/>
            <a:ext cx="388620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4. Un-Bypassable Hardware Interrupt Loop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Physical GPIO Trigger: </a:t>
            </a:r>
            <a:r>
              <a:rPr b="0">
                <a:solidFill>
                  <a:srgbClr val="1E1E1E"/>
                </a:solidFill>
              </a:rPr>
              <a:t>Direct physical pin driven HIGH trips an active buzzer and optical LED strobe.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Host Kill Daemon: </a:t>
            </a:r>
            <a:r>
              <a:rPr b="0">
                <a:solidFill>
                  <a:srgbClr val="1E1E1E"/>
                </a:solidFill>
              </a:rPr>
              <a:t>Dedicated background listener freezes and terminates the malicious PID automatically within milliseconds.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Interdisciplinary Subjects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051560"/>
            <a:ext cx="274320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246888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Operating Systems &amp; Kernel Architecture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Kernel Interception: </a:t>
            </a:r>
            <a:r>
              <a:rPr b="0">
                <a:solidFill>
                  <a:srgbClr val="1E1E1E"/>
                </a:solidFill>
              </a:rPr>
              <a:t>Leveraging Linux `/proc` virtualization and eBPF tracepoint hooks to trap runtime execution directly at the core execution layer.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Process Telemetry: </a:t>
            </a:r>
            <a:r>
              <a:rPr b="0">
                <a:solidFill>
                  <a:srgbClr val="1E1E1E"/>
                </a:solidFill>
              </a:rPr>
              <a:t>Capturing PID, PPID, UID, executable path, command-line arguments, and socket file descriptors without kernel patching.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Privilege Boundaries: </a:t>
            </a:r>
            <a:r>
              <a:rPr b="0">
                <a:solidFill>
                  <a:srgbClr val="1E1E1E"/>
                </a:solidFill>
              </a:rPr>
              <a:t>Monitoring effective UID transitions to detect unauthorized privilege escalation exploits (rootkit deterrence).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051560"/>
            <a:ext cx="274320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161288"/>
            <a:ext cx="246888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Segoe UI"/>
              </a:defRPr>
            </a:pPr>
            <a:r>
              <a:t>Microprocessors &amp; Real-Time Embedded Systems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Compute Core: </a:t>
            </a:r>
            <a:r>
              <a:rPr b="0">
                <a:solidFill>
                  <a:srgbClr val="1E1E1E"/>
                </a:solidFill>
              </a:rPr>
              <a:t>Dual-Core 32-bit Xtensa LX6 @ 240 MHz (ESP32 DEVKIT V1) executing sub-45 µs ML inference with hardware floating-point acceleration.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Memory Determinism: </a:t>
            </a:r>
            <a:r>
              <a:rPr b="0">
                <a:solidFill>
                  <a:srgbClr val="1E1E1E"/>
                </a:solidFill>
              </a:rPr>
              <a:t>100% static allocation (0 bytes dynamic heap malloc/free) in internal SRAM, preventing heap fragmentation in 24/7 industrial edge nodes.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Flash NVS Persistence: </a:t>
            </a:r>
            <a:r>
              <a:rPr b="0">
                <a:solidFill>
                  <a:srgbClr val="1E1E1E"/>
                </a:solidFill>
              </a:rPr>
              <a:t>Integrated wear-leveling SPI Flash storage to save adapted neural weights permanently across power reboots.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051560"/>
            <a:ext cx="274320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161288"/>
            <a:ext cx="246888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VLSI, Digital Logic &amp; Hardware Interfacing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Asynchronous Bus Protocol: </a:t>
            </a:r>
            <a:r>
              <a:rPr b="0">
                <a:solidFill>
                  <a:srgbClr val="1E1E1E"/>
                </a:solidFill>
              </a:rPr>
              <a:t>High-speed UART &amp; SPI communication pipes with hardware flow control and optocoupler electrical isolation.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Bus Noise Suppression: </a:t>
            </a:r>
            <a:r>
              <a:rPr b="0">
                <a:solidFill>
                  <a:srgbClr val="1E1E1E"/>
                </a:solidFill>
              </a:rPr>
              <a:t>4.7 kΩ pull-up resistors on I2C bus lines guaranteeing clean 400 kHz clock/data transmission to the SSD1306 OLED.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Physical Actuation Array: </a:t>
            </a:r>
            <a:r>
              <a:rPr b="0">
                <a:solidFill>
                  <a:srgbClr val="1E1E1E"/>
                </a:solidFill>
              </a:rPr>
              <a:t>NPN 2N2222 transistor driver with flyback protection diode driving high-intensity piezo buzzers and strobe LEDs.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Hardware Implementation &amp; Component Bill of Materials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8412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468880"/>
                <a:gridCol w="914400"/>
                <a:gridCol w="914400"/>
              </a:tblGrid>
              <a:tr h="5867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Component Name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Specification / Architecture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Functional Role in Aegis Framework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Cost (INR)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86740"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ESP32 DEVKIT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Dual-Core Xtensa LX6 @ 240 MHz, 520KB SRAM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Primary Edge TinyML Inference &amp; Continual SGD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₹450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Verified &amp; 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SSD1306 OLED Display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0.96-inch Monochrome 128x64, I2C Fast-Mode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Visual telemetry UI: entropy bar, threat score, buffer count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₹220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Verified &amp; Operational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586740"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Active Piezo Buzzer 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3.3V - 5V DC, 85 dB SPL, 2.4 - 3.5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Multi-tier acoustic alert (chirps, warble alarm siren)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₹60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Verified &amp; 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Visual Alert Strobe LED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Ultra-Bright Blue/Red SMD LED + 220Ω Resistor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Optical intrusion flash warning on GPIO 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₹30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Verified &amp; Operational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586740"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USB-UART / SPI Bridge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CP2102 Hardware Bridge @ 115,200 Baud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Isolated physical transmission bus between host &amp; coprocessor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₹180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Verified &amp; 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Overall System Architecture (Verified Setup)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slide_11_Picture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329184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40480" y="1051560"/>
            <a:ext cx="493776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1161288"/>
            <a:ext cx="466344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Architecture Workflow &amp; Operational Highlights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Suspect Process Execution: </a:t>
            </a:r>
            <a:r>
              <a:rPr b="0">
                <a:solidFill>
                  <a:srgbClr val="1E1E1E"/>
                </a:solidFill>
              </a:rPr>
              <a:t>Linux host spawns user-space or system tasks. eBPF hooks immediately trap the event before payload execution.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Secure Hardware Pipeline: </a:t>
            </a:r>
            <a:r>
              <a:rPr b="0">
                <a:solidFill>
                  <a:srgbClr val="1E1E1E"/>
                </a:solidFill>
              </a:rPr>
              <a:t>Captured metadata is tokenized and transmitted across an isolated serial/SPI transmission bus, bypassing shared memory entirely.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Isolated Coprocessor Inspection: </a:t>
            </a:r>
            <a:r>
              <a:rPr b="0">
                <a:solidFill>
                  <a:srgbClr val="1E1E1E"/>
                </a:solidFill>
              </a:rPr>
              <a:t>ESP32 Xtensa core extracts 8D feature vector, evaluates Shannon character entropy, and executes dual-engine ML inference in &lt; 45 µs.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Hardware-Enforced Mitigation: </a:t>
            </a:r>
            <a:r>
              <a:rPr b="0">
                <a:solidFill>
                  <a:srgbClr val="1E1E1E"/>
                </a:solidFill>
              </a:rPr>
              <a:t>When a critical threat is confirmed, the coprocessor drives a physical GPIO pin HIGH. The physical buzzer sounds and an un-bypassable process kill code freezes the exploited PID.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Real-Time Telemetry &amp; Detection Flowchart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slide_12_Picture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33832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931920" y="1051560"/>
            <a:ext cx="484632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161288"/>
            <a:ext cx="457200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Decision Logic &amp; Execution Flow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Step 1: Intercept &amp; Frame: </a:t>
            </a:r>
            <a:r>
              <a:rPr b="0">
                <a:solidFill>
                  <a:srgbClr val="1E1E1E"/>
                </a:solidFill>
              </a:rPr>
              <a:t>Incoming process metadata is parsed from the UART ring buffer into structured ASCII tokens without dynamic memory allocation.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Step 2: Entropy &amp; Punctuation Filter: </a:t>
            </a:r>
            <a:r>
              <a:rPr b="0">
                <a:solidFill>
                  <a:srgbClr val="1E1E1E"/>
                </a:solidFill>
              </a:rPr>
              <a:t>Shannon entropy H(X) is calculated across argument characters. Syntax punctuation ratio is checked to exempt safe developer commands.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Step 3: Fast Decision Tree Triage: </a:t>
            </a:r>
            <a:r>
              <a:rPr b="0">
                <a:solidFill>
                  <a:srgbClr val="1E1E1E"/>
                </a:solidFill>
              </a:rPr>
              <a:t>Evaluates explicit structural signatures (temporary directory execution + active network sockets) in exactly 1.25 µs.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Step 4: Continual Perceptron Inference: </a:t>
            </a:r>
            <a:r>
              <a:rPr b="0">
                <a:solidFill>
                  <a:srgbClr val="1E1E1E"/>
                </a:solidFill>
              </a:rPr>
              <a:t>Evaluates weighted probability P(Malicious | x). If analyst flags zero-day evasion, on-chip Momentum SGD updates weights in 38.4 µs.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Step 5: Physical Alert &amp; Process Termination: </a:t>
            </a:r>
            <a:r>
              <a:rPr b="0">
                <a:solidFill>
                  <a:srgbClr val="1E1E1E"/>
                </a:solidFill>
              </a:rPr>
              <a:t>Threat Score S (0-100) triggers multi-modal alerts (OLED/Buzzer/Strobe) and forces process kill loop.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8-Dimensional Behavioral Feature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8412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1645920"/>
                <a:gridCol w="4023360"/>
              </a:tblGrid>
              <a:tr h="3911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Mathematical Identifier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Domain &amp; Range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Security &amp; Behavioral Significance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91160"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x0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is_temp_path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{0.0, 1.0} 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Flag indicating execution from volatile directories (/tmp, /dev/shm) used by droppers.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x1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arg_length_log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[0.0, 1.0] Normalized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Logarithmic normalization: log2(1 + len) / 12.0. Identifies sprawling shellcode.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91160"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x2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shannon_entropy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[0.0, 8.0] Bits/Char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Shannon entropy H(X) = -∑ P(c) log2 P(c). Quantifies obfuscation &amp; base64 packing.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x3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is_root_uid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{0.0, 1.0} Binary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Flag indicating effective execution UID == 0 (root). Identifies privilege escalation.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91160"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x4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network_socket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{0.0, 1.0} 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Flag indicating active TCP/UDP socket creation. Detects reverse shells &amp; C2 beaconing.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x5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parent_anomaly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[0.0, 1.0] Continuous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Heuristic parent-child process mismatch (e.g. Apache or Nginx spawning /bin/bash).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91160"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x6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fileless_memfd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{0.0, 1.0} 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Flag indicating execution from anonymous in-memory descriptors without backing disk files.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x7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entropy_rate_delta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[-1.0, 1.0] Differential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Differential entropy between process binary name and argument payload.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On-Chip Continual Edge Learning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051560"/>
            <a:ext cx="429768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402336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Momentum SGD Mathematical Formulation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Overcoming Concept Drift: </a:t>
            </a:r>
            <a:r>
              <a:rPr b="0">
                <a:solidFill>
                  <a:srgbClr val="1E1E1E"/>
                </a:solidFill>
              </a:rPr>
              <a:t>When adversaries mutate attack syntax, static models fail. Aegis updates its decision hyperplane directly on the ESP32 in 38.4 µs.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Velocity Acceleration: </a:t>
            </a:r>
            <a:r>
              <a:rPr b="0">
                <a:solidFill>
                  <a:srgbClr val="1E1E1E"/>
                </a:solidFill>
              </a:rPr>
              <a:t>v^(t+1) = β · v^(t) + η · (y_hat - y) · x
Exponentially decaying velocity dampens oscillations in sparse feature dimensions.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Weight Update Step: </a:t>
            </a:r>
            <a:r>
              <a:rPr b="0">
                <a:solidFill>
                  <a:srgbClr val="1E1E1E"/>
                </a:solidFill>
              </a:rPr>
              <a:t>w^(t+1) = w^(t) - v^(t+1)
b^(t+1) = b^(t) - η · (y_hat - y)
Executed via hardware FPU registers on the Xtensa LX6 dual-core processor.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Configured Hyperparameters: </a:t>
            </a:r>
            <a:r>
              <a:rPr b="0">
                <a:solidFill>
                  <a:srgbClr val="1E1E1E"/>
                </a:solidFill>
              </a:rPr>
              <a:t>Learning Rate η = 0.05 | Momentum β = 0.90
Guarantees rapid convergence without boundary overshoot.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Flash NVS Persistence: </a:t>
            </a:r>
            <a:r>
              <a:rPr b="0">
                <a:solidFill>
                  <a:srgbClr val="1E1E1E"/>
                </a:solidFill>
              </a:rPr>
              <a:t>Updated weights committed to SPI Flash Non-Volatile Storage (NVS) with wear-leveling endurance &gt; 100,000 cycles.</a:t>
            </a:r>
          </a:p>
        </p:txBody>
      </p:sp>
      <p:pic>
        <p:nvPicPr>
          <p:cNvPr id="8" name="Picture 7" descr="fig4_adaptation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51560"/>
            <a:ext cx="393192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Bounded Experience Replay Buffer &amp; Zero-Heap 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051560"/>
            <a:ext cx="411480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384048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Experience Replay (ER) Architecture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Catastrophic Forgetting Problem: </a:t>
            </a:r>
            <a:r>
              <a:rPr b="0">
                <a:solidFill>
                  <a:srgbClr val="1E1E1E"/>
                </a:solidFill>
              </a:rPr>
              <a:t>Updating neural weights on novel exploit mutations typically overwrites previously learned patterns, causing catastrophic failure on benign classes.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16-Slot FIFO Ring Buffer: </a:t>
            </a:r>
            <a:r>
              <a:rPr b="0">
                <a:solidFill>
                  <a:srgbClr val="1E1E1E"/>
                </a:solidFill>
              </a:rPr>
              <a:t>Aegis statically pre-allocates a circular 16-slot Experience Replay Buffer (exactly 1,536 bytes) holding 8D feature vectors and ground-truth labels.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Constant O(1) Memory Complexity: </a:t>
            </a:r>
            <a:r>
              <a:rPr b="0">
                <a:solidFill>
                  <a:srgbClr val="1E1E1E"/>
                </a:solidFill>
              </a:rPr>
              <a:t>Eliminates dynamic memory scaling. New events interleave with historical benign and malicious anchors.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On-Chip Consolidation Pass: </a:t>
            </a:r>
            <a:r>
              <a:rPr b="0">
                <a:solidFill>
                  <a:srgbClr val="1E1E1E"/>
                </a:solidFill>
              </a:rPr>
              <a:t>Consolidation pass iterates through all 16 slots in 38.4 µs, preserving past knowledge while absorbing novel mutations.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051560"/>
            <a:ext cx="411480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161288"/>
            <a:ext cx="384048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Segoe UI"/>
              </a:defRPr>
            </a:pPr>
            <a:r>
              <a:t>Provable Zero Dynamic Heap Memory Safety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Zero Heap Allocations: </a:t>
            </a:r>
            <a:r>
              <a:rPr b="0">
                <a:solidFill>
                  <a:srgbClr val="1E1E1E"/>
                </a:solidFill>
              </a:rPr>
              <a:t>Exactly 0 bytes of dynamic heap memory (`malloc`, `free`, `new`) used during runtime inference and training.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Compile-Time Static Layout: </a:t>
            </a:r>
            <a:r>
              <a:rPr b="0">
                <a:solidFill>
                  <a:srgbClr val="1E1E1E"/>
                </a:solidFill>
              </a:rPr>
              <a:t>Total static SRAM consumed: 53,640 bytes (only 10.3% of 520 KB capacity). 89.7% memory headroom remains free.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Static Buffer Breakdown: </a:t>
            </a:r>
            <a:r>
              <a:rPr b="0">
                <a:solidFill>
                  <a:srgbClr val="1E1E1E"/>
                </a:solidFill>
              </a:rPr>
              <a:t>• Serial Ring Buffer: 2,048 Bytes
• Replay Buffer: 1,536 Bytes
• Feature Scratchpad: 1,024 Bytes
• Model Weights: 512 Bytes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72-Hour Continuous Stress Test: </a:t>
            </a:r>
            <a:r>
              <a:rPr b="0">
                <a:solidFill>
                  <a:srgbClr val="1E1E1E"/>
                </a:solidFill>
              </a:rPr>
              <a:t>Verified 0 bytes of memory drift (`esp_get_free_heap_size()`) across 3 continuous days of active exploit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Quantitative Results &amp; Performance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051560"/>
            <a:ext cx="2011680" cy="100584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97280"/>
            <a:ext cx="18653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8A745"/>
                </a:solidFill>
                <a:latin typeface="Segoe UI"/>
              </a:defRPr>
            </a:pPr>
            <a:r>
              <a:t>ACCURACY</a:t>
            </a:r>
          </a:p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92.46% -&gt; 98.15%</a:t>
            </a:r>
          </a:p>
          <a:p>
            <a:pPr>
              <a:defRPr sz="850">
                <a:solidFill>
                  <a:srgbClr val="1E1E1E"/>
                </a:solidFill>
                <a:latin typeface="Segoe UI"/>
              </a:defRPr>
            </a:pPr>
            <a:r>
              <a:t>Post-Continual Adaptation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051560"/>
            <a:ext cx="2011680" cy="100584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7752" y="1097280"/>
            <a:ext cx="18653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2060"/>
                </a:solidFill>
                <a:latin typeface="Segoe UI"/>
              </a:defRPr>
            </a:pPr>
            <a:r>
              <a:t>PRECISION</a:t>
            </a:r>
          </a:p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97.80%</a:t>
            </a:r>
          </a:p>
          <a:p>
            <a:pPr>
              <a:defRPr sz="850">
                <a:solidFill>
                  <a:srgbClr val="1E1E1E"/>
                </a:solidFill>
                <a:latin typeface="Segoe UI"/>
              </a:defRPr>
            </a:pPr>
            <a:r>
              <a:t>True Positives / Predicted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051560"/>
            <a:ext cx="2011680" cy="100584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097280"/>
            <a:ext cx="18653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366"/>
                </a:solidFill>
                <a:latin typeface="Segoe UI"/>
              </a:defRPr>
            </a:pPr>
            <a:r>
              <a:t>RECALL</a:t>
            </a:r>
          </a:p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98.50%</a:t>
            </a:r>
          </a:p>
          <a:p>
            <a:pPr>
              <a:defRPr sz="850">
                <a:solidFill>
                  <a:srgbClr val="1E1E1E"/>
                </a:solidFill>
                <a:latin typeface="Segoe UI"/>
              </a:defRPr>
            </a:pPr>
            <a:r>
              <a:t>True Positives / Actual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051560"/>
            <a:ext cx="2011680" cy="100584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2" y="1097280"/>
            <a:ext cx="18653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2060"/>
                </a:solidFill>
                <a:latin typeface="Segoe UI"/>
              </a:defRPr>
            </a:pPr>
            <a:r>
              <a:t>F1-SCORE / ROC</a:t>
            </a:r>
          </a:p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0.9815 / 0.9940</a:t>
            </a:r>
          </a:p>
          <a:p>
            <a:pPr>
              <a:defRPr sz="850">
                <a:solidFill>
                  <a:srgbClr val="1E1E1E"/>
                </a:solidFill>
                <a:latin typeface="Segoe UI"/>
              </a:defRPr>
            </a:pPr>
            <a:r>
              <a:t>Harmonic Balance &amp; AUC</a:t>
            </a:r>
          </a:p>
        </p:txBody>
      </p:sp>
      <p:pic>
        <p:nvPicPr>
          <p:cNvPr id="14" name="Picture 13" descr="Fig5_Confusion_Matrix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48840"/>
            <a:ext cx="4114800" cy="2423160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663440" y="2148840"/>
          <a:ext cx="4114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914400"/>
                <a:gridCol w="914400"/>
              </a:tblGrid>
              <a:tr h="60579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Actual Ground Truth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Pred: SAFE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Pred: MAL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605790">
                <a:tc>
                  <a:txBody>
                    <a:bodyPr lIns="45720"/>
                    <a:lstStyle/>
                    <a:p>
                      <a:pPr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Actual SAFE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5,548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45720"/>
                    <a:lstStyle/>
                    <a:p>
                      <a:pPr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Actual MALICIOUS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45720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453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45720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5,547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45720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605790">
                <a:tc>
                  <a:txBody>
                    <a:bodyPr lIns="45720"/>
                    <a:lstStyle/>
                    <a:p>
                      <a:pPr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Total 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/>
                    <a:lstStyle/>
                    <a:p>
                      <a:pPr>
                        <a:defRPr sz="850" b="1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6,001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/>
                    <a:lstStyle/>
                    <a:p>
                      <a:pPr>
                        <a:defRPr sz="850" b="1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5,999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/>
                    <a:lstStyle/>
                    <a:p>
                      <a:pPr>
                        <a:defRPr sz="850" b="1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12,000 (92.46%)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Microsecond Execution Latency 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49377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1097280"/>
              </a:tblGrid>
              <a:tr h="44005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Firmware Subsystem / Task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Maximum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Performance Status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40055"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UART Ring Buffer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8.5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12.1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92% Headroom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Shannon Information Entropy H(X)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18.4 µs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24.6 µs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75% Headroom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40055"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8D Feature Assembly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4.3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6.2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94% Headroom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Decision Tree Frontline Triage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1.25 µs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1.8 µs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Ultra-Fast (98%)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40055"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Continual Perceptron Forward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36.2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42.1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58% Headroom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lIns="54864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Total End-to-End Inference Latency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41.5 µs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44.8 µs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Sub-50 µs Guaranteed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40055"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On-Chip Momentum SGD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38.4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43.5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Real-Time Edge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0" y="1051560"/>
            <a:ext cx="329184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0" y="1161288"/>
            <a:ext cx="301752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Segoe UI"/>
              </a:defRPr>
            </a:pPr>
            <a:r>
              <a:t>Pre-Execution Containment Significance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Pre-Execution Window: </a:t>
            </a:r>
            <a:r>
              <a:rPr b="0">
                <a:solidFill>
                  <a:srgbClr val="1E1E1E"/>
                </a:solidFill>
              </a:rPr>
              <a:t>Traditional in-memory droppers map and execute shellcode within 10 to 50 milliseconds.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Aegis Microsecond Guarantee: </a:t>
            </a:r>
            <a:r>
              <a:rPr b="0">
                <a:solidFill>
                  <a:srgbClr val="1E1E1E"/>
                </a:solidFill>
              </a:rPr>
              <a:t>By completing end-to-end evaluation in 41.5 µs, Aegis intercepts and flags exploits over 200x faster than malware execution time.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Non-Blocking Background I/O: </a:t>
            </a:r>
            <a:r>
              <a:rPr b="0">
                <a:solidFill>
                  <a:srgbClr val="1E1E1E"/>
                </a:solidFill>
              </a:rPr>
              <a:t>OLED display flushes (9.1 ms) and Flash NVS commits (1.8 ms) execute asynchronously on Core 1 without interrupting Core 0 inference.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Live Telemetry &amp; Threat Neutralization Scenarios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051560"/>
            <a:ext cx="4160520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388620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8A745"/>
                </a:solidFill>
                <a:latin typeface="Segoe UI"/>
              </a:defRPr>
            </a:pPr>
            <a:r>
              <a:t>TIER 0: SAFE (Score S = 12)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</a:t>
            </a:r>
            <a:r>
              <a:rPr b="0">
                <a:solidFill>
                  <a:srgbClr val="1E1E1E"/>
                </a:solidFill>
              </a:rPr>
              <a:t>Command: `ls -la /home/user &amp;&amp; git status`
Entropy: 1.85 bits/char | Temp Path: 0 | Socket: 0
Response: Green 'SAFE' OLED banner; buzzer &amp; strobe silent.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051560"/>
            <a:ext cx="4160520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161288"/>
            <a:ext cx="388620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CC00"/>
                </a:solidFill>
                <a:latin typeface="Segoe UI"/>
              </a:defRPr>
            </a:pPr>
            <a:r>
              <a:t>TIER 1: SUSPICIOUS (Score S = 18)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</a:t>
            </a:r>
            <a:r>
              <a:rPr b="0">
                <a:solidFill>
                  <a:srgbClr val="1E1E1E"/>
                </a:solidFill>
              </a:rPr>
              <a:t>Command: `python3 -c "print('Hello'); time.sleep(1)"`
Entropy: 3.39 bits/char (High) | Punctuation Ratio: &gt; 18%
Response: Yellow 'SAFE VIA EXEMPTION' (0.0% False Alarms).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834639"/>
            <a:ext cx="4160520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E6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44367"/>
            <a:ext cx="388620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66400"/>
                </a:solidFill>
                <a:latin typeface="Segoe UI"/>
              </a:defRPr>
            </a:pPr>
            <a:r>
              <a:t>TIER 2: MALICIOUS (Score S = 78)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</a:t>
            </a:r>
            <a:r>
              <a:rPr b="0">
                <a:solidFill>
                  <a:srgbClr val="1E1E1E"/>
                </a:solidFill>
              </a:rPr>
              <a:t>Command: `xmrig --url stratum+tcp://... -u 44AFF...`
Entropy: 4.21 bits/char | Temp Path: 1 | Sockets: Active
Response: Red warning banner; rapid dual-chirp buzzer; strobe @ 5Hz.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834639"/>
            <a:ext cx="4160520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944367"/>
            <a:ext cx="388620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C3545"/>
                </a:solidFill>
                <a:latin typeface="Segoe UI"/>
              </a:defRPr>
            </a:pPr>
            <a:r>
              <a:t>TIER 3: CRITICAL (Score S = 96)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</a:t>
            </a:r>
            <a:r>
              <a:rPr b="0">
                <a:solidFill>
                  <a:srgbClr val="1E1E1E"/>
                </a:solidFill>
              </a:rPr>
              <a:t>Command: `memfd_create dropper &amp;&amp; curl ... | bash`
Entropy: 4.85 bits/char | Fileless memfd: 1 | Reverse Shell
Response: Flashing Inverted OLED; 3.5kHz warble siren; Process KILLED.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Project Completion Percentage — 100%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051560"/>
            <a:ext cx="8412480" cy="6400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06424"/>
            <a:ext cx="8138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060"/>
                </a:solidFill>
                <a:latin typeface="Segoe UI"/>
              </a:defRPr>
            </a:pPr>
            <a:r>
              <a:t>Phase 1: System Blueprint &amp; Literature Mapping — </a:t>
            </a:r>
            <a:r>
              <a:rPr b="1">
                <a:solidFill>
                  <a:srgbClr val="28A745"/>
                </a:solidFill>
              </a:rPr>
              <a:t>100% COMPLETED</a:t>
            </a:r>
          </a:p>
          <a:p>
            <a:pPr>
              <a:spcBef>
                <a:spcPts val="100"/>
              </a:spcBef>
              <a:defRPr sz="850">
                <a:solidFill>
                  <a:srgbClr val="1E1E1E"/>
                </a:solidFill>
                <a:latin typeface="Segoe UI"/>
              </a:defRPr>
            </a:pPr>
            <a:r>
              <a:t>Comprehensive analysis of AML evasion, eBPF telemetry hooks, and edge TinyML hardware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64792"/>
            <a:ext cx="8412480" cy="6400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19656"/>
            <a:ext cx="8138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060"/>
                </a:solidFill>
                <a:latin typeface="Segoe UI"/>
              </a:defRPr>
            </a:pPr>
            <a:r>
              <a:t>Phase 2: Hardware Acquisition &amp; Circuit Wiring — </a:t>
            </a:r>
            <a:r>
              <a:rPr b="1">
                <a:solidFill>
                  <a:srgbClr val="28A745"/>
                </a:solidFill>
              </a:rPr>
              <a:t>100% COMPLETED</a:t>
            </a:r>
          </a:p>
          <a:p>
            <a:pPr>
              <a:spcBef>
                <a:spcPts val="100"/>
              </a:spcBef>
              <a:defRPr sz="850">
                <a:solidFill>
                  <a:srgbClr val="1E1E1E"/>
                </a:solidFill>
                <a:latin typeface="Segoe UI"/>
              </a:defRPr>
            </a:pPr>
            <a:r>
              <a:t>ESP32 DEVKIT V1, SSD1306 OLED, piezo buzzer, alert strobe, and isolated USB-UART bridge breadboarded &amp; PCB-ready.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478024"/>
            <a:ext cx="8412480" cy="6400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32888"/>
            <a:ext cx="8138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060"/>
                </a:solidFill>
                <a:latin typeface="Segoe UI"/>
              </a:defRPr>
            </a:pPr>
            <a:r>
              <a:t>Phase 3: Software Kernel Interception Scripts — </a:t>
            </a:r>
            <a:r>
              <a:rPr b="1">
                <a:solidFill>
                  <a:srgbClr val="28A745"/>
                </a:solidFill>
              </a:rPr>
              <a:t>100% COMPLETED</a:t>
            </a:r>
          </a:p>
          <a:p>
            <a:pPr>
              <a:spcBef>
                <a:spcPts val="100"/>
              </a:spcBef>
              <a:defRPr sz="850">
                <a:solidFill>
                  <a:srgbClr val="1E1E1E"/>
                </a:solidFill>
                <a:latin typeface="Segoe UI"/>
              </a:defRPr>
            </a:pPr>
            <a:r>
              <a:t>Linux /proc &amp; eBPF tracepoint scripts capturing PID, PPID, UID, cmdline, and sockets into real-time frames.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191256"/>
            <a:ext cx="8412480" cy="6400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8138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060"/>
                </a:solidFill>
                <a:latin typeface="Segoe UI"/>
              </a:defRPr>
            </a:pPr>
            <a:r>
              <a:t>Phase 4: Data Processing &amp; ML Filtering Logic — </a:t>
            </a:r>
            <a:r>
              <a:rPr b="1">
                <a:solidFill>
                  <a:srgbClr val="28A745"/>
                </a:solidFill>
              </a:rPr>
              <a:t>100% COMPLETED</a:t>
            </a:r>
          </a:p>
          <a:p>
            <a:pPr>
              <a:spcBef>
                <a:spcPts val="100"/>
              </a:spcBef>
              <a:defRPr sz="850">
                <a:solidFill>
                  <a:srgbClr val="1E1E1E"/>
                </a:solidFill>
                <a:latin typeface="Segoe UI"/>
              </a:defRPr>
            </a:pPr>
            <a:r>
              <a:t>Transpiled Decision Tree (&lt; 1.5 µs), Continual Perceptron (&lt; 42 µs), and Punctuation Entropy Exemption Filter.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904487"/>
            <a:ext cx="8412480" cy="6400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59351"/>
            <a:ext cx="8138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060"/>
                </a:solidFill>
                <a:latin typeface="Segoe UI"/>
              </a:defRPr>
            </a:pPr>
            <a:r>
              <a:t>Phase 5: Automated Interrupt Loops &amp; Calibration — </a:t>
            </a:r>
            <a:r>
              <a:rPr b="1">
                <a:solidFill>
                  <a:srgbClr val="28A745"/>
                </a:solidFill>
              </a:rPr>
              <a:t>100% COMPLETED</a:t>
            </a:r>
          </a:p>
          <a:p>
            <a:pPr>
              <a:spcBef>
                <a:spcPts val="100"/>
              </a:spcBef>
              <a:defRPr sz="850">
                <a:solidFill>
                  <a:srgbClr val="1E1E1E"/>
                </a:solidFill>
                <a:latin typeface="Segoe UI"/>
              </a:defRPr>
            </a:pPr>
            <a:r>
              <a:t>Momentum SGD on-chip backprop (38.4 µs), 16-slot Replay Buffer, Flash NVS persistence, physical buzzer &amp; process kill switch.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Comparative Analysis vs State-of-the-Art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8412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280160"/>
                <a:gridCol w="1280160"/>
                <a:gridCol w="1188720"/>
                <a:gridCol w="1188720"/>
              </a:tblGrid>
              <a:tr h="5867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Compute Core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Continual Learning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Heap Memory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Hardware Cost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86740"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Cloud SIEM (Splunk)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AWS Server 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150ms – 4.5s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Cloud Batch Retrain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Gigabytes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High ($$$/mo)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Host EDR (Wazuh/CrowdStrike)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Host CPU (x86_64)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10ms – 50ms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None (Ruleset)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Megabytes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License Fee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586740"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EdgeEye (Ray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ARM Cortex-M4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450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None (Static Frozen)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Dynamic (~12KB)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$15 – $25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TinyIDS (Al-Hawawreh)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Raspberry Pi 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12 ms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Offline Retraining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Dynamic (Python)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$45 – $75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586740">
                <a:tc>
                  <a:txBody>
                    <a:bodyPr lIns="54864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Aegis-Kernel (Ours)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ESP32 (240 MHz)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&lt; 45 µs (1.25µs Tree)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On-Device Momentum SGD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0 Bytes (Static)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 lIns="54864"/>
                    <a:lstStyle/>
                    <a:p>
                      <a:pPr>
                        <a:defRPr sz="850" b="1">
                          <a:solidFill>
                            <a:srgbClr val="28A745"/>
                          </a:solidFill>
                          <a:latin typeface="Segoe UI"/>
                        </a:defRPr>
                      </a:pPr>
                      <a:r>
                        <a:t>&lt; ₹1,000 INR ($10)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Team Contributions &amp; Deliverables Delivered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051560"/>
            <a:ext cx="411480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384048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Sai Prasath P (210425106193)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Linux Kernel Interceptor: </a:t>
            </a:r>
            <a:r>
              <a:rPr b="0">
                <a:solidFill>
                  <a:srgbClr val="1E1E1E"/>
                </a:solidFill>
              </a:rPr>
              <a:t>Configured and validated Linux `/proc` and eBPF tracepoint capturing hooks to log active processes with zero kernel patching.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Hardware Telemetry Pipeline: </a:t>
            </a:r>
            <a:r>
              <a:rPr b="0">
                <a:solidFill>
                  <a:srgbClr val="1E1E1E"/>
                </a:solidFill>
              </a:rPr>
              <a:t>Engineered the host-to-coprocessor asynchronous transmission bridge over physical UART/SPI @ 115,200 baud.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Exploit Simulation Suite: </a:t>
            </a:r>
            <a:r>
              <a:rPr b="0">
                <a:solidFill>
                  <a:srgbClr val="1E1E1E"/>
                </a:solidFill>
              </a:rPr>
              <a:t>Constructed test scripts executing benign sessions, inline Python commands, crypto-miners, and fileless reverse shells in live WSL2 Ubuntu.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Benchmarking &amp; Latency Profiling: </a:t>
            </a:r>
            <a:r>
              <a:rPr b="0">
                <a:solidFill>
                  <a:srgbClr val="1E1E1E"/>
                </a:solidFill>
              </a:rPr>
              <a:t>Conducted timing analysis confirming sub-45 µs execution and zero host CPU starvation under continuous logging.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051560"/>
            <a:ext cx="411480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161288"/>
            <a:ext cx="384048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Segoe UI"/>
              </a:defRPr>
            </a:pPr>
            <a:r>
              <a:t>Tamil Selvan J (210425106242)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TinyML Firmware Engine: </a:t>
            </a:r>
            <a:r>
              <a:rPr b="0">
                <a:solidFill>
                  <a:srgbClr val="1E1E1E"/>
                </a:solidFill>
              </a:rPr>
              <a:t>Developed the transpiled Decision Tree (&lt; 1.5 µs) and Continual Logistic Perceptron (&lt; 42 µs) in native C++ with zero dynamic heap allocation.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On-Chip Continual Learning: </a:t>
            </a:r>
            <a:r>
              <a:rPr b="0">
                <a:solidFill>
                  <a:srgbClr val="1E1E1E"/>
                </a:solidFill>
              </a:rPr>
              <a:t>Implemented Momentum SGD and the bounded 16-slot Experience Replay Buffer, achieving on-chip weight updates in 38.4 µs.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Syntax Exemption Heuristic: </a:t>
            </a:r>
            <a:r>
              <a:rPr b="0">
                <a:solidFill>
                  <a:srgbClr val="1E1E1E"/>
                </a:solidFill>
              </a:rPr>
              <a:t>Formulated the Punctuation Entropy algorithm, dropping false positive alarms on developer commands from 28.4% to 0.0%.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Hardware Prototype &amp; Actuation: </a:t>
            </a:r>
            <a:r>
              <a:rPr b="0">
                <a:solidFill>
                  <a:srgbClr val="1E1E1E"/>
                </a:solidFill>
              </a:rPr>
              <a:t>Assembled the physical ESP32 breadboard, OLED interface (I2C), piezo buzzer driver (GPIO 4), and automated process termination daemon.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969264" cy="68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5720"/>
          <a:ext cx="7818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0"/>
              </a:tblGrid>
              <a:tr h="388620">
                <a:tc>
                  <a:txBody>
                    <a:bodyPr lIns="109728" tIns="36576" bIns="18288"/>
                    <a:lstStyle/>
                    <a:p>
                      <a:pPr algn="l">
                        <a:defRPr sz="110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Aegis-Kernel: Hardware-Isolated Coprocessor Framework for Evasive Malware Mitigation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388620">
                <a:tc>
                  <a:txBody>
                    <a:bodyPr lIns="109728" tIns="36576" bIns="36576"/>
                    <a:lstStyle/>
                    <a:p>
                      <a:pPr algn="l">
                        <a:defRPr sz="1300" b="1">
                          <a:solidFill>
                            <a:srgbClr val="003366"/>
                          </a:solidFill>
                          <a:latin typeface="Segoe UI"/>
                        </a:defRPr>
                      </a:pPr>
                      <a:r>
                        <a:t>Conclusion &amp; Future Research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 lIns="73152" rIns="73152" tIns="18288" bIns="18288"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 lIns="73152" rIns="73152" tIns="18288" bIns="18288"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051560"/>
            <a:ext cx="411480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384048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Segoe UI"/>
              </a:defRPr>
            </a:pPr>
            <a:r>
              <a:t>Conclusion — Project Impact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Physical Hardware Isolation: </a:t>
            </a:r>
            <a:r>
              <a:rPr b="0">
                <a:solidFill>
                  <a:srgbClr val="1E1E1E"/>
                </a:solidFill>
              </a:rPr>
              <a:t>Demonstrated that offloading telemetry onto an external coprocessor completely eliminates host rootkit tampering and memory corruption.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Sub-45 µs Determinism: </a:t>
            </a:r>
            <a:r>
              <a:rPr b="0">
                <a:solidFill>
                  <a:srgbClr val="1E1E1E"/>
                </a:solidFill>
              </a:rPr>
              <a:t>Achieved pre-execution exploit prevention before malware maps into virtual RAM, outperforming cloud SIEMs by over 2,000x.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First Edge Continual Learning IDS: </a:t>
            </a:r>
            <a:r>
              <a:rPr b="0">
                <a:solidFill>
                  <a:srgbClr val="1E1E1E"/>
                </a:solidFill>
              </a:rPr>
              <a:t>Proved that microcontrollers can execute Momentum SGD on-chip in 38.4 µs without catastrophic forgetting or cloud retraining.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Complete Academic Deliverables: </a:t>
            </a:r>
            <a:r>
              <a:rPr b="0">
                <a:solidFill>
                  <a:srgbClr val="1E1E1E"/>
                </a:solidFill>
              </a:rPr>
              <a:t>Successfully packaged the 52-page PBL Project Report, IEEE Conference Manuscript, 12,000-vector dataset, and working hardware prototype.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051560"/>
            <a:ext cx="4114800" cy="3520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161288"/>
            <a:ext cx="3840480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Segoe UI"/>
              </a:defRPr>
            </a:pPr>
            <a:r>
              <a:t>Future Scope &amp; Technological Extensions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Synchronous eBPF Kernel Probe: </a:t>
            </a:r>
            <a:r>
              <a:rPr b="0">
                <a:solidFill>
                  <a:srgbClr val="1E1E1E"/>
                </a:solidFill>
              </a:rPr>
              <a:t>Replace asynchronous polling with an in-kernel eBPF bytecode program that halts `execve()` system calls synchronously pending hardware ACK.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High-Speed 40 Mbps SPI DMA Bus: </a:t>
            </a:r>
            <a:r>
              <a:rPr b="0">
                <a:solidFill>
                  <a:srgbClr val="1E1E1E"/>
                </a:solidFill>
              </a:rPr>
              <a:t>Migrate from UART (115.2 kbps) to hardware SPI DMA, depressing transmission latency to under 2 microseconds per frame.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Hardware Cryptographic Authentication: </a:t>
            </a:r>
            <a:r>
              <a:rPr b="0">
                <a:solidFill>
                  <a:srgbClr val="1E1E1E"/>
                </a:solidFill>
              </a:rPr>
              <a:t>Incorporate an ATECC608A secure element to digitally sign telemetry frames with AES-256 GCM, preventing bus tampering.</a:t>
            </a:r>
          </a:p>
          <a:p>
            <a:pPr>
              <a:spcBef>
                <a:spcPts val="400"/>
              </a:spcBef>
              <a:defRPr sz="1000" b="1">
                <a:solidFill>
                  <a:srgbClr val="002060"/>
                </a:solidFill>
                <a:latin typeface="Segoe UI"/>
              </a:defRPr>
            </a:pPr>
            <a:r>
              <a:t>• RISC-V Vector Hardware Acceleration: </a:t>
            </a:r>
            <a:r>
              <a:rPr b="0">
                <a:solidFill>
                  <a:srgbClr val="1E1E1E"/>
                </a:solidFill>
              </a:rPr>
              <a:t>Port the SGD backpropagation kernel to custom RISC-V silicon featuring Vector Extensions (RVV) for sub-500 ns execution.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109728"/>
            <a:ext cx="8833104" cy="868680"/>
          </a:xfrm>
          <a:prstGeom prst="rect">
            <a:avLst/>
          </a:prstGeom>
        </p:spPr>
      </p:pic>
      <p:pic>
        <p:nvPicPr>
          <p:cNvPr id="4" name="Picture 3" descr="slide_19_Picture 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097280"/>
            <a:ext cx="420624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060"/>
                </a:solidFill>
                <a:latin typeface="Segoe UI"/>
              </a:defRPr>
            </a:pPr>
            <a:r>
              <a:t>AEGIS-KERNEL: PROJECT BASED LEARNING FINAL REVIEW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03366"/>
                </a:solidFill>
                <a:latin typeface="Segoe UI"/>
              </a:defRPr>
            </a:pPr>
            <a:r>
              <a:t>Sub-45 µs Detection  |  0 Bytes Dynamic Heap  |  On-Chip Continual Edge Learning</a:t>
            </a:r>
          </a:p>
          <a:p>
            <a:pPr algn="ctr">
              <a:spcBef>
                <a:spcPts val="600"/>
              </a:spcBef>
              <a:defRPr sz="1000">
                <a:solidFill>
                  <a:srgbClr val="1E1E1E"/>
                </a:solidFill>
                <a:latin typeface="Segoe UI"/>
              </a:defRPr>
            </a:pPr>
            <a:r>
              <a:t>Presented by: Sai Prasath P (210425106193) &amp; Tamil Selvan J (210425106242)  |  2nd Year ECE C</a:t>
            </a:r>
            <a:br/>
            <a:r>
              <a:t>Supervisor: Mr. Baskar M.E.  |  HOD: Dr. T. S. Arulananth M.E., Ph.D.</a:t>
            </a:r>
            <a:br/>
            <a:r>
              <a:t>Chennai Institute of Technology (Autonomous)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" y="4791456"/>
          <a:ext cx="896112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011680"/>
                <a:gridCol w="1005840"/>
                <a:gridCol w="1188720"/>
                <a:gridCol w="91440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Chennai Institute of Technology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PBL FINAL 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October-2026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2060"/>
                          </a:solidFill>
                          <a:latin typeface="Segoe U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